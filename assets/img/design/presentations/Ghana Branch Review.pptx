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MT Pro Bold" charset="1" panose="020B0802020202020204"/>
      <p:regular r:id="rId18"/>
    </p:embeddedFont>
    <p:embeddedFont>
      <p:font typeface="Arial MT Pro" charset="1" panose="020B0502020202020204"/>
      <p:regular r:id="rId19"/>
    </p:embeddedFont>
    <p:embeddedFont>
      <p:font typeface="Poppins Bold" charset="1" panose="00000800000000000000"/>
      <p:regular r:id="rId20"/>
    </p:embeddedFont>
    <p:embeddedFont>
      <p:font typeface="Poppins Light" charset="1" panose="000004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png" Type="http://schemas.openxmlformats.org/officeDocument/2006/relationships/image"/><Relationship Id="rId4" Target="../embeddings/oleObject3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Relationship Id="rId4" Target="../embeddings/oleObject4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11798" y="-19050"/>
            <a:ext cx="10093172" cy="11886171"/>
          </a:xfrm>
          <a:custGeom>
            <a:avLst/>
            <a:gdLst/>
            <a:ahLst/>
            <a:cxnLst/>
            <a:rect r="r" b="b" t="t" l="l"/>
            <a:pathLst>
              <a:path h="11886171" w="10093172">
                <a:moveTo>
                  <a:pt x="0" y="0"/>
                </a:moveTo>
                <a:lnTo>
                  <a:pt x="10093172" y="0"/>
                </a:lnTo>
                <a:lnTo>
                  <a:pt x="10093172" y="11886171"/>
                </a:lnTo>
                <a:lnTo>
                  <a:pt x="0" y="1188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06142" y="5973521"/>
            <a:ext cx="9284544" cy="1268100"/>
            <a:chOff x="0" y="0"/>
            <a:chExt cx="5259293" cy="7183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59293" cy="718324"/>
            </a:xfrm>
            <a:custGeom>
              <a:avLst/>
              <a:gdLst/>
              <a:ahLst/>
              <a:cxnLst/>
              <a:rect r="r" b="b" t="t" l="l"/>
              <a:pathLst>
                <a:path h="718324" w="5259293">
                  <a:moveTo>
                    <a:pt x="5056093" y="0"/>
                  </a:moveTo>
                  <a:cubicBezTo>
                    <a:pt x="5168317" y="0"/>
                    <a:pt x="5259293" y="160802"/>
                    <a:pt x="5259293" y="359162"/>
                  </a:cubicBezTo>
                  <a:cubicBezTo>
                    <a:pt x="5259293" y="557522"/>
                    <a:pt x="5168317" y="718324"/>
                    <a:pt x="5056093" y="718324"/>
                  </a:cubicBezTo>
                  <a:lnTo>
                    <a:pt x="203200" y="718324"/>
                  </a:lnTo>
                  <a:cubicBezTo>
                    <a:pt x="90976" y="718324"/>
                    <a:pt x="0" y="557522"/>
                    <a:pt x="0" y="359162"/>
                  </a:cubicBezTo>
                  <a:cubicBezTo>
                    <a:pt x="0" y="160802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59293" cy="756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2815" y="-537676"/>
            <a:ext cx="2361121" cy="2567006"/>
            <a:chOff x="0" y="0"/>
            <a:chExt cx="755766" cy="821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5766" cy="821667"/>
            </a:xfrm>
            <a:custGeom>
              <a:avLst/>
              <a:gdLst/>
              <a:ahLst/>
              <a:cxnLst/>
              <a:rect r="r" b="b" t="t" l="l"/>
              <a:pathLst>
                <a:path h="821667" w="755766">
                  <a:moveTo>
                    <a:pt x="52463" y="0"/>
                  </a:moveTo>
                  <a:lnTo>
                    <a:pt x="703303" y="0"/>
                  </a:lnTo>
                  <a:cubicBezTo>
                    <a:pt x="732277" y="0"/>
                    <a:pt x="755766" y="23488"/>
                    <a:pt x="755766" y="52463"/>
                  </a:cubicBezTo>
                  <a:lnTo>
                    <a:pt x="755766" y="769204"/>
                  </a:lnTo>
                  <a:cubicBezTo>
                    <a:pt x="755766" y="798179"/>
                    <a:pt x="732277" y="821667"/>
                    <a:pt x="703303" y="821667"/>
                  </a:cubicBezTo>
                  <a:lnTo>
                    <a:pt x="52463" y="821667"/>
                  </a:lnTo>
                  <a:cubicBezTo>
                    <a:pt x="23488" y="821667"/>
                    <a:pt x="0" y="798179"/>
                    <a:pt x="0" y="769204"/>
                  </a:cubicBezTo>
                  <a:lnTo>
                    <a:pt x="0" y="52463"/>
                  </a:lnTo>
                  <a:cubicBezTo>
                    <a:pt x="0" y="23488"/>
                    <a:pt x="23488" y="0"/>
                    <a:pt x="524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755766" cy="802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51032" y="261036"/>
            <a:ext cx="1124687" cy="1535328"/>
          </a:xfrm>
          <a:custGeom>
            <a:avLst/>
            <a:gdLst/>
            <a:ahLst/>
            <a:cxnLst/>
            <a:rect r="r" b="b" t="t" l="l"/>
            <a:pathLst>
              <a:path h="1535328" w="1124687">
                <a:moveTo>
                  <a:pt x="0" y="0"/>
                </a:moveTo>
                <a:lnTo>
                  <a:pt x="1124686" y="0"/>
                </a:lnTo>
                <a:lnTo>
                  <a:pt x="1124686" y="1535328"/>
                </a:lnTo>
                <a:lnTo>
                  <a:pt x="0" y="1535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07555" y="2112720"/>
            <a:ext cx="14482331" cy="207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80"/>
              </a:lnSpc>
            </a:pPr>
            <a:r>
              <a:rPr lang="en-US" sz="12800" spc="-81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Weekly Performance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79014" y="6183297"/>
            <a:ext cx="8517235" cy="95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3"/>
              </a:lnSpc>
            </a:pPr>
            <a:r>
              <a:rPr lang="en-US" sz="5902" spc="-377">
                <a:solidFill>
                  <a:srgbClr val="D4AFAF"/>
                </a:solidFill>
                <a:latin typeface="Arial MT Pro"/>
                <a:ea typeface="Arial MT Pro"/>
                <a:cs typeface="Arial MT Pro"/>
                <a:sym typeface="Arial MT Pro"/>
              </a:rPr>
              <a:t>Revenue and Debt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64136" y="7968952"/>
            <a:ext cx="2968556" cy="58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4"/>
              </a:lnSpc>
            </a:pPr>
            <a:r>
              <a:rPr lang="en-US" sz="3658" spc="-23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Presented by: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72587" y="8663121"/>
            <a:ext cx="3351653" cy="53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6"/>
              </a:lnSpc>
            </a:pPr>
            <a:r>
              <a:rPr lang="en-US" sz="3351" spc="-2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Date: 29. 07. 2025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85986" y="3850366"/>
            <a:ext cx="5171312" cy="207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80"/>
              </a:lnSpc>
            </a:pPr>
            <a:r>
              <a:rPr lang="en-US" sz="12800" spc="-81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Review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6666" t="0" r="-166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69647" y="3089449"/>
            <a:ext cx="7450301" cy="7430001"/>
          </a:xfrm>
          <a:custGeom>
            <a:avLst/>
            <a:gdLst/>
            <a:ahLst/>
            <a:cxnLst/>
            <a:rect r="r" b="b" t="t" l="l"/>
            <a:pathLst>
              <a:path h="7430001" w="7450301">
                <a:moveTo>
                  <a:pt x="0" y="0"/>
                </a:moveTo>
                <a:lnTo>
                  <a:pt x="7450301" y="0"/>
                </a:lnTo>
                <a:lnTo>
                  <a:pt x="7450301" y="7430001"/>
                </a:lnTo>
                <a:lnTo>
                  <a:pt x="0" y="7430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-1441" t="-756" r="0" b="-38101"/>
            </a:stretch>
          </a:blipFill>
        </p:spPr>
      </p:sp>
      <p:grpSp>
        <p:nvGrpSpPr>
          <p:cNvPr name="Group 4" id="4"/>
          <p:cNvGrpSpPr/>
          <p:nvPr/>
        </p:nvGrpSpPr>
        <p:grpSpPr>
          <a:xfrm rot="-4011154">
            <a:off x="12755358" y="3032614"/>
            <a:ext cx="17403374" cy="15009081"/>
            <a:chOff x="0" y="0"/>
            <a:chExt cx="4583605" cy="39530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83605" cy="3953009"/>
            </a:xfrm>
            <a:custGeom>
              <a:avLst/>
              <a:gdLst/>
              <a:ahLst/>
              <a:cxnLst/>
              <a:rect r="r" b="b" t="t" l="l"/>
              <a:pathLst>
                <a:path h="3953009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3953009"/>
                  </a:lnTo>
                  <a:lnTo>
                    <a:pt x="0" y="39530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4583605" cy="39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4227" y="-414039"/>
            <a:ext cx="2361121" cy="2567006"/>
            <a:chOff x="0" y="0"/>
            <a:chExt cx="755766" cy="821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5766" cy="821667"/>
            </a:xfrm>
            <a:custGeom>
              <a:avLst/>
              <a:gdLst/>
              <a:ahLst/>
              <a:cxnLst/>
              <a:rect r="r" b="b" t="t" l="l"/>
              <a:pathLst>
                <a:path h="821667" w="755766">
                  <a:moveTo>
                    <a:pt x="52463" y="0"/>
                  </a:moveTo>
                  <a:lnTo>
                    <a:pt x="703303" y="0"/>
                  </a:lnTo>
                  <a:cubicBezTo>
                    <a:pt x="732277" y="0"/>
                    <a:pt x="755766" y="23488"/>
                    <a:pt x="755766" y="52463"/>
                  </a:cubicBezTo>
                  <a:lnTo>
                    <a:pt x="755766" y="769204"/>
                  </a:lnTo>
                  <a:cubicBezTo>
                    <a:pt x="755766" y="798179"/>
                    <a:pt x="732277" y="821667"/>
                    <a:pt x="703303" y="821667"/>
                  </a:cubicBezTo>
                  <a:lnTo>
                    <a:pt x="52463" y="821667"/>
                  </a:lnTo>
                  <a:cubicBezTo>
                    <a:pt x="23488" y="821667"/>
                    <a:pt x="0" y="798179"/>
                    <a:pt x="0" y="769204"/>
                  </a:cubicBezTo>
                  <a:lnTo>
                    <a:pt x="0" y="52463"/>
                  </a:lnTo>
                  <a:cubicBezTo>
                    <a:pt x="0" y="23488"/>
                    <a:pt x="23488" y="0"/>
                    <a:pt x="524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755766" cy="802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52444" y="261036"/>
            <a:ext cx="1124687" cy="1535328"/>
          </a:xfrm>
          <a:custGeom>
            <a:avLst/>
            <a:gdLst/>
            <a:ahLst/>
            <a:cxnLst/>
            <a:rect r="r" b="b" t="t" l="l"/>
            <a:pathLst>
              <a:path h="1535328" w="1124687">
                <a:moveTo>
                  <a:pt x="0" y="0"/>
                </a:moveTo>
                <a:lnTo>
                  <a:pt x="1124687" y="0"/>
                </a:lnTo>
                <a:lnTo>
                  <a:pt x="1124687" y="1535328"/>
                </a:lnTo>
                <a:lnTo>
                  <a:pt x="0" y="15353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14787" y="3163441"/>
            <a:ext cx="6438152" cy="737584"/>
            <a:chOff x="0" y="0"/>
            <a:chExt cx="1695645" cy="1942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95645" cy="194261"/>
            </a:xfrm>
            <a:custGeom>
              <a:avLst/>
              <a:gdLst/>
              <a:ahLst/>
              <a:cxnLst/>
              <a:rect r="r" b="b" t="t" l="l"/>
              <a:pathLst>
                <a:path h="194261" w="1695645">
                  <a:moveTo>
                    <a:pt x="45695" y="0"/>
                  </a:moveTo>
                  <a:lnTo>
                    <a:pt x="1649950" y="0"/>
                  </a:lnTo>
                  <a:cubicBezTo>
                    <a:pt x="1675187" y="0"/>
                    <a:pt x="1695645" y="20458"/>
                    <a:pt x="1695645" y="45695"/>
                  </a:cubicBezTo>
                  <a:lnTo>
                    <a:pt x="1695645" y="148565"/>
                  </a:lnTo>
                  <a:cubicBezTo>
                    <a:pt x="1695645" y="160685"/>
                    <a:pt x="1690831" y="172307"/>
                    <a:pt x="1682261" y="180877"/>
                  </a:cubicBezTo>
                  <a:cubicBezTo>
                    <a:pt x="1673692" y="189446"/>
                    <a:pt x="1662069" y="194261"/>
                    <a:pt x="1649950" y="194261"/>
                  </a:cubicBezTo>
                  <a:lnTo>
                    <a:pt x="45695" y="194261"/>
                  </a:lnTo>
                  <a:cubicBezTo>
                    <a:pt x="20458" y="194261"/>
                    <a:pt x="0" y="173802"/>
                    <a:pt x="0" y="148565"/>
                  </a:cubicBezTo>
                  <a:lnTo>
                    <a:pt x="0" y="45695"/>
                  </a:lnTo>
                  <a:cubicBezTo>
                    <a:pt x="0" y="33576"/>
                    <a:pt x="4814" y="21953"/>
                    <a:pt x="13384" y="13384"/>
                  </a:cubicBezTo>
                  <a:cubicBezTo>
                    <a:pt x="21953" y="4814"/>
                    <a:pt x="33576" y="0"/>
                    <a:pt x="45695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695645" cy="175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6096" y="3163441"/>
            <a:ext cx="675884" cy="6758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2F2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93400" y="3231992"/>
            <a:ext cx="541277" cy="538784"/>
          </a:xfrm>
          <a:custGeom>
            <a:avLst/>
            <a:gdLst/>
            <a:ahLst/>
            <a:cxnLst/>
            <a:rect r="r" b="b" t="t" l="l"/>
            <a:pathLst>
              <a:path h="538784" w="541277">
                <a:moveTo>
                  <a:pt x="0" y="0"/>
                </a:moveTo>
                <a:lnTo>
                  <a:pt x="541277" y="0"/>
                </a:lnTo>
                <a:lnTo>
                  <a:pt x="541277" y="538783"/>
                </a:lnTo>
                <a:lnTo>
                  <a:pt x="0" y="5387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83009" y="3098974"/>
            <a:ext cx="6369931" cy="81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2"/>
              </a:lnSpc>
            </a:pPr>
            <a:r>
              <a:rPr lang="en-US" sz="5445" spc="-44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Executive Summary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77131" y="4425695"/>
            <a:ext cx="12452888" cy="47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091" indent="-340046" lvl="1">
              <a:lnSpc>
                <a:spcPts val="3087"/>
              </a:lnSpc>
              <a:buFont typeface="Arial"/>
              <a:buChar char="•"/>
            </a:pPr>
            <a:r>
              <a:rPr lang="en-US" sz="3150" spc="-2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Total outstanding debt : US$ 7.84 Million (78% aged, 22% not aged)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77131" y="5153025"/>
            <a:ext cx="12917667" cy="125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091" indent="-340046" lvl="1">
              <a:lnSpc>
                <a:spcPts val="3087"/>
              </a:lnSpc>
              <a:buFont typeface="Arial"/>
              <a:buChar char="•"/>
            </a:pPr>
            <a:r>
              <a:rPr lang="en-US" sz="3150" spc="-2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Top 3 aged debt contributors: DELL ENTP (43%), DELL (20%), IBM (9%) and NMP (9%)</a:t>
            </a:r>
          </a:p>
          <a:p>
            <a:pPr algn="l">
              <a:lnSpc>
                <a:spcPts val="308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277131" y="6143625"/>
            <a:ext cx="9585371" cy="47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091" indent="-340046" lvl="1">
              <a:lnSpc>
                <a:spcPts val="3087"/>
              </a:lnSpc>
              <a:buFont typeface="Arial"/>
              <a:buChar char="•"/>
            </a:pPr>
            <a:r>
              <a:rPr lang="en-US" sz="3150" spc="-21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Business units with 100% aged debt: BCS, DELL, NMP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AF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11013" y="2440758"/>
          <a:ext cx="8184320" cy="7240382"/>
        </p:xfrm>
        <a:graphic>
          <a:graphicData uri="http://schemas.openxmlformats.org/drawingml/2006/table">
            <a:tbl>
              <a:tblPr/>
              <a:tblGrid>
                <a:gridCol w="2826337"/>
                <a:gridCol w="2677648"/>
                <a:gridCol w="2680335"/>
              </a:tblGrid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1447932" y="-826143"/>
            <a:ext cx="7450301" cy="7430001"/>
          </a:xfrm>
          <a:custGeom>
            <a:avLst/>
            <a:gdLst/>
            <a:ahLst/>
            <a:cxnLst/>
            <a:rect r="r" b="b" t="t" l="l"/>
            <a:pathLst>
              <a:path h="7430001" w="7450301">
                <a:moveTo>
                  <a:pt x="0" y="0"/>
                </a:moveTo>
                <a:lnTo>
                  <a:pt x="7450301" y="0"/>
                </a:lnTo>
                <a:lnTo>
                  <a:pt x="7450301" y="7430001"/>
                </a:lnTo>
                <a:lnTo>
                  <a:pt x="0" y="743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-1441" t="-756" r="0" b="-3810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97918" y="1435663"/>
            <a:ext cx="8731267" cy="8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1"/>
              </a:lnSpc>
            </a:pPr>
            <a:r>
              <a:rPr lang="en-US" sz="5785" spc="-47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DEBT BY BUSINESS UNITS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757821" y="2440758"/>
          <a:ext cx="9331632" cy="7240382"/>
        </p:xfrm>
        <a:graphic>
          <a:graphicData uri="http://schemas.openxmlformats.org/drawingml/2006/table">
            <a:tbl>
              <a:tblPr/>
              <a:tblGrid>
                <a:gridCol w="2682178"/>
                <a:gridCol w="2139510"/>
                <a:gridCol w="2168088"/>
                <a:gridCol w="2341857"/>
              </a:tblGrid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50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02808" y="2626519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Business Unit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02445" y="2607469"/>
            <a:ext cx="1100727" cy="43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3028" spc="-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Aged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58876" y="2607469"/>
            <a:ext cx="1719613" cy="43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3040" spc="-249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Not Aged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53837" y="2623789"/>
            <a:ext cx="2492407" cy="43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3018" spc="-247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GRAND TOTAL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70733" y="2643015"/>
            <a:ext cx="1276812" cy="43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3029" spc="-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% Aged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2808" y="3551028"/>
            <a:ext cx="1180744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APC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2808" y="4475537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BCS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2808" y="5400047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CISCO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2808" y="6324556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DEL ENTP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2808" y="7249065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DELL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2808" y="8173575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HUAWEI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2808" y="9098084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IBM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05381" y="3551028"/>
            <a:ext cx="2298731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438.84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08724" y="3548369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335.80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33924" y="3561501"/>
            <a:ext cx="1810295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spc="-107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774.64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16444" y="3551028"/>
            <a:ext cx="525630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57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16282" y="4471930"/>
            <a:ext cx="2087830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84, 511.93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67656" y="5434539"/>
            <a:ext cx="2336456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5111, 3711.51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35199" y="6393542"/>
            <a:ext cx="2476895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2,629,578.02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67656" y="7298053"/>
            <a:ext cx="2336456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1,207,335.10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81280" y="8166174"/>
            <a:ext cx="222283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77,187.21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54032" y="9118907"/>
            <a:ext cx="2450080" cy="42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55"/>
              </a:lnSpc>
            </a:pPr>
            <a:r>
              <a:rPr lang="en-US" sz="3149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559, 516.03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08724" y="5397388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286, 295.72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08724" y="8170916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48,818.88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08724" y="9095425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110, 368.43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81750" y="4471930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100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11013" y="-758902"/>
            <a:ext cx="2155225" cy="2567006"/>
            <a:chOff x="0" y="0"/>
            <a:chExt cx="689861" cy="8216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9861" cy="821667"/>
            </a:xfrm>
            <a:custGeom>
              <a:avLst/>
              <a:gdLst/>
              <a:ahLst/>
              <a:cxnLst/>
              <a:rect r="r" b="b" t="t" l="l"/>
              <a:pathLst>
                <a:path h="821667" w="689861">
                  <a:moveTo>
                    <a:pt x="57475" y="0"/>
                  </a:moveTo>
                  <a:lnTo>
                    <a:pt x="632386" y="0"/>
                  </a:lnTo>
                  <a:cubicBezTo>
                    <a:pt x="647630" y="0"/>
                    <a:pt x="662249" y="6055"/>
                    <a:pt x="673027" y="16834"/>
                  </a:cubicBezTo>
                  <a:cubicBezTo>
                    <a:pt x="683806" y="27613"/>
                    <a:pt x="689861" y="42231"/>
                    <a:pt x="689861" y="57475"/>
                  </a:cubicBezTo>
                  <a:lnTo>
                    <a:pt x="689861" y="764192"/>
                  </a:lnTo>
                  <a:cubicBezTo>
                    <a:pt x="689861" y="779436"/>
                    <a:pt x="683806" y="794054"/>
                    <a:pt x="673027" y="804833"/>
                  </a:cubicBezTo>
                  <a:cubicBezTo>
                    <a:pt x="662249" y="815612"/>
                    <a:pt x="647630" y="821667"/>
                    <a:pt x="632386" y="821667"/>
                  </a:cubicBezTo>
                  <a:lnTo>
                    <a:pt x="57475" y="821667"/>
                  </a:lnTo>
                  <a:cubicBezTo>
                    <a:pt x="42231" y="821667"/>
                    <a:pt x="27613" y="815612"/>
                    <a:pt x="16834" y="804833"/>
                  </a:cubicBezTo>
                  <a:cubicBezTo>
                    <a:pt x="6055" y="794054"/>
                    <a:pt x="0" y="779436"/>
                    <a:pt x="0" y="764192"/>
                  </a:cubicBezTo>
                  <a:lnTo>
                    <a:pt x="0" y="57475"/>
                  </a:lnTo>
                  <a:cubicBezTo>
                    <a:pt x="0" y="42231"/>
                    <a:pt x="6055" y="27613"/>
                    <a:pt x="16834" y="16834"/>
                  </a:cubicBezTo>
                  <a:cubicBezTo>
                    <a:pt x="27613" y="6055"/>
                    <a:pt x="42231" y="0"/>
                    <a:pt x="57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689861" cy="802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029230" y="254894"/>
            <a:ext cx="985731" cy="1345637"/>
          </a:xfrm>
          <a:custGeom>
            <a:avLst/>
            <a:gdLst/>
            <a:ahLst/>
            <a:cxnLst/>
            <a:rect r="r" b="b" t="t" l="l"/>
            <a:pathLst>
              <a:path h="1345637" w="985731">
                <a:moveTo>
                  <a:pt x="0" y="0"/>
                </a:moveTo>
                <a:lnTo>
                  <a:pt x="985731" y="0"/>
                </a:lnTo>
                <a:lnTo>
                  <a:pt x="985731" y="1345638"/>
                </a:lnTo>
                <a:lnTo>
                  <a:pt x="0" y="1345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729185" y="2545273"/>
            <a:ext cx="2072839" cy="59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321" spc="-190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% Contribution to Aged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016614" y="2528593"/>
            <a:ext cx="2072839" cy="59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321" spc="-190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% Contribution to Total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56389" y="4462359"/>
            <a:ext cx="2087830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84, 511.93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08431" y="5408450"/>
            <a:ext cx="2235788" cy="434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7"/>
              </a:lnSpc>
            </a:pPr>
            <a:r>
              <a:rPr lang="en-US" sz="303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797,667.23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258876" y="6393542"/>
            <a:ext cx="2336456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1,081,500.05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907763" y="6393542"/>
            <a:ext cx="2336456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3,711,078.07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907763" y="7298053"/>
            <a:ext cx="2336456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1,207,335.10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853837" y="8166174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126, 006.09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853837" y="9107938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669, 884.46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581750" y="5434539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581750" y="6393542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74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581750" y="7298053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581750" y="8166174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581750" y="9107938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84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910268" y="3561501"/>
            <a:ext cx="525630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675574" y="4482403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75574" y="5445013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675574" y="6404015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675574" y="7308526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20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675574" y="8176647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675574" y="9118411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9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7287728" y="3538515"/>
            <a:ext cx="525630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7053034" y="4459417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053034" y="5422026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053034" y="6381028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47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7053034" y="7285539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15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7053034" y="8153661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053034" y="9095425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AF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21468" y="-1174729"/>
            <a:ext cx="7450301" cy="7430001"/>
          </a:xfrm>
          <a:custGeom>
            <a:avLst/>
            <a:gdLst/>
            <a:ahLst/>
            <a:cxnLst/>
            <a:rect r="r" b="b" t="t" l="l"/>
            <a:pathLst>
              <a:path h="7430001" w="7450301">
                <a:moveTo>
                  <a:pt x="0" y="0"/>
                </a:moveTo>
                <a:lnTo>
                  <a:pt x="7450300" y="0"/>
                </a:lnTo>
                <a:lnTo>
                  <a:pt x="7450300" y="7430001"/>
                </a:lnTo>
                <a:lnTo>
                  <a:pt x="0" y="743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-1441" t="-756" r="0" b="-38101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35940" y="1869072"/>
          <a:ext cx="8341846" cy="8169242"/>
        </p:xfrm>
        <a:graphic>
          <a:graphicData uri="http://schemas.openxmlformats.org/drawingml/2006/table">
            <a:tbl>
              <a:tblPr/>
              <a:tblGrid>
                <a:gridCol w="2740738"/>
                <a:gridCol w="2923242"/>
                <a:gridCol w="2677866"/>
              </a:tblGrid>
              <a:tr h="907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740275" y="1837151"/>
          <a:ext cx="9168506" cy="8169242"/>
        </p:xfrm>
        <a:graphic>
          <a:graphicData uri="http://schemas.openxmlformats.org/drawingml/2006/table">
            <a:tbl>
              <a:tblPr/>
              <a:tblGrid>
                <a:gridCol w="3119355"/>
                <a:gridCol w="1707935"/>
                <a:gridCol w="2170608"/>
                <a:gridCol w="2170608"/>
              </a:tblGrid>
              <a:tr h="907694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907694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-320325" y="689464"/>
            <a:ext cx="2086331" cy="632111"/>
            <a:chOff x="0" y="0"/>
            <a:chExt cx="549486" cy="1664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9486" cy="166482"/>
            </a:xfrm>
            <a:custGeom>
              <a:avLst/>
              <a:gdLst/>
              <a:ahLst/>
              <a:cxnLst/>
              <a:rect r="r" b="b" t="t" l="l"/>
              <a:pathLst>
                <a:path h="166482" w="549486">
                  <a:moveTo>
                    <a:pt x="83241" y="0"/>
                  </a:moveTo>
                  <a:lnTo>
                    <a:pt x="466245" y="0"/>
                  </a:lnTo>
                  <a:cubicBezTo>
                    <a:pt x="488322" y="0"/>
                    <a:pt x="509495" y="8770"/>
                    <a:pt x="525106" y="24381"/>
                  </a:cubicBezTo>
                  <a:cubicBezTo>
                    <a:pt x="540716" y="39991"/>
                    <a:pt x="549486" y="61164"/>
                    <a:pt x="549486" y="83241"/>
                  </a:cubicBezTo>
                  <a:lnTo>
                    <a:pt x="549486" y="83241"/>
                  </a:lnTo>
                  <a:cubicBezTo>
                    <a:pt x="549486" y="129214"/>
                    <a:pt x="512218" y="166482"/>
                    <a:pt x="466245" y="166482"/>
                  </a:cubicBezTo>
                  <a:lnTo>
                    <a:pt x="83241" y="166482"/>
                  </a:lnTo>
                  <a:cubicBezTo>
                    <a:pt x="61164" y="166482"/>
                    <a:pt x="39991" y="157712"/>
                    <a:pt x="24381" y="142101"/>
                  </a:cubicBezTo>
                  <a:cubicBezTo>
                    <a:pt x="8770" y="126490"/>
                    <a:pt x="0" y="105318"/>
                    <a:pt x="0" y="83241"/>
                  </a:cubicBezTo>
                  <a:lnTo>
                    <a:pt x="0" y="83241"/>
                  </a:lnTo>
                  <a:cubicBezTo>
                    <a:pt x="0" y="61164"/>
                    <a:pt x="8770" y="39991"/>
                    <a:pt x="24381" y="24381"/>
                  </a:cubicBezTo>
                  <a:cubicBezTo>
                    <a:pt x="39991" y="8770"/>
                    <a:pt x="61164" y="0"/>
                    <a:pt x="83241" y="0"/>
                  </a:cubicBezTo>
                  <a:close/>
                </a:path>
              </a:pathLst>
            </a:custGeom>
            <a:ln w="38100" cap="rnd">
              <a:solidFill>
                <a:srgbClr val="202127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549486" cy="147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76481" y="832984"/>
            <a:ext cx="230812" cy="345072"/>
          </a:xfrm>
          <a:custGeom>
            <a:avLst/>
            <a:gdLst/>
            <a:ahLst/>
            <a:cxnLst/>
            <a:rect r="r" b="b" t="t" l="l"/>
            <a:pathLst>
              <a:path h="345072" w="230812">
                <a:moveTo>
                  <a:pt x="0" y="0"/>
                </a:moveTo>
                <a:lnTo>
                  <a:pt x="230813" y="0"/>
                </a:lnTo>
                <a:lnTo>
                  <a:pt x="230813" y="345071"/>
                </a:lnTo>
                <a:lnTo>
                  <a:pt x="0" y="3450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91287" y="755695"/>
            <a:ext cx="8505426" cy="93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2"/>
              </a:lnSpc>
            </a:pPr>
            <a:r>
              <a:rPr lang="en-US" sz="6693" spc="-5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DEBT BY BUSINESS UNIT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950" y="2095619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Business Unit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32525" y="2070479"/>
            <a:ext cx="1166726" cy="43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3028" spc="-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Aged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40456" y="2063109"/>
            <a:ext cx="2358303" cy="43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3029" spc="-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Not aged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4950" y="3084796"/>
            <a:ext cx="1180744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IPG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4950" y="4009305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LENOVO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4950" y="4933815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MICROSOFT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950" y="5858324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NMP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4950" y="6782834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PSG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4950" y="7707343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STARLINK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4950" y="8631852"/>
            <a:ext cx="2361487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SUPPLIES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87835" y="2949056"/>
            <a:ext cx="2298731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127,467.81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30931" y="2989815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151,648.65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50111" y="4823805"/>
            <a:ext cx="2336456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50, 010.66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46962" y="5739137"/>
            <a:ext cx="2639604" cy="43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56"/>
              </a:lnSpc>
            </a:pPr>
            <a:r>
              <a:rPr lang="en-US" sz="30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45,738.77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63735" y="7666142"/>
            <a:ext cx="222283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4,629.11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66062" y="8589703"/>
            <a:ext cx="2220504" cy="42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55"/>
              </a:lnSpc>
            </a:pPr>
            <a:r>
              <a:rPr lang="en-US" sz="3149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188, 441.00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30931" y="3901192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24,998.20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30931" y="4831019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10,803.56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30931" y="6670927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60,185.86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53485" y="8578735"/>
            <a:ext cx="2367828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377.34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0245" y="9532238"/>
            <a:ext cx="2475506" cy="42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6"/>
              </a:lnSpc>
            </a:pPr>
            <a:r>
              <a:rPr lang="en-US" sz="3058" spc="-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GRAND TOTAL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63735" y="6694956"/>
            <a:ext cx="222283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574,283.53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199" y="794239"/>
            <a:ext cx="1383482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Cont’d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92111" y="2053798"/>
            <a:ext cx="2363505" cy="43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3029" spc="-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GRAND TOTAL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51654" y="2076569"/>
            <a:ext cx="1497459" cy="43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3029" spc="-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% Aged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29185" y="1963238"/>
            <a:ext cx="2072839" cy="59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321" spc="-190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% Contribution to Aged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968732" y="1991603"/>
            <a:ext cx="2072839" cy="59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321" spc="-190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% Contribution to Total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31086" y="2989815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279,116.46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31086" y="3967485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24,998.20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31086" y="4823805"/>
            <a:ext cx="239038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60, 814.22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81863" y="5739137"/>
            <a:ext cx="2639604" cy="43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56"/>
              </a:lnSpc>
            </a:pPr>
            <a:r>
              <a:rPr lang="en-US" sz="30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45,738.77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98636" y="6694956"/>
            <a:ext cx="2287416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634, 469.39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98636" y="7608916"/>
            <a:ext cx="2222832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4,629.11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53640" y="8542002"/>
            <a:ext cx="2367828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188,818.34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626865" y="2989815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26865" y="3986535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626865" y="4823805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82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26865" y="5740979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26865" y="6694956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91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26865" y="7666142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26865" y="8542002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26865" y="9549557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78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797425" y="9541763"/>
            <a:ext cx="2788626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7,835,842.01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861078" y="9538859"/>
            <a:ext cx="2697659" cy="43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51"/>
              </a:lnSpc>
            </a:pPr>
            <a:r>
              <a:rPr lang="en-US" sz="30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1,750,334.29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72451" y="9549557"/>
            <a:ext cx="2788626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6,085,507.72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765604" y="2949056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765604" y="3945776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765604" y="4783046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765604" y="5700220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765604" y="6654197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9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765604" y="7625383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765604" y="8501243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765604" y="9508798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100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904344" y="2908297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904344" y="3905017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904344" y="4742287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904344" y="5659461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904344" y="6613439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8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904344" y="7584625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904344" y="8460485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6904344" y="9468039"/>
            <a:ext cx="76032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7699" y="1928418"/>
            <a:ext cx="7450301" cy="7430001"/>
          </a:xfrm>
          <a:custGeom>
            <a:avLst/>
            <a:gdLst/>
            <a:ahLst/>
            <a:cxnLst/>
            <a:rect r="r" b="b" t="t" l="l"/>
            <a:pathLst>
              <a:path h="7430001" w="7450301">
                <a:moveTo>
                  <a:pt x="0" y="0"/>
                </a:moveTo>
                <a:lnTo>
                  <a:pt x="7450301" y="0"/>
                </a:lnTo>
                <a:lnTo>
                  <a:pt x="7450301" y="7430001"/>
                </a:lnTo>
                <a:lnTo>
                  <a:pt x="0" y="743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l="-1441" t="-756" r="0" b="-3810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05513" y="236499"/>
            <a:ext cx="8022793" cy="79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5288" spc="-433" b="tru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DEBT BY BUSINESS GROUP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30924" y="887608"/>
          <a:ext cx="8341846" cy="9370817"/>
        </p:xfrm>
        <a:graphic>
          <a:graphicData uri="http://schemas.openxmlformats.org/drawingml/2006/table">
            <a:tbl>
              <a:tblPr/>
              <a:tblGrid>
                <a:gridCol w="2740738"/>
                <a:gridCol w="2923242"/>
                <a:gridCol w="2677866"/>
              </a:tblGrid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51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735259" y="887608"/>
          <a:ext cx="9168506" cy="9344025"/>
        </p:xfrm>
        <a:graphic>
          <a:graphicData uri="http://schemas.openxmlformats.org/drawingml/2006/table">
            <a:tbl>
              <a:tblPr/>
              <a:tblGrid>
                <a:gridCol w="3119355"/>
                <a:gridCol w="1707935"/>
                <a:gridCol w="2170608"/>
                <a:gridCol w="2170608"/>
              </a:tblGrid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49457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0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2F2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320766" y="1091384"/>
            <a:ext cx="2479969" cy="38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880" spc="-23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Business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25404" y="1089015"/>
            <a:ext cx="1168830" cy="43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3028" spc="-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Aged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31187" y="1081645"/>
            <a:ext cx="2362554" cy="43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3029" spc="-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Not aged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5676" y="2011010"/>
            <a:ext cx="2365745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COMPUTING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5676" y="2766124"/>
            <a:ext cx="2365745" cy="50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948" spc="-159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ENTERPRISE SOLUTION ALPHA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0971" y="8808207"/>
            <a:ext cx="2365745" cy="44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SUPPLIES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78674" y="1967592"/>
            <a:ext cx="2302876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599, 281.73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21604" y="1967592"/>
            <a:ext cx="2394691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60, 185.86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0882" y="3675034"/>
            <a:ext cx="2340668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161,699.14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7187" y="4576816"/>
            <a:ext cx="2644363" cy="43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56"/>
              </a:lnSpc>
            </a:pPr>
            <a:r>
              <a:rPr lang="en-US" sz="30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45,738.77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16692" y="7160746"/>
            <a:ext cx="2226839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4,629.11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98962" y="8853499"/>
            <a:ext cx="2224508" cy="42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55"/>
              </a:lnSpc>
            </a:pPr>
            <a:r>
              <a:rPr lang="en-US" sz="3149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188, 441.00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21604" y="2840269"/>
            <a:ext cx="2394691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1,478,164.20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21604" y="3655920"/>
            <a:ext cx="2394691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48,818.88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21604" y="5446910"/>
            <a:ext cx="2394691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60,185.86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90941" y="8885444"/>
            <a:ext cx="2372097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377.34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6822" y="9701676"/>
            <a:ext cx="2479969" cy="42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6"/>
              </a:lnSpc>
            </a:pPr>
            <a:r>
              <a:rPr lang="en-US" sz="3058" spc="-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GRAND TOTAL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54711" y="5446910"/>
            <a:ext cx="2226839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574,283.53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82834" y="1104255"/>
            <a:ext cx="2367767" cy="43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3029" spc="-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GRAND TOTAL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43937" y="1127026"/>
            <a:ext cx="1500159" cy="43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3029" spc="-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% Aged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24168" y="1013694"/>
            <a:ext cx="2072839" cy="59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321" spc="-190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% Contribution to Aged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963715" y="1042060"/>
            <a:ext cx="2072839" cy="59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321" spc="-190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% Contribution to Total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21759" y="1999513"/>
            <a:ext cx="2394691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659, 467.59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48367" y="2845797"/>
            <a:ext cx="2655140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6,385,964.86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21759" y="3659266"/>
            <a:ext cx="2394691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210,518.02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72088" y="4554252"/>
            <a:ext cx="2644363" cy="43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56"/>
              </a:lnSpc>
            </a:pPr>
            <a:r>
              <a:rPr lang="en-US" sz="30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45,738.77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89495" y="5433871"/>
            <a:ext cx="2291540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634, 469.39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54196" y="7056335"/>
            <a:ext cx="2226839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4,629.11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79987" y="8853499"/>
            <a:ext cx="2372097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188,818.34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20477" y="2011697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91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20477" y="2826875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77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20477" y="3664711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77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20477" y="4583672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20477" y="5421508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20477" y="6278631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57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20477" y="8062661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82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91902" y="9649347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78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722797" y="9688879"/>
            <a:ext cx="279365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7,835,842.01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27620" y="9724794"/>
            <a:ext cx="2702523" cy="43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51"/>
              </a:lnSpc>
            </a:pPr>
            <a:r>
              <a:rPr lang="en-US" sz="30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1,750,334.29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014916" y="9726548"/>
            <a:ext cx="279365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6,085,507.72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759217" y="1999513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59217" y="2817095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81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759217" y="3649741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759217" y="4492866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759217" y="5387852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759217" y="6316731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759217" y="7192667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760588" y="9643384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897956" y="1958754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8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897956" y="2798045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81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897956" y="3659266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897956" y="4521441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897956" y="5414821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897956" y="6278631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897956" y="7192667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7113495" y="9672744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20971" y="3636870"/>
            <a:ext cx="2365745" cy="50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948" spc="-159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ENTERPRISE SOLUTION BETA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77980" y="4551751"/>
            <a:ext cx="2365745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MOBILE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20971" y="5408746"/>
            <a:ext cx="2365745" cy="50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948" spc="-159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MODERN LIFESTYLE SOLUTION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20971" y="7056335"/>
            <a:ext cx="2365745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PRINT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20766" y="7932271"/>
            <a:ext cx="2365745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SOFTWARE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124195" y="2813877"/>
            <a:ext cx="2670347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4,907,800.66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478674" y="7973957"/>
            <a:ext cx="2226839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127,467.81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236198" y="7973957"/>
            <a:ext cx="2226839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151,648.65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363345" y="7983242"/>
            <a:ext cx="2226839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279,116.46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620477" y="7192667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46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20766" y="6228024"/>
            <a:ext cx="2365745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248" spc="-266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POWER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498962" y="6237549"/>
            <a:ext cx="2226839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438.84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199045" y="6228024"/>
            <a:ext cx="2226839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335.80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252616" y="6316731"/>
            <a:ext cx="2226839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774.64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557817" y="8805548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100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760588" y="7973957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760588" y="8792743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6888431" y="7954303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6897956" y="8811189"/>
            <a:ext cx="761694" cy="44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3248">
                <a:solidFill>
                  <a:srgbClr val="FEFDFD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6966" y="456765"/>
            <a:ext cx="7450301" cy="7430001"/>
          </a:xfrm>
          <a:custGeom>
            <a:avLst/>
            <a:gdLst/>
            <a:ahLst/>
            <a:cxnLst/>
            <a:rect r="r" b="b" t="t" l="l"/>
            <a:pathLst>
              <a:path h="7430001" w="7450301">
                <a:moveTo>
                  <a:pt x="0" y="0"/>
                </a:moveTo>
                <a:lnTo>
                  <a:pt x="7450301" y="0"/>
                </a:lnTo>
                <a:lnTo>
                  <a:pt x="7450301" y="7430001"/>
                </a:lnTo>
                <a:lnTo>
                  <a:pt x="0" y="743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-1441" t="-756" r="0" b="-3810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8400" y="-496360"/>
            <a:ext cx="2047929" cy="2439210"/>
            <a:chOff x="0" y="0"/>
            <a:chExt cx="689861" cy="8216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9861" cy="821667"/>
            </a:xfrm>
            <a:custGeom>
              <a:avLst/>
              <a:gdLst/>
              <a:ahLst/>
              <a:cxnLst/>
              <a:rect r="r" b="b" t="t" l="l"/>
              <a:pathLst>
                <a:path h="821667" w="689861">
                  <a:moveTo>
                    <a:pt x="60486" y="0"/>
                  </a:moveTo>
                  <a:lnTo>
                    <a:pt x="629375" y="0"/>
                  </a:lnTo>
                  <a:cubicBezTo>
                    <a:pt x="645417" y="0"/>
                    <a:pt x="660802" y="6373"/>
                    <a:pt x="672145" y="17716"/>
                  </a:cubicBezTo>
                  <a:cubicBezTo>
                    <a:pt x="683488" y="29059"/>
                    <a:pt x="689861" y="44444"/>
                    <a:pt x="689861" y="60486"/>
                  </a:cubicBezTo>
                  <a:lnTo>
                    <a:pt x="689861" y="761181"/>
                  </a:lnTo>
                  <a:cubicBezTo>
                    <a:pt x="689861" y="777223"/>
                    <a:pt x="683488" y="792608"/>
                    <a:pt x="672145" y="803951"/>
                  </a:cubicBezTo>
                  <a:cubicBezTo>
                    <a:pt x="660802" y="815294"/>
                    <a:pt x="645417" y="821667"/>
                    <a:pt x="629375" y="821667"/>
                  </a:cubicBezTo>
                  <a:lnTo>
                    <a:pt x="60486" y="821667"/>
                  </a:lnTo>
                  <a:cubicBezTo>
                    <a:pt x="44444" y="821667"/>
                    <a:pt x="29059" y="815294"/>
                    <a:pt x="17716" y="803951"/>
                  </a:cubicBezTo>
                  <a:cubicBezTo>
                    <a:pt x="6373" y="792608"/>
                    <a:pt x="0" y="777223"/>
                    <a:pt x="0" y="761181"/>
                  </a:cubicBezTo>
                  <a:lnTo>
                    <a:pt x="0" y="60486"/>
                  </a:lnTo>
                  <a:cubicBezTo>
                    <a:pt x="0" y="44444"/>
                    <a:pt x="6373" y="29059"/>
                    <a:pt x="17716" y="17716"/>
                  </a:cubicBezTo>
                  <a:cubicBezTo>
                    <a:pt x="29059" y="6373"/>
                    <a:pt x="44444" y="0"/>
                    <a:pt x="604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689861" cy="802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4036" y="313453"/>
            <a:ext cx="936657" cy="1278646"/>
          </a:xfrm>
          <a:custGeom>
            <a:avLst/>
            <a:gdLst/>
            <a:ahLst/>
            <a:cxnLst/>
            <a:rect r="r" b="b" t="t" l="l"/>
            <a:pathLst>
              <a:path h="1278646" w="936657">
                <a:moveTo>
                  <a:pt x="0" y="0"/>
                </a:moveTo>
                <a:lnTo>
                  <a:pt x="936657" y="0"/>
                </a:lnTo>
                <a:lnTo>
                  <a:pt x="936657" y="1278646"/>
                </a:lnTo>
                <a:lnTo>
                  <a:pt x="0" y="1278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964036" y="4171765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4205317" y="2876049"/>
            <a:ext cx="9877367" cy="98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597" spc="-54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DEBT BY FISCAL YEAR (FY)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22668" y="1486308"/>
            <a:ext cx="7450301" cy="7430001"/>
          </a:xfrm>
          <a:custGeom>
            <a:avLst/>
            <a:gdLst/>
            <a:ahLst/>
            <a:cxnLst/>
            <a:rect r="r" b="b" t="t" l="l"/>
            <a:pathLst>
              <a:path h="7430001" w="7450301">
                <a:moveTo>
                  <a:pt x="0" y="0"/>
                </a:moveTo>
                <a:lnTo>
                  <a:pt x="7450301" y="0"/>
                </a:lnTo>
                <a:lnTo>
                  <a:pt x="7450301" y="7430001"/>
                </a:lnTo>
                <a:lnTo>
                  <a:pt x="0" y="743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-1441" t="-756" r="0" b="-38101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273025" y="883610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108934" y="211898"/>
            <a:ext cx="7485206" cy="81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8"/>
              </a:lnSpc>
            </a:pPr>
            <a:r>
              <a:rPr lang="en-US" sz="5514" spc="-45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TOP 15  AGED DEBTORS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22668" y="1486308"/>
            <a:ext cx="7450301" cy="7430001"/>
          </a:xfrm>
          <a:custGeom>
            <a:avLst/>
            <a:gdLst/>
            <a:ahLst/>
            <a:cxnLst/>
            <a:rect r="r" b="b" t="t" l="l"/>
            <a:pathLst>
              <a:path h="7430001" w="7450301">
                <a:moveTo>
                  <a:pt x="0" y="0"/>
                </a:moveTo>
                <a:lnTo>
                  <a:pt x="7450301" y="0"/>
                </a:lnTo>
                <a:lnTo>
                  <a:pt x="7450301" y="7430001"/>
                </a:lnTo>
                <a:lnTo>
                  <a:pt x="0" y="743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 l="-1441" t="-756" r="0" b="-38101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486539" y="918147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108934" y="211898"/>
            <a:ext cx="7485206" cy="81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8"/>
              </a:lnSpc>
            </a:pPr>
            <a:r>
              <a:rPr lang="en-US" sz="5514" spc="-45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TOP 15  AGED DEBTORS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6966" y="456765"/>
            <a:ext cx="7450301" cy="7430001"/>
          </a:xfrm>
          <a:custGeom>
            <a:avLst/>
            <a:gdLst/>
            <a:ahLst/>
            <a:cxnLst/>
            <a:rect r="r" b="b" t="t" l="l"/>
            <a:pathLst>
              <a:path h="7430001" w="7450301">
                <a:moveTo>
                  <a:pt x="0" y="0"/>
                </a:moveTo>
                <a:lnTo>
                  <a:pt x="7450301" y="0"/>
                </a:lnTo>
                <a:lnTo>
                  <a:pt x="7450301" y="7430001"/>
                </a:lnTo>
                <a:lnTo>
                  <a:pt x="0" y="743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-1441" t="-756" r="0" b="-3810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8400" y="-496360"/>
            <a:ext cx="2047929" cy="2439210"/>
            <a:chOff x="0" y="0"/>
            <a:chExt cx="689861" cy="8216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9861" cy="821667"/>
            </a:xfrm>
            <a:custGeom>
              <a:avLst/>
              <a:gdLst/>
              <a:ahLst/>
              <a:cxnLst/>
              <a:rect r="r" b="b" t="t" l="l"/>
              <a:pathLst>
                <a:path h="821667" w="689861">
                  <a:moveTo>
                    <a:pt x="60486" y="0"/>
                  </a:moveTo>
                  <a:lnTo>
                    <a:pt x="629375" y="0"/>
                  </a:lnTo>
                  <a:cubicBezTo>
                    <a:pt x="645417" y="0"/>
                    <a:pt x="660802" y="6373"/>
                    <a:pt x="672145" y="17716"/>
                  </a:cubicBezTo>
                  <a:cubicBezTo>
                    <a:pt x="683488" y="29059"/>
                    <a:pt x="689861" y="44444"/>
                    <a:pt x="689861" y="60486"/>
                  </a:cubicBezTo>
                  <a:lnTo>
                    <a:pt x="689861" y="761181"/>
                  </a:lnTo>
                  <a:cubicBezTo>
                    <a:pt x="689861" y="777223"/>
                    <a:pt x="683488" y="792608"/>
                    <a:pt x="672145" y="803951"/>
                  </a:cubicBezTo>
                  <a:cubicBezTo>
                    <a:pt x="660802" y="815294"/>
                    <a:pt x="645417" y="821667"/>
                    <a:pt x="629375" y="821667"/>
                  </a:cubicBezTo>
                  <a:lnTo>
                    <a:pt x="60486" y="821667"/>
                  </a:lnTo>
                  <a:cubicBezTo>
                    <a:pt x="44444" y="821667"/>
                    <a:pt x="29059" y="815294"/>
                    <a:pt x="17716" y="803951"/>
                  </a:cubicBezTo>
                  <a:cubicBezTo>
                    <a:pt x="6373" y="792608"/>
                    <a:pt x="0" y="777223"/>
                    <a:pt x="0" y="761181"/>
                  </a:cubicBezTo>
                  <a:lnTo>
                    <a:pt x="0" y="60486"/>
                  </a:lnTo>
                  <a:cubicBezTo>
                    <a:pt x="0" y="44444"/>
                    <a:pt x="6373" y="29059"/>
                    <a:pt x="17716" y="17716"/>
                  </a:cubicBezTo>
                  <a:cubicBezTo>
                    <a:pt x="29059" y="6373"/>
                    <a:pt x="44444" y="0"/>
                    <a:pt x="604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689861" cy="802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4036" y="313453"/>
            <a:ext cx="936657" cy="1278646"/>
          </a:xfrm>
          <a:custGeom>
            <a:avLst/>
            <a:gdLst/>
            <a:ahLst/>
            <a:cxnLst/>
            <a:rect r="r" b="b" t="t" l="l"/>
            <a:pathLst>
              <a:path h="1278646" w="936657">
                <a:moveTo>
                  <a:pt x="0" y="0"/>
                </a:moveTo>
                <a:lnTo>
                  <a:pt x="936657" y="0"/>
                </a:lnTo>
                <a:lnTo>
                  <a:pt x="936657" y="1278646"/>
                </a:lnTo>
                <a:lnTo>
                  <a:pt x="0" y="1278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964036" y="4171765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059895" y="2934005"/>
            <a:ext cx="6689810" cy="98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597" spc="-54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AGING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400" y="-496360"/>
            <a:ext cx="2047929" cy="2439210"/>
            <a:chOff x="0" y="0"/>
            <a:chExt cx="689861" cy="821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9861" cy="821667"/>
            </a:xfrm>
            <a:custGeom>
              <a:avLst/>
              <a:gdLst/>
              <a:ahLst/>
              <a:cxnLst/>
              <a:rect r="r" b="b" t="t" l="l"/>
              <a:pathLst>
                <a:path h="821667" w="689861">
                  <a:moveTo>
                    <a:pt x="60486" y="0"/>
                  </a:moveTo>
                  <a:lnTo>
                    <a:pt x="629375" y="0"/>
                  </a:lnTo>
                  <a:cubicBezTo>
                    <a:pt x="645417" y="0"/>
                    <a:pt x="660802" y="6373"/>
                    <a:pt x="672145" y="17716"/>
                  </a:cubicBezTo>
                  <a:cubicBezTo>
                    <a:pt x="683488" y="29059"/>
                    <a:pt x="689861" y="44444"/>
                    <a:pt x="689861" y="60486"/>
                  </a:cubicBezTo>
                  <a:lnTo>
                    <a:pt x="689861" y="761181"/>
                  </a:lnTo>
                  <a:cubicBezTo>
                    <a:pt x="689861" y="777223"/>
                    <a:pt x="683488" y="792608"/>
                    <a:pt x="672145" y="803951"/>
                  </a:cubicBezTo>
                  <a:cubicBezTo>
                    <a:pt x="660802" y="815294"/>
                    <a:pt x="645417" y="821667"/>
                    <a:pt x="629375" y="821667"/>
                  </a:cubicBezTo>
                  <a:lnTo>
                    <a:pt x="60486" y="821667"/>
                  </a:lnTo>
                  <a:cubicBezTo>
                    <a:pt x="44444" y="821667"/>
                    <a:pt x="29059" y="815294"/>
                    <a:pt x="17716" y="803951"/>
                  </a:cubicBezTo>
                  <a:cubicBezTo>
                    <a:pt x="6373" y="792608"/>
                    <a:pt x="0" y="777223"/>
                    <a:pt x="0" y="761181"/>
                  </a:cubicBezTo>
                  <a:lnTo>
                    <a:pt x="0" y="60486"/>
                  </a:lnTo>
                  <a:cubicBezTo>
                    <a:pt x="0" y="44444"/>
                    <a:pt x="6373" y="29059"/>
                    <a:pt x="17716" y="17716"/>
                  </a:cubicBezTo>
                  <a:cubicBezTo>
                    <a:pt x="29059" y="6373"/>
                    <a:pt x="44444" y="0"/>
                    <a:pt x="604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689861" cy="802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438840"/>
            <a:ext cx="18288000" cy="8985478"/>
          </a:xfrm>
          <a:custGeom>
            <a:avLst/>
            <a:gdLst/>
            <a:ahLst/>
            <a:cxnLst/>
            <a:rect r="r" b="b" t="t" l="l"/>
            <a:pathLst>
              <a:path h="8985478" w="18288000">
                <a:moveTo>
                  <a:pt x="0" y="0"/>
                </a:moveTo>
                <a:lnTo>
                  <a:pt x="18288000" y="0"/>
                </a:lnTo>
                <a:lnTo>
                  <a:pt x="18288000" y="8985478"/>
                </a:lnTo>
                <a:lnTo>
                  <a:pt x="0" y="8985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33" r="-283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306" y="1591687"/>
            <a:ext cx="18060438" cy="2889670"/>
          </a:xfrm>
          <a:custGeom>
            <a:avLst/>
            <a:gdLst/>
            <a:ahLst/>
            <a:cxnLst/>
            <a:rect r="r" b="b" t="t" l="l"/>
            <a:pathLst>
              <a:path h="2889670" w="18060438">
                <a:moveTo>
                  <a:pt x="0" y="0"/>
                </a:moveTo>
                <a:lnTo>
                  <a:pt x="18060438" y="0"/>
                </a:lnTo>
                <a:lnTo>
                  <a:pt x="18060438" y="2889670"/>
                </a:lnTo>
                <a:lnTo>
                  <a:pt x="0" y="288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406" y="5309755"/>
            <a:ext cx="18022338" cy="2301235"/>
          </a:xfrm>
          <a:custGeom>
            <a:avLst/>
            <a:gdLst/>
            <a:ahLst/>
            <a:cxnLst/>
            <a:rect r="r" b="b" t="t" l="l"/>
            <a:pathLst>
              <a:path h="2301235" w="18022338">
                <a:moveTo>
                  <a:pt x="0" y="0"/>
                </a:moveTo>
                <a:lnTo>
                  <a:pt x="18022338" y="0"/>
                </a:lnTo>
                <a:lnTo>
                  <a:pt x="18022338" y="2301234"/>
                </a:lnTo>
                <a:lnTo>
                  <a:pt x="0" y="23012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15" r="0" b="-41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831" y="7610989"/>
            <a:ext cx="7685869" cy="2949514"/>
          </a:xfrm>
          <a:custGeom>
            <a:avLst/>
            <a:gdLst/>
            <a:ahLst/>
            <a:cxnLst/>
            <a:rect r="r" b="b" t="t" l="l"/>
            <a:pathLst>
              <a:path h="2949514" w="7685869">
                <a:moveTo>
                  <a:pt x="0" y="0"/>
                </a:moveTo>
                <a:lnTo>
                  <a:pt x="7685869" y="0"/>
                </a:lnTo>
                <a:lnTo>
                  <a:pt x="7685869" y="2949514"/>
                </a:lnTo>
                <a:lnTo>
                  <a:pt x="0" y="2949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73549" y="596959"/>
            <a:ext cx="8451533" cy="882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6"/>
              </a:lnSpc>
            </a:pPr>
            <a:r>
              <a:rPr lang="en-US" sz="5934" spc="-486" b="true">
                <a:solidFill>
                  <a:srgbClr val="8F2F2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BRANCH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50356" y="1902104"/>
            <a:ext cx="7187288" cy="160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09"/>
              </a:lnSpc>
            </a:pPr>
            <a:r>
              <a:rPr lang="en-US" b="true" sz="10297" spc="-7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-851681">
            <a:off x="808966" y="7541919"/>
            <a:ext cx="21825170" cy="18180272"/>
            <a:chOff x="0" y="0"/>
            <a:chExt cx="5748193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48193" cy="4788220"/>
            </a:xfrm>
            <a:custGeom>
              <a:avLst/>
              <a:gdLst/>
              <a:ahLst/>
              <a:cxnLst/>
              <a:rect r="r" b="b" t="t" l="l"/>
              <a:pathLst>
                <a:path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DF2727">
                    <a:alpha val="0"/>
                  </a:srgbClr>
                </a:gs>
                <a:gs pos="100000">
                  <a:srgbClr val="940101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28914" y="3725183"/>
            <a:ext cx="16630386" cy="379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2"/>
              </a:lnSpc>
            </a:pPr>
            <a:r>
              <a:rPr lang="en-US" sz="29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While our Ghana operations remain profitable, we face a critical challenge: 78% of total debt is aged, with GHS 4.9M overdue beyond 121 days. This aging has placed significant strain on cash flow.</a:t>
            </a:r>
          </a:p>
          <a:p>
            <a:pPr algn="l">
              <a:lnSpc>
                <a:spcPts val="5032"/>
              </a:lnSpc>
            </a:pPr>
            <a:r>
              <a:rPr lang="en-US" sz="29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 address this, we will launch a targeted collections drive, prioritizing major debtors such as DEL ENTP and IT MARKET LTD, and review existing credit terms to reduce future exposure.</a:t>
            </a:r>
          </a:p>
          <a:p>
            <a:pPr algn="l">
              <a:lnSpc>
                <a:spcPts val="5032"/>
              </a:lnSpc>
            </a:pPr>
            <a:r>
              <a:rPr lang="en-US" sz="292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With swift execution and full team commitment, we are confident in restoring financial balance and protecting our growth trajectory.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8400" y="-489480"/>
            <a:ext cx="2047929" cy="2439210"/>
            <a:chOff x="0" y="0"/>
            <a:chExt cx="689861" cy="821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9861" cy="821667"/>
            </a:xfrm>
            <a:custGeom>
              <a:avLst/>
              <a:gdLst/>
              <a:ahLst/>
              <a:cxnLst/>
              <a:rect r="r" b="b" t="t" l="l"/>
              <a:pathLst>
                <a:path h="821667" w="689861">
                  <a:moveTo>
                    <a:pt x="60486" y="0"/>
                  </a:moveTo>
                  <a:lnTo>
                    <a:pt x="629375" y="0"/>
                  </a:lnTo>
                  <a:cubicBezTo>
                    <a:pt x="645417" y="0"/>
                    <a:pt x="660802" y="6373"/>
                    <a:pt x="672145" y="17716"/>
                  </a:cubicBezTo>
                  <a:cubicBezTo>
                    <a:pt x="683488" y="29059"/>
                    <a:pt x="689861" y="44444"/>
                    <a:pt x="689861" y="60486"/>
                  </a:cubicBezTo>
                  <a:lnTo>
                    <a:pt x="689861" y="761181"/>
                  </a:lnTo>
                  <a:cubicBezTo>
                    <a:pt x="689861" y="777223"/>
                    <a:pt x="683488" y="792608"/>
                    <a:pt x="672145" y="803951"/>
                  </a:cubicBezTo>
                  <a:cubicBezTo>
                    <a:pt x="660802" y="815294"/>
                    <a:pt x="645417" y="821667"/>
                    <a:pt x="629375" y="821667"/>
                  </a:cubicBezTo>
                  <a:lnTo>
                    <a:pt x="60486" y="821667"/>
                  </a:lnTo>
                  <a:cubicBezTo>
                    <a:pt x="44444" y="821667"/>
                    <a:pt x="29059" y="815294"/>
                    <a:pt x="17716" y="803951"/>
                  </a:cubicBezTo>
                  <a:cubicBezTo>
                    <a:pt x="6373" y="792608"/>
                    <a:pt x="0" y="777223"/>
                    <a:pt x="0" y="761181"/>
                  </a:cubicBezTo>
                  <a:lnTo>
                    <a:pt x="0" y="60486"/>
                  </a:lnTo>
                  <a:cubicBezTo>
                    <a:pt x="0" y="44444"/>
                    <a:pt x="6373" y="29059"/>
                    <a:pt x="17716" y="17716"/>
                  </a:cubicBezTo>
                  <a:cubicBezTo>
                    <a:pt x="29059" y="6373"/>
                    <a:pt x="44444" y="0"/>
                    <a:pt x="604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689861" cy="802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4036" y="320333"/>
            <a:ext cx="936657" cy="1278646"/>
          </a:xfrm>
          <a:custGeom>
            <a:avLst/>
            <a:gdLst/>
            <a:ahLst/>
            <a:cxnLst/>
            <a:rect r="r" b="b" t="t" l="l"/>
            <a:pathLst>
              <a:path h="1278646" w="936657">
                <a:moveTo>
                  <a:pt x="0" y="0"/>
                </a:moveTo>
                <a:lnTo>
                  <a:pt x="936657" y="0"/>
                </a:lnTo>
                <a:lnTo>
                  <a:pt x="936657" y="1278646"/>
                </a:lnTo>
                <a:lnTo>
                  <a:pt x="0" y="1278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33797" cy="4788220"/>
            </a:xfrm>
            <a:custGeom>
              <a:avLst/>
              <a:gdLst/>
              <a:ahLst/>
              <a:cxnLst/>
              <a:rect r="r" b="b" t="t" l="l"/>
              <a:pathLst>
                <a:path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E40000">
                    <a:alpha val="0"/>
                  </a:srgbClr>
                </a:gs>
                <a:gs pos="100000">
                  <a:srgbClr val="721601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59014" y="3657446"/>
            <a:ext cx="13169972" cy="308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3"/>
              </a:lnSpc>
            </a:pPr>
            <a:r>
              <a:rPr lang="en-US" b="true" sz="21003" spc="-13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08400" y="-507954"/>
            <a:ext cx="2047929" cy="2439210"/>
            <a:chOff x="0" y="0"/>
            <a:chExt cx="689861" cy="821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9861" cy="821667"/>
            </a:xfrm>
            <a:custGeom>
              <a:avLst/>
              <a:gdLst/>
              <a:ahLst/>
              <a:cxnLst/>
              <a:rect r="r" b="b" t="t" l="l"/>
              <a:pathLst>
                <a:path h="821667" w="689861">
                  <a:moveTo>
                    <a:pt x="60486" y="0"/>
                  </a:moveTo>
                  <a:lnTo>
                    <a:pt x="629375" y="0"/>
                  </a:lnTo>
                  <a:cubicBezTo>
                    <a:pt x="645417" y="0"/>
                    <a:pt x="660802" y="6373"/>
                    <a:pt x="672145" y="17716"/>
                  </a:cubicBezTo>
                  <a:cubicBezTo>
                    <a:pt x="683488" y="29059"/>
                    <a:pt x="689861" y="44444"/>
                    <a:pt x="689861" y="60486"/>
                  </a:cubicBezTo>
                  <a:lnTo>
                    <a:pt x="689861" y="761181"/>
                  </a:lnTo>
                  <a:cubicBezTo>
                    <a:pt x="689861" y="777223"/>
                    <a:pt x="683488" y="792608"/>
                    <a:pt x="672145" y="803951"/>
                  </a:cubicBezTo>
                  <a:cubicBezTo>
                    <a:pt x="660802" y="815294"/>
                    <a:pt x="645417" y="821667"/>
                    <a:pt x="629375" y="821667"/>
                  </a:cubicBezTo>
                  <a:lnTo>
                    <a:pt x="60486" y="821667"/>
                  </a:lnTo>
                  <a:cubicBezTo>
                    <a:pt x="44444" y="821667"/>
                    <a:pt x="29059" y="815294"/>
                    <a:pt x="17716" y="803951"/>
                  </a:cubicBezTo>
                  <a:cubicBezTo>
                    <a:pt x="6373" y="792608"/>
                    <a:pt x="0" y="777223"/>
                    <a:pt x="0" y="761181"/>
                  </a:cubicBezTo>
                  <a:lnTo>
                    <a:pt x="0" y="60486"/>
                  </a:lnTo>
                  <a:cubicBezTo>
                    <a:pt x="0" y="44444"/>
                    <a:pt x="6373" y="29059"/>
                    <a:pt x="17716" y="17716"/>
                  </a:cubicBezTo>
                  <a:cubicBezTo>
                    <a:pt x="29059" y="6373"/>
                    <a:pt x="44444" y="0"/>
                    <a:pt x="604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689861" cy="802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64036" y="352567"/>
            <a:ext cx="936657" cy="1278646"/>
          </a:xfrm>
          <a:custGeom>
            <a:avLst/>
            <a:gdLst/>
            <a:ahLst/>
            <a:cxnLst/>
            <a:rect r="r" b="b" t="t" l="l"/>
            <a:pathLst>
              <a:path h="1278646" w="936657">
                <a:moveTo>
                  <a:pt x="0" y="0"/>
                </a:moveTo>
                <a:lnTo>
                  <a:pt x="936657" y="0"/>
                </a:lnTo>
                <a:lnTo>
                  <a:pt x="936657" y="1278646"/>
                </a:lnTo>
                <a:lnTo>
                  <a:pt x="0" y="1278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DAGt1UEv9Pg</dc:identifier>
  <dcterms:modified xsi:type="dcterms:W3CDTF">2011-08-01T06:04:30Z</dcterms:modified>
  <cp:revision>1</cp:revision>
  <dc:title>Ghana Branch Review</dc:title>
</cp:coreProperties>
</file>