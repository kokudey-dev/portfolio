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libri (MS)" panose="020B0604020202020204" charset="0"/>
      <p:regular r:id="rId14"/>
    </p:embeddedFont>
    <p:embeddedFont>
      <p:font typeface="Calibri (MS) Bold" panose="020B0604020202020204" charset="0"/>
      <p:regular r:id="rId15"/>
    </p:embeddedFont>
    <p:embeddedFont>
      <p:font typeface="Cambria Bold" panose="02040803050406030204" pitchFamily="18" charset="0"/>
      <p:regular r:id="rId16"/>
      <p:bold r:id="rId17"/>
    </p:embeddedFont>
    <p:embeddedFont>
      <p:font typeface="Canva Sans"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jpe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2.png"/><Relationship Id="rId4"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4.svg"/><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jpe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13801741" y="1095375"/>
            <a:ext cx="3457559" cy="640080"/>
            <a:chOff x="0" y="0"/>
            <a:chExt cx="4610079" cy="853440"/>
          </a:xfrm>
        </p:grpSpPr>
        <p:sp>
          <p:nvSpPr>
            <p:cNvPr id="3" name="Freeform 3"/>
            <p:cNvSpPr/>
            <p:nvPr/>
          </p:nvSpPr>
          <p:spPr>
            <a:xfrm>
              <a:off x="0" y="0"/>
              <a:ext cx="4610079" cy="853440"/>
            </a:xfrm>
            <a:custGeom>
              <a:avLst/>
              <a:gdLst/>
              <a:ahLst/>
              <a:cxnLst/>
              <a:rect l="l" t="t" r="r" b="b"/>
              <a:pathLst>
                <a:path w="4610079" h="853440">
                  <a:moveTo>
                    <a:pt x="0" y="0"/>
                  </a:moveTo>
                  <a:lnTo>
                    <a:pt x="4610079" y="0"/>
                  </a:lnTo>
                  <a:lnTo>
                    <a:pt x="4610079" y="853440"/>
                  </a:lnTo>
                  <a:lnTo>
                    <a:pt x="0" y="853440"/>
                  </a:lnTo>
                  <a:close/>
                </a:path>
              </a:pathLst>
            </a:custGeom>
            <a:blipFill>
              <a:blip r:embed="rId3">
                <a:alphaModFix amt="0"/>
              </a:blip>
              <a:stretch>
                <a:fillRect t="-178253" r="-116860" b="-178253"/>
              </a:stretch>
            </a:blipFill>
          </p:spPr>
        </p:sp>
        <p:sp>
          <p:nvSpPr>
            <p:cNvPr id="4" name="TextBox 4"/>
            <p:cNvSpPr txBox="1"/>
            <p:nvPr/>
          </p:nvSpPr>
          <p:spPr>
            <a:xfrm>
              <a:off x="0" y="-38100"/>
              <a:ext cx="4610079" cy="891540"/>
            </a:xfrm>
            <a:prstGeom prst="rect">
              <a:avLst/>
            </a:prstGeom>
          </p:spPr>
          <p:txBody>
            <a:bodyPr lIns="0" tIns="0" rIns="0" bIns="0" rtlCol="0" anchor="ctr"/>
            <a:lstStyle/>
            <a:p>
              <a:pPr algn="r">
                <a:lnSpc>
                  <a:spcPts val="2160"/>
                </a:lnSpc>
              </a:pPr>
              <a:r>
                <a:rPr lang="en-US" sz="1800" spc="800">
                  <a:solidFill>
                    <a:srgbClr val="EEF1F7"/>
                  </a:solidFill>
                  <a:latin typeface="Calibri (MS)"/>
                  <a:ea typeface="Calibri (MS)"/>
                  <a:cs typeface="Calibri (MS)"/>
                  <a:sym typeface="Calibri (MS)"/>
                </a:rPr>
                <a:t>GCB BANK PLC</a:t>
              </a:r>
            </a:p>
          </p:txBody>
        </p:sp>
      </p:grpSp>
      <p:grpSp>
        <p:nvGrpSpPr>
          <p:cNvPr id="5" name="Group 5"/>
          <p:cNvGrpSpPr/>
          <p:nvPr/>
        </p:nvGrpSpPr>
        <p:grpSpPr>
          <a:xfrm>
            <a:off x="1028700" y="5402580"/>
            <a:ext cx="2743200" cy="91440"/>
            <a:chOff x="0" y="0"/>
            <a:chExt cx="3657600" cy="121920"/>
          </a:xfrm>
        </p:grpSpPr>
        <p:sp>
          <p:nvSpPr>
            <p:cNvPr id="6" name="Freeform 6"/>
            <p:cNvSpPr/>
            <p:nvPr/>
          </p:nvSpPr>
          <p:spPr>
            <a:xfrm>
              <a:off x="0" y="0"/>
              <a:ext cx="3657600" cy="121920"/>
            </a:xfrm>
            <a:custGeom>
              <a:avLst/>
              <a:gdLst/>
              <a:ahLst/>
              <a:cxnLst/>
              <a:rect l="l" t="t" r="r" b="b"/>
              <a:pathLst>
                <a:path w="3657600" h="121920">
                  <a:moveTo>
                    <a:pt x="0" y="0"/>
                  </a:moveTo>
                  <a:lnTo>
                    <a:pt x="3657600" y="0"/>
                  </a:lnTo>
                  <a:lnTo>
                    <a:pt x="3657600" y="121920"/>
                  </a:lnTo>
                  <a:lnTo>
                    <a:pt x="0" y="121920"/>
                  </a:lnTo>
                  <a:close/>
                </a:path>
              </a:pathLst>
            </a:custGeom>
            <a:solidFill>
              <a:srgbClr val="FFC924"/>
            </a:solidFill>
          </p:spPr>
        </p:sp>
      </p:grpSp>
      <p:grpSp>
        <p:nvGrpSpPr>
          <p:cNvPr id="7" name="Group 7"/>
          <p:cNvGrpSpPr/>
          <p:nvPr/>
        </p:nvGrpSpPr>
        <p:grpSpPr>
          <a:xfrm>
            <a:off x="1028700" y="8984145"/>
            <a:ext cx="4114800" cy="91440"/>
            <a:chOff x="0" y="0"/>
            <a:chExt cx="5486400" cy="121920"/>
          </a:xfrm>
        </p:grpSpPr>
        <p:sp>
          <p:nvSpPr>
            <p:cNvPr id="8" name="Freeform 8"/>
            <p:cNvSpPr/>
            <p:nvPr/>
          </p:nvSpPr>
          <p:spPr>
            <a:xfrm>
              <a:off x="0" y="0"/>
              <a:ext cx="5486400" cy="121920"/>
            </a:xfrm>
            <a:custGeom>
              <a:avLst/>
              <a:gdLst/>
              <a:ahLst/>
              <a:cxnLst/>
              <a:rect l="l" t="t" r="r" b="b"/>
              <a:pathLst>
                <a:path w="5486400" h="121920">
                  <a:moveTo>
                    <a:pt x="0" y="0"/>
                  </a:moveTo>
                  <a:lnTo>
                    <a:pt x="5486400" y="0"/>
                  </a:lnTo>
                  <a:lnTo>
                    <a:pt x="5486400" y="121920"/>
                  </a:lnTo>
                  <a:lnTo>
                    <a:pt x="0" y="121920"/>
                  </a:lnTo>
                  <a:close/>
                </a:path>
              </a:pathLst>
            </a:custGeom>
            <a:solidFill>
              <a:srgbClr val="FFC924"/>
            </a:solidFill>
          </p:spPr>
        </p:sp>
      </p:grpSp>
      <p:grpSp>
        <p:nvGrpSpPr>
          <p:cNvPr id="9" name="Group 9"/>
          <p:cNvGrpSpPr/>
          <p:nvPr/>
        </p:nvGrpSpPr>
        <p:grpSpPr>
          <a:xfrm>
            <a:off x="5271516" y="8984145"/>
            <a:ext cx="4114800" cy="91440"/>
            <a:chOff x="0" y="0"/>
            <a:chExt cx="5486400" cy="121920"/>
          </a:xfrm>
        </p:grpSpPr>
        <p:sp>
          <p:nvSpPr>
            <p:cNvPr id="10" name="Freeform 10"/>
            <p:cNvSpPr/>
            <p:nvPr/>
          </p:nvSpPr>
          <p:spPr>
            <a:xfrm>
              <a:off x="0" y="0"/>
              <a:ext cx="5486400" cy="121920"/>
            </a:xfrm>
            <a:custGeom>
              <a:avLst/>
              <a:gdLst/>
              <a:ahLst/>
              <a:cxnLst/>
              <a:rect l="l" t="t" r="r" b="b"/>
              <a:pathLst>
                <a:path w="5486400" h="121920">
                  <a:moveTo>
                    <a:pt x="0" y="0"/>
                  </a:moveTo>
                  <a:lnTo>
                    <a:pt x="5486400" y="0"/>
                  </a:lnTo>
                  <a:lnTo>
                    <a:pt x="5486400" y="121920"/>
                  </a:lnTo>
                  <a:lnTo>
                    <a:pt x="0" y="121920"/>
                  </a:lnTo>
                  <a:close/>
                </a:path>
              </a:pathLst>
            </a:custGeom>
            <a:solidFill>
              <a:srgbClr val="FFC924"/>
            </a:solidFill>
          </p:spPr>
        </p:sp>
      </p:grpSp>
      <p:grpSp>
        <p:nvGrpSpPr>
          <p:cNvPr id="11" name="Group 11"/>
          <p:cNvGrpSpPr/>
          <p:nvPr/>
        </p:nvGrpSpPr>
        <p:grpSpPr>
          <a:xfrm>
            <a:off x="9514332" y="8984145"/>
            <a:ext cx="4114800" cy="91440"/>
            <a:chOff x="0" y="0"/>
            <a:chExt cx="5486400" cy="121920"/>
          </a:xfrm>
        </p:grpSpPr>
        <p:sp>
          <p:nvSpPr>
            <p:cNvPr id="12" name="Freeform 12"/>
            <p:cNvSpPr/>
            <p:nvPr/>
          </p:nvSpPr>
          <p:spPr>
            <a:xfrm>
              <a:off x="0" y="0"/>
              <a:ext cx="5486400" cy="121920"/>
            </a:xfrm>
            <a:custGeom>
              <a:avLst/>
              <a:gdLst/>
              <a:ahLst/>
              <a:cxnLst/>
              <a:rect l="l" t="t" r="r" b="b"/>
              <a:pathLst>
                <a:path w="5486400" h="121920">
                  <a:moveTo>
                    <a:pt x="0" y="0"/>
                  </a:moveTo>
                  <a:lnTo>
                    <a:pt x="5486400" y="0"/>
                  </a:lnTo>
                  <a:lnTo>
                    <a:pt x="5486400" y="121920"/>
                  </a:lnTo>
                  <a:lnTo>
                    <a:pt x="0" y="121920"/>
                  </a:lnTo>
                  <a:close/>
                </a:path>
              </a:pathLst>
            </a:custGeom>
            <a:solidFill>
              <a:srgbClr val="FFC924"/>
            </a:solidFill>
          </p:spPr>
        </p:sp>
      </p:grpSp>
      <p:sp>
        <p:nvSpPr>
          <p:cNvPr id="13" name="Freeform 13"/>
          <p:cNvSpPr/>
          <p:nvPr/>
        </p:nvSpPr>
        <p:spPr>
          <a:xfrm>
            <a:off x="13828875" y="1066800"/>
            <a:ext cx="692086" cy="574878"/>
          </a:xfrm>
          <a:custGeom>
            <a:avLst/>
            <a:gdLst/>
            <a:ahLst/>
            <a:cxnLst/>
            <a:rect l="l" t="t" r="r" b="b"/>
            <a:pathLst>
              <a:path w="692086" h="574878">
                <a:moveTo>
                  <a:pt x="0" y="0"/>
                </a:moveTo>
                <a:lnTo>
                  <a:pt x="692086" y="0"/>
                </a:lnTo>
                <a:lnTo>
                  <a:pt x="692086" y="574878"/>
                </a:lnTo>
                <a:lnTo>
                  <a:pt x="0" y="574878"/>
                </a:lnTo>
                <a:lnTo>
                  <a:pt x="0" y="0"/>
                </a:lnTo>
                <a:close/>
              </a:path>
            </a:pathLst>
          </a:custGeom>
          <a:blipFill>
            <a:blip r:embed="rId4"/>
            <a:stretch>
              <a:fillRect/>
            </a:stretch>
          </a:blipFill>
        </p:spPr>
      </p:sp>
      <p:grpSp>
        <p:nvGrpSpPr>
          <p:cNvPr id="14" name="Group 14"/>
          <p:cNvGrpSpPr/>
          <p:nvPr/>
        </p:nvGrpSpPr>
        <p:grpSpPr>
          <a:xfrm>
            <a:off x="13752957" y="3970650"/>
            <a:ext cx="6375602" cy="637560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A6E"/>
            </a:solidFill>
            <a:ln w="38100" cap="sq">
              <a:solidFill>
                <a:srgbClr val="C9A84C"/>
              </a:solidFill>
              <a:prstDash val="solid"/>
              <a:miter/>
            </a:ln>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grpSp>
        <p:nvGrpSpPr>
          <p:cNvPr id="17" name="Group 17"/>
          <p:cNvGrpSpPr/>
          <p:nvPr/>
        </p:nvGrpSpPr>
        <p:grpSpPr>
          <a:xfrm>
            <a:off x="14520961" y="4738653"/>
            <a:ext cx="4839595" cy="483959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A3A6E"/>
            </a:solidFill>
            <a:ln w="38100" cap="sq">
              <a:solidFill>
                <a:srgbClr val="C9A84C"/>
              </a:solidFill>
              <a:prstDash val="solid"/>
              <a:miter/>
            </a:ln>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20" name="Freeform 20"/>
          <p:cNvSpPr/>
          <p:nvPr/>
        </p:nvSpPr>
        <p:spPr>
          <a:xfrm>
            <a:off x="16068943" y="6243788"/>
            <a:ext cx="1743630" cy="1743630"/>
          </a:xfrm>
          <a:custGeom>
            <a:avLst/>
            <a:gdLst/>
            <a:ahLst/>
            <a:cxnLst/>
            <a:rect l="l" t="t" r="r" b="b"/>
            <a:pathLst>
              <a:path w="1743630" h="1743630">
                <a:moveTo>
                  <a:pt x="0" y="0"/>
                </a:moveTo>
                <a:lnTo>
                  <a:pt x="1743630" y="0"/>
                </a:lnTo>
                <a:lnTo>
                  <a:pt x="1743630" y="1743630"/>
                </a:lnTo>
                <a:lnTo>
                  <a:pt x="0" y="174363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21" name="Group 21"/>
          <p:cNvGrpSpPr/>
          <p:nvPr/>
        </p:nvGrpSpPr>
        <p:grpSpPr>
          <a:xfrm>
            <a:off x="1028700" y="7643049"/>
            <a:ext cx="7218290" cy="1066831"/>
            <a:chOff x="0" y="0"/>
            <a:chExt cx="9624387" cy="1422441"/>
          </a:xfrm>
        </p:grpSpPr>
        <p:sp>
          <p:nvSpPr>
            <p:cNvPr id="22" name="Freeform 22"/>
            <p:cNvSpPr/>
            <p:nvPr/>
          </p:nvSpPr>
          <p:spPr>
            <a:xfrm>
              <a:off x="0" y="0"/>
              <a:ext cx="9624387" cy="1422441"/>
            </a:xfrm>
            <a:custGeom>
              <a:avLst/>
              <a:gdLst/>
              <a:ahLst/>
              <a:cxnLst/>
              <a:rect l="l" t="t" r="r" b="b"/>
              <a:pathLst>
                <a:path w="9624387" h="1422441">
                  <a:moveTo>
                    <a:pt x="0" y="0"/>
                  </a:moveTo>
                  <a:lnTo>
                    <a:pt x="9624387" y="0"/>
                  </a:lnTo>
                  <a:lnTo>
                    <a:pt x="9624387" y="1422441"/>
                  </a:lnTo>
                  <a:lnTo>
                    <a:pt x="0" y="1422441"/>
                  </a:lnTo>
                  <a:close/>
                </a:path>
              </a:pathLst>
            </a:custGeom>
            <a:blipFill>
              <a:blip r:embed="rId3">
                <a:alphaModFix amt="0"/>
              </a:blip>
              <a:stretch>
                <a:fillRect t="-94154" r="-26678" b="-139864"/>
              </a:stretch>
            </a:blipFill>
          </p:spPr>
        </p:sp>
        <p:sp>
          <p:nvSpPr>
            <p:cNvPr id="23" name="TextBox 23"/>
            <p:cNvSpPr txBox="1"/>
            <p:nvPr/>
          </p:nvSpPr>
          <p:spPr>
            <a:xfrm>
              <a:off x="0" y="-66675"/>
              <a:ext cx="9624387" cy="1489116"/>
            </a:xfrm>
            <a:prstGeom prst="rect">
              <a:avLst/>
            </a:prstGeom>
          </p:spPr>
          <p:txBody>
            <a:bodyPr lIns="0" tIns="0" rIns="0" bIns="0" rtlCol="0" anchor="ctr"/>
            <a:lstStyle/>
            <a:p>
              <a:pPr algn="l">
                <a:lnSpc>
                  <a:spcPts val="3359"/>
                </a:lnSpc>
              </a:pPr>
              <a:r>
                <a:rPr lang="en-US" sz="2799">
                  <a:solidFill>
                    <a:srgbClr val="D1D9E6"/>
                  </a:solidFill>
                  <a:latin typeface="Calibri (MS)"/>
                  <a:ea typeface="Calibri (MS)"/>
                  <a:cs typeface="Calibri (MS)"/>
                  <a:sym typeface="Calibri (MS)"/>
                </a:rPr>
                <a:t>Prepared &amp; Presented by: Mrs. Grace Tetty-Ofoe</a:t>
              </a:r>
            </a:p>
          </p:txBody>
        </p:sp>
      </p:grpSp>
      <p:sp>
        <p:nvSpPr>
          <p:cNvPr id="24" name="TextBox 24"/>
          <p:cNvSpPr txBox="1"/>
          <p:nvPr/>
        </p:nvSpPr>
        <p:spPr>
          <a:xfrm>
            <a:off x="1028700" y="2581297"/>
            <a:ext cx="13549998" cy="1427186"/>
          </a:xfrm>
          <a:prstGeom prst="rect">
            <a:avLst/>
          </a:prstGeom>
        </p:spPr>
        <p:txBody>
          <a:bodyPr lIns="0" tIns="0" rIns="0" bIns="0" rtlCol="0" anchor="t">
            <a:spAutoFit/>
          </a:bodyPr>
          <a:lstStyle/>
          <a:p>
            <a:pPr algn="ctr">
              <a:lnSpc>
                <a:spcPts val="12185"/>
              </a:lnSpc>
            </a:pPr>
            <a:r>
              <a:rPr lang="en-US" sz="8703" b="1" spc="-150" dirty="0">
                <a:solidFill>
                  <a:srgbClr val="F2CA4B"/>
                </a:solidFill>
                <a:latin typeface="Cambria Bold"/>
                <a:ea typeface="Cambria Bold"/>
                <a:cs typeface="Cambria Bold"/>
                <a:sym typeface="Cambria Bold"/>
              </a:rPr>
              <a:t>CURRENCY</a:t>
            </a:r>
            <a:r>
              <a:rPr lang="en-US" sz="8703" b="1" dirty="0">
                <a:solidFill>
                  <a:srgbClr val="F2CA4B"/>
                </a:solidFill>
                <a:latin typeface="Cambria Bold"/>
                <a:ea typeface="Cambria Bold"/>
                <a:cs typeface="Cambria Bold"/>
                <a:sym typeface="Cambria Bold"/>
              </a:rPr>
              <a:t> CHIEF CASHIER</a:t>
            </a:r>
          </a:p>
        </p:txBody>
      </p:sp>
      <p:sp>
        <p:nvSpPr>
          <p:cNvPr id="25" name="TextBox 25"/>
          <p:cNvSpPr txBox="1"/>
          <p:nvPr/>
        </p:nvSpPr>
        <p:spPr>
          <a:xfrm>
            <a:off x="1066754" y="3818250"/>
            <a:ext cx="2362245" cy="1169936"/>
          </a:xfrm>
          <a:prstGeom prst="rect">
            <a:avLst/>
          </a:prstGeom>
        </p:spPr>
        <p:txBody>
          <a:bodyPr wrap="square" lIns="0" tIns="0" rIns="0" bIns="0" rtlCol="0" anchor="t">
            <a:spAutoFit/>
          </a:bodyPr>
          <a:lstStyle/>
          <a:p>
            <a:pPr algn="ctr">
              <a:lnSpc>
                <a:spcPts val="9992"/>
              </a:lnSpc>
            </a:pPr>
            <a:r>
              <a:rPr lang="en-US" sz="7137" b="1" dirty="0">
                <a:solidFill>
                  <a:srgbClr val="F4F6F9"/>
                </a:solidFill>
                <a:latin typeface="Cambria Bold"/>
                <a:ea typeface="Cambria Bold"/>
                <a:cs typeface="Cambria Bold"/>
                <a:sym typeface="Cambria Bold"/>
              </a:rPr>
              <a:t>ROLE</a:t>
            </a:r>
          </a:p>
        </p:txBody>
      </p:sp>
      <p:sp>
        <p:nvSpPr>
          <p:cNvPr id="26" name="TextBox 26"/>
          <p:cNvSpPr txBox="1"/>
          <p:nvPr/>
        </p:nvSpPr>
        <p:spPr>
          <a:xfrm>
            <a:off x="1028700" y="5964446"/>
            <a:ext cx="11054182" cy="732233"/>
          </a:xfrm>
          <a:prstGeom prst="rect">
            <a:avLst/>
          </a:prstGeom>
        </p:spPr>
        <p:txBody>
          <a:bodyPr lIns="0" tIns="0" rIns="0" bIns="0" rtlCol="0" anchor="t">
            <a:spAutoFit/>
          </a:bodyPr>
          <a:lstStyle/>
          <a:p>
            <a:pPr algn="l">
              <a:lnSpc>
                <a:spcPts val="2995"/>
              </a:lnSpc>
            </a:pPr>
            <a:r>
              <a:rPr lang="en-US" sz="2139">
                <a:solidFill>
                  <a:srgbClr val="FFFFFF"/>
                </a:solidFill>
                <a:latin typeface="Canva Sans"/>
                <a:ea typeface="Canva Sans"/>
                <a:cs typeface="Canva Sans"/>
                <a:sym typeface="Canva Sans"/>
              </a:rPr>
              <a:t>A structured briefing on my core duties across four key pillars:</a:t>
            </a:r>
          </a:p>
          <a:p>
            <a:pPr algn="l">
              <a:lnSpc>
                <a:spcPts val="2995"/>
              </a:lnSpc>
            </a:pPr>
            <a:r>
              <a:rPr lang="en-US" sz="2139">
                <a:solidFill>
                  <a:srgbClr val="FFFFFF"/>
                </a:solidFill>
                <a:latin typeface="Canva Sans"/>
                <a:ea typeface="Canva Sans"/>
                <a:cs typeface="Canva Sans"/>
                <a:sym typeface="Canva Sans"/>
              </a:rPr>
              <a:t>Cash Logistics, Vault Management, Compliance &amp; Security, and Team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8016" cy="10287000"/>
            <a:chOff x="0" y="0"/>
            <a:chExt cx="170688" cy="13716000"/>
          </a:xfrm>
        </p:grpSpPr>
        <p:sp>
          <p:nvSpPr>
            <p:cNvPr id="3" name="Freeform 3"/>
            <p:cNvSpPr/>
            <p:nvPr/>
          </p:nvSpPr>
          <p:spPr>
            <a:xfrm>
              <a:off x="0" y="0"/>
              <a:ext cx="170688" cy="13716000"/>
            </a:xfrm>
            <a:custGeom>
              <a:avLst/>
              <a:gdLst/>
              <a:ahLst/>
              <a:cxnLst/>
              <a:rect l="l" t="t" r="r" b="b"/>
              <a:pathLst>
                <a:path w="170688" h="13716000">
                  <a:moveTo>
                    <a:pt x="0" y="0"/>
                  </a:moveTo>
                  <a:lnTo>
                    <a:pt x="170688" y="0"/>
                  </a:lnTo>
                  <a:lnTo>
                    <a:pt x="170688" y="13716000"/>
                  </a:lnTo>
                  <a:lnTo>
                    <a:pt x="0" y="13716000"/>
                  </a:lnTo>
                  <a:close/>
                </a:path>
              </a:pathLst>
            </a:custGeom>
            <a:solidFill>
              <a:srgbClr val="C9A84C"/>
            </a:solidFill>
          </p:spPr>
        </p:sp>
      </p:grpSp>
      <p:grpSp>
        <p:nvGrpSpPr>
          <p:cNvPr id="4" name="Group 4"/>
          <p:cNvGrpSpPr/>
          <p:nvPr/>
        </p:nvGrpSpPr>
        <p:grpSpPr>
          <a:xfrm>
            <a:off x="1028700" y="946710"/>
            <a:ext cx="6025589" cy="1325499"/>
            <a:chOff x="0" y="0"/>
            <a:chExt cx="8034118" cy="1767333"/>
          </a:xfrm>
        </p:grpSpPr>
        <p:sp>
          <p:nvSpPr>
            <p:cNvPr id="5" name="Freeform 5"/>
            <p:cNvSpPr/>
            <p:nvPr/>
          </p:nvSpPr>
          <p:spPr>
            <a:xfrm>
              <a:off x="0" y="0"/>
              <a:ext cx="8034117" cy="1767332"/>
            </a:xfrm>
            <a:custGeom>
              <a:avLst/>
              <a:gdLst/>
              <a:ahLst/>
              <a:cxnLst/>
              <a:rect l="l" t="t" r="r" b="b"/>
              <a:pathLst>
                <a:path w="8034117" h="1767332">
                  <a:moveTo>
                    <a:pt x="0" y="0"/>
                  </a:moveTo>
                  <a:lnTo>
                    <a:pt x="8034117" y="0"/>
                  </a:lnTo>
                  <a:lnTo>
                    <a:pt x="8034117" y="1767332"/>
                  </a:lnTo>
                  <a:lnTo>
                    <a:pt x="0" y="1767332"/>
                  </a:lnTo>
                  <a:close/>
                </a:path>
              </a:pathLst>
            </a:custGeom>
            <a:blipFill>
              <a:blip r:embed="rId3">
                <a:alphaModFix amt="0"/>
              </a:blip>
              <a:stretch>
                <a:fillRect l="-4238" r="10780" b="-65564"/>
              </a:stretch>
            </a:blipFill>
          </p:spPr>
        </p:sp>
        <p:sp>
          <p:nvSpPr>
            <p:cNvPr id="6" name="TextBox 6"/>
            <p:cNvSpPr txBox="1"/>
            <p:nvPr/>
          </p:nvSpPr>
          <p:spPr>
            <a:xfrm>
              <a:off x="0" y="-142875"/>
              <a:ext cx="8034118" cy="1910208"/>
            </a:xfrm>
            <a:prstGeom prst="rect">
              <a:avLst/>
            </a:prstGeom>
          </p:spPr>
          <p:txBody>
            <a:bodyPr lIns="0" tIns="0" rIns="0" bIns="0" rtlCol="0" anchor="ctr"/>
            <a:lstStyle/>
            <a:p>
              <a:pPr algn="l">
                <a:lnSpc>
                  <a:spcPts val="7919"/>
                </a:lnSpc>
              </a:pPr>
              <a:r>
                <a:rPr lang="en-US" sz="6599" b="1" dirty="0">
                  <a:solidFill>
                    <a:srgbClr val="FFCE25"/>
                  </a:solidFill>
                  <a:latin typeface="Calibri (MS) Bold"/>
                  <a:ea typeface="Calibri (MS) Bold"/>
                  <a:cs typeface="Calibri (MS) Bold"/>
                  <a:sym typeface="Calibri (MS) Bold"/>
                </a:rPr>
                <a:t>ROLE </a:t>
              </a:r>
              <a:r>
                <a:rPr lang="en-US" sz="6599" b="1" spc="-150" dirty="0">
                  <a:solidFill>
                    <a:srgbClr val="FFCE25"/>
                  </a:solidFill>
                  <a:latin typeface="Calibri (MS) Bold"/>
                  <a:ea typeface="Calibri (MS) Bold"/>
                  <a:cs typeface="Calibri (MS) Bold"/>
                  <a:sym typeface="Calibri (MS) Bold"/>
                </a:rPr>
                <a:t>OVERVIEW</a:t>
              </a:r>
            </a:p>
          </p:txBody>
        </p:sp>
      </p:grpSp>
      <p:grpSp>
        <p:nvGrpSpPr>
          <p:cNvPr id="7" name="Group 7"/>
          <p:cNvGrpSpPr/>
          <p:nvPr/>
        </p:nvGrpSpPr>
        <p:grpSpPr>
          <a:xfrm>
            <a:off x="1058246" y="2146670"/>
            <a:ext cx="1828800" cy="73152"/>
            <a:chOff x="0" y="0"/>
            <a:chExt cx="2438400" cy="97536"/>
          </a:xfrm>
        </p:grpSpPr>
        <p:sp>
          <p:nvSpPr>
            <p:cNvPr id="8" name="Freeform 8"/>
            <p:cNvSpPr/>
            <p:nvPr/>
          </p:nvSpPr>
          <p:spPr>
            <a:xfrm>
              <a:off x="0" y="0"/>
              <a:ext cx="2438400" cy="97536"/>
            </a:xfrm>
            <a:custGeom>
              <a:avLst/>
              <a:gdLst/>
              <a:ahLst/>
              <a:cxnLst/>
              <a:rect l="l" t="t" r="r" b="b"/>
              <a:pathLst>
                <a:path w="2438400" h="97536">
                  <a:moveTo>
                    <a:pt x="0" y="0"/>
                  </a:moveTo>
                  <a:lnTo>
                    <a:pt x="2438400" y="0"/>
                  </a:lnTo>
                  <a:lnTo>
                    <a:pt x="2438400" y="97536"/>
                  </a:lnTo>
                  <a:lnTo>
                    <a:pt x="0" y="97536"/>
                  </a:lnTo>
                  <a:close/>
                </a:path>
              </a:pathLst>
            </a:custGeom>
            <a:solidFill>
              <a:srgbClr val="EEF1F7"/>
            </a:solidFill>
          </p:spPr>
        </p:sp>
      </p:grpSp>
      <p:grpSp>
        <p:nvGrpSpPr>
          <p:cNvPr id="9" name="Group 9"/>
          <p:cNvGrpSpPr/>
          <p:nvPr/>
        </p:nvGrpSpPr>
        <p:grpSpPr>
          <a:xfrm>
            <a:off x="1028700" y="2467974"/>
            <a:ext cx="4984590" cy="696421"/>
            <a:chOff x="0" y="0"/>
            <a:chExt cx="6646119" cy="928562"/>
          </a:xfrm>
        </p:grpSpPr>
        <p:sp>
          <p:nvSpPr>
            <p:cNvPr id="10" name="Freeform 10"/>
            <p:cNvSpPr/>
            <p:nvPr/>
          </p:nvSpPr>
          <p:spPr>
            <a:xfrm>
              <a:off x="0" y="0"/>
              <a:ext cx="6646119" cy="928562"/>
            </a:xfrm>
            <a:custGeom>
              <a:avLst/>
              <a:gdLst/>
              <a:ahLst/>
              <a:cxnLst/>
              <a:rect l="l" t="t" r="r" b="b"/>
              <a:pathLst>
                <a:path w="6646119" h="928562">
                  <a:moveTo>
                    <a:pt x="0" y="0"/>
                  </a:moveTo>
                  <a:lnTo>
                    <a:pt x="6646119" y="0"/>
                  </a:lnTo>
                  <a:lnTo>
                    <a:pt x="6646119" y="928562"/>
                  </a:lnTo>
                  <a:lnTo>
                    <a:pt x="0" y="928562"/>
                  </a:lnTo>
                  <a:close/>
                </a:path>
              </a:pathLst>
            </a:custGeom>
            <a:blipFill>
              <a:blip r:embed="rId3">
                <a:alphaModFix amt="0"/>
              </a:blip>
              <a:stretch>
                <a:fillRect t="-97314" r="-2729" b="-89224"/>
              </a:stretch>
            </a:blipFill>
          </p:spPr>
        </p:sp>
        <p:sp>
          <p:nvSpPr>
            <p:cNvPr id="11" name="TextBox 11"/>
            <p:cNvSpPr txBox="1"/>
            <p:nvPr/>
          </p:nvSpPr>
          <p:spPr>
            <a:xfrm>
              <a:off x="0" y="-66675"/>
              <a:ext cx="6646119" cy="995237"/>
            </a:xfrm>
            <a:prstGeom prst="rect">
              <a:avLst/>
            </a:prstGeom>
          </p:spPr>
          <p:txBody>
            <a:bodyPr lIns="0" tIns="0" rIns="0" bIns="0" rtlCol="0" anchor="ctr"/>
            <a:lstStyle/>
            <a:p>
              <a:pPr algn="l">
                <a:lnSpc>
                  <a:spcPts val="4199"/>
                </a:lnSpc>
              </a:pPr>
              <a:r>
                <a:rPr lang="en-US" sz="3499" b="1">
                  <a:solidFill>
                    <a:srgbClr val="FFFFFF"/>
                  </a:solidFill>
                  <a:latin typeface="Calibri (MS) Bold"/>
                  <a:ea typeface="Calibri (MS) Bold"/>
                  <a:cs typeface="Calibri (MS) Bold"/>
                  <a:sym typeface="Calibri (MS) Bold"/>
                </a:rPr>
                <a:t>CURRENCY CHIEF CASHIER</a:t>
              </a:r>
            </a:p>
          </p:txBody>
        </p:sp>
      </p:grpSp>
      <p:grpSp>
        <p:nvGrpSpPr>
          <p:cNvPr id="12" name="Group 12"/>
          <p:cNvGrpSpPr/>
          <p:nvPr/>
        </p:nvGrpSpPr>
        <p:grpSpPr>
          <a:xfrm>
            <a:off x="14361352" y="1041819"/>
            <a:ext cx="2897948" cy="548640"/>
            <a:chOff x="0" y="0"/>
            <a:chExt cx="3863931" cy="731520"/>
          </a:xfrm>
        </p:grpSpPr>
        <p:sp>
          <p:nvSpPr>
            <p:cNvPr id="13" name="Freeform 13"/>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14" name="TextBox 14"/>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F4F6F9"/>
                  </a:solidFill>
                  <a:latin typeface="Calibri (MS)"/>
                  <a:ea typeface="Calibri (MS)"/>
                  <a:cs typeface="Calibri (MS)"/>
                  <a:sym typeface="Calibri (MS)"/>
                </a:rPr>
                <a:t>GCB Bank PLC</a:t>
              </a:r>
            </a:p>
          </p:txBody>
        </p:sp>
      </p:grpSp>
      <p:grpSp>
        <p:nvGrpSpPr>
          <p:cNvPr id="15" name="Group 15"/>
          <p:cNvGrpSpPr/>
          <p:nvPr/>
        </p:nvGrpSpPr>
        <p:grpSpPr>
          <a:xfrm>
            <a:off x="1028700" y="3735896"/>
            <a:ext cx="16230600" cy="989648"/>
            <a:chOff x="0" y="0"/>
            <a:chExt cx="21640800" cy="1319530"/>
          </a:xfrm>
        </p:grpSpPr>
        <p:sp>
          <p:nvSpPr>
            <p:cNvPr id="16" name="Freeform 16"/>
            <p:cNvSpPr/>
            <p:nvPr/>
          </p:nvSpPr>
          <p:spPr>
            <a:xfrm>
              <a:off x="0" y="0"/>
              <a:ext cx="21640800" cy="1319530"/>
            </a:xfrm>
            <a:custGeom>
              <a:avLst/>
              <a:gdLst/>
              <a:ahLst/>
              <a:cxnLst/>
              <a:rect l="l" t="t" r="r" b="b"/>
              <a:pathLst>
                <a:path w="21640800" h="1319530">
                  <a:moveTo>
                    <a:pt x="0" y="0"/>
                  </a:moveTo>
                  <a:lnTo>
                    <a:pt x="21640800" y="0"/>
                  </a:lnTo>
                  <a:lnTo>
                    <a:pt x="21640800" y="1319530"/>
                  </a:lnTo>
                  <a:lnTo>
                    <a:pt x="0" y="1319530"/>
                  </a:lnTo>
                  <a:close/>
                </a:path>
              </a:pathLst>
            </a:custGeom>
            <a:solidFill>
              <a:srgbClr val="FFFFFF"/>
            </a:solidFill>
          </p:spPr>
        </p:sp>
      </p:grpSp>
      <p:grpSp>
        <p:nvGrpSpPr>
          <p:cNvPr id="17" name="Group 17"/>
          <p:cNvGrpSpPr/>
          <p:nvPr/>
        </p:nvGrpSpPr>
        <p:grpSpPr>
          <a:xfrm>
            <a:off x="2400300" y="3819239"/>
            <a:ext cx="822960" cy="822960"/>
            <a:chOff x="0" y="0"/>
            <a:chExt cx="1097280" cy="1097280"/>
          </a:xfrm>
        </p:grpSpPr>
        <p:sp>
          <p:nvSpPr>
            <p:cNvPr id="18" name="Freeform 18" descr="preencoded.png"/>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lnTo>
                    <a:pt x="0" y="0"/>
                  </a:lnTo>
                  <a:close/>
                </a:path>
              </a:pathLst>
            </a:custGeom>
            <a:blipFill>
              <a:blip r:embed="rId4"/>
              <a:stretch>
                <a:fillRect/>
              </a:stretch>
            </a:blipFill>
          </p:spPr>
        </p:sp>
      </p:grpSp>
      <p:grpSp>
        <p:nvGrpSpPr>
          <p:cNvPr id="19" name="Group 19"/>
          <p:cNvGrpSpPr/>
          <p:nvPr/>
        </p:nvGrpSpPr>
        <p:grpSpPr>
          <a:xfrm>
            <a:off x="3406140" y="3847478"/>
            <a:ext cx="3159926" cy="782815"/>
            <a:chOff x="0" y="0"/>
            <a:chExt cx="4213234" cy="1043754"/>
          </a:xfrm>
        </p:grpSpPr>
        <p:sp>
          <p:nvSpPr>
            <p:cNvPr id="20" name="Freeform 20"/>
            <p:cNvSpPr/>
            <p:nvPr/>
          </p:nvSpPr>
          <p:spPr>
            <a:xfrm>
              <a:off x="0" y="0"/>
              <a:ext cx="4213234" cy="1043754"/>
            </a:xfrm>
            <a:custGeom>
              <a:avLst/>
              <a:gdLst/>
              <a:ahLst/>
              <a:cxnLst/>
              <a:rect l="l" t="t" r="r" b="b"/>
              <a:pathLst>
                <a:path w="4213234" h="1043754">
                  <a:moveTo>
                    <a:pt x="0" y="0"/>
                  </a:moveTo>
                  <a:lnTo>
                    <a:pt x="4213234" y="0"/>
                  </a:lnTo>
                  <a:lnTo>
                    <a:pt x="4213234" y="1043754"/>
                  </a:lnTo>
                  <a:lnTo>
                    <a:pt x="0" y="1043754"/>
                  </a:lnTo>
                  <a:close/>
                </a:path>
              </a:pathLst>
            </a:custGeom>
            <a:blipFill>
              <a:blip r:embed="rId3">
                <a:alphaModFix amt="0"/>
              </a:blip>
              <a:stretch>
                <a:fillRect t="-185672" r="-183586" b="-160429"/>
              </a:stretch>
            </a:blipFill>
          </p:spPr>
        </p:sp>
        <p:sp>
          <p:nvSpPr>
            <p:cNvPr id="21" name="TextBox 21"/>
            <p:cNvSpPr txBox="1"/>
            <p:nvPr/>
          </p:nvSpPr>
          <p:spPr>
            <a:xfrm>
              <a:off x="0" y="-76200"/>
              <a:ext cx="4213234" cy="1119954"/>
            </a:xfrm>
            <a:prstGeom prst="rect">
              <a:avLst/>
            </a:prstGeom>
          </p:spPr>
          <p:txBody>
            <a:bodyPr lIns="0" tIns="0" rIns="0" bIns="0" rtlCol="0" anchor="ctr"/>
            <a:lstStyle/>
            <a:p>
              <a:pPr algn="l">
                <a:lnSpc>
                  <a:spcPts val="4439"/>
                </a:lnSpc>
              </a:pPr>
              <a:r>
                <a:rPr lang="en-US" sz="3699" b="1">
                  <a:solidFill>
                    <a:srgbClr val="0B1E3D"/>
                  </a:solidFill>
                  <a:latin typeface="Calibri (MS) Bold"/>
                  <a:ea typeface="Calibri (MS) Bold"/>
                  <a:cs typeface="Calibri (MS) Bold"/>
                  <a:sym typeface="Calibri (MS) Bold"/>
                </a:rPr>
                <a:t>Cash Logistics</a:t>
              </a:r>
            </a:p>
          </p:txBody>
        </p:sp>
      </p:grpSp>
      <p:grpSp>
        <p:nvGrpSpPr>
          <p:cNvPr id="22" name="Group 22"/>
          <p:cNvGrpSpPr/>
          <p:nvPr/>
        </p:nvGrpSpPr>
        <p:grpSpPr>
          <a:xfrm>
            <a:off x="1028700" y="4835684"/>
            <a:ext cx="16230600" cy="1030451"/>
            <a:chOff x="0" y="0"/>
            <a:chExt cx="21640800" cy="1373935"/>
          </a:xfrm>
        </p:grpSpPr>
        <p:sp>
          <p:nvSpPr>
            <p:cNvPr id="23" name="Freeform 23"/>
            <p:cNvSpPr/>
            <p:nvPr/>
          </p:nvSpPr>
          <p:spPr>
            <a:xfrm>
              <a:off x="0" y="0"/>
              <a:ext cx="21640800" cy="1373935"/>
            </a:xfrm>
            <a:custGeom>
              <a:avLst/>
              <a:gdLst/>
              <a:ahLst/>
              <a:cxnLst/>
              <a:rect l="l" t="t" r="r" b="b"/>
              <a:pathLst>
                <a:path w="21640800" h="1373935">
                  <a:moveTo>
                    <a:pt x="0" y="0"/>
                  </a:moveTo>
                  <a:lnTo>
                    <a:pt x="21640800" y="0"/>
                  </a:lnTo>
                  <a:lnTo>
                    <a:pt x="21640800" y="1373935"/>
                  </a:lnTo>
                  <a:lnTo>
                    <a:pt x="0" y="1373935"/>
                  </a:lnTo>
                  <a:close/>
                </a:path>
              </a:pathLst>
            </a:custGeom>
            <a:solidFill>
              <a:srgbClr val="FFFFFF"/>
            </a:solidFill>
          </p:spPr>
        </p:sp>
      </p:grpSp>
      <p:grpSp>
        <p:nvGrpSpPr>
          <p:cNvPr id="24" name="Group 24"/>
          <p:cNvGrpSpPr/>
          <p:nvPr/>
        </p:nvGrpSpPr>
        <p:grpSpPr>
          <a:xfrm>
            <a:off x="2400300" y="4951328"/>
            <a:ext cx="822960" cy="822960"/>
            <a:chOff x="0" y="0"/>
            <a:chExt cx="1097280" cy="1097280"/>
          </a:xfrm>
        </p:grpSpPr>
        <p:sp>
          <p:nvSpPr>
            <p:cNvPr id="25" name="Freeform 25" descr="preencoded.png"/>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lnTo>
                    <a:pt x="0" y="0"/>
                  </a:lnTo>
                  <a:close/>
                </a:path>
              </a:pathLst>
            </a:custGeom>
            <a:blipFill>
              <a:blip r:embed="rId5"/>
              <a:stretch>
                <a:fillRect/>
              </a:stretch>
            </a:blipFill>
          </p:spPr>
        </p:sp>
      </p:grpSp>
      <p:grpSp>
        <p:nvGrpSpPr>
          <p:cNvPr id="26" name="Group 26"/>
          <p:cNvGrpSpPr/>
          <p:nvPr/>
        </p:nvGrpSpPr>
        <p:grpSpPr>
          <a:xfrm>
            <a:off x="3406140" y="4999761"/>
            <a:ext cx="4146832" cy="744381"/>
            <a:chOff x="0" y="0"/>
            <a:chExt cx="5529109" cy="992508"/>
          </a:xfrm>
        </p:grpSpPr>
        <p:sp>
          <p:nvSpPr>
            <p:cNvPr id="27" name="Freeform 27"/>
            <p:cNvSpPr/>
            <p:nvPr/>
          </p:nvSpPr>
          <p:spPr>
            <a:xfrm>
              <a:off x="0" y="0"/>
              <a:ext cx="5529109" cy="992508"/>
            </a:xfrm>
            <a:custGeom>
              <a:avLst/>
              <a:gdLst/>
              <a:ahLst/>
              <a:cxnLst/>
              <a:rect l="l" t="t" r="r" b="b"/>
              <a:pathLst>
                <a:path w="5529109" h="992508">
                  <a:moveTo>
                    <a:pt x="0" y="0"/>
                  </a:moveTo>
                  <a:lnTo>
                    <a:pt x="5529109" y="0"/>
                  </a:lnTo>
                  <a:lnTo>
                    <a:pt x="5529109" y="992508"/>
                  </a:lnTo>
                  <a:lnTo>
                    <a:pt x="0" y="992508"/>
                  </a:lnTo>
                  <a:close/>
                </a:path>
              </a:pathLst>
            </a:custGeom>
            <a:blipFill>
              <a:blip r:embed="rId3">
                <a:alphaModFix amt="0"/>
              </a:blip>
              <a:stretch>
                <a:fillRect t="-195258" r="-116095" b="-173876"/>
              </a:stretch>
            </a:blipFill>
          </p:spPr>
        </p:sp>
        <p:sp>
          <p:nvSpPr>
            <p:cNvPr id="28" name="TextBox 28"/>
            <p:cNvSpPr txBox="1"/>
            <p:nvPr/>
          </p:nvSpPr>
          <p:spPr>
            <a:xfrm>
              <a:off x="0" y="-76200"/>
              <a:ext cx="5529109" cy="1068708"/>
            </a:xfrm>
            <a:prstGeom prst="rect">
              <a:avLst/>
            </a:prstGeom>
          </p:spPr>
          <p:txBody>
            <a:bodyPr lIns="0" tIns="0" rIns="0" bIns="0" rtlCol="0" anchor="ctr"/>
            <a:lstStyle/>
            <a:p>
              <a:pPr algn="l">
                <a:lnSpc>
                  <a:spcPts val="4439"/>
                </a:lnSpc>
              </a:pPr>
              <a:r>
                <a:rPr lang="en-US" sz="3699" b="1" dirty="0">
                  <a:solidFill>
                    <a:srgbClr val="0B1E3D"/>
                  </a:solidFill>
                  <a:latin typeface="Calibri (MS) Bold"/>
                  <a:ea typeface="Calibri (MS) Bold"/>
                  <a:cs typeface="Calibri (MS) Bold"/>
                  <a:sym typeface="Calibri (MS) Bold"/>
                </a:rPr>
                <a:t>Vault Management</a:t>
              </a:r>
            </a:p>
          </p:txBody>
        </p:sp>
      </p:grpSp>
      <p:grpSp>
        <p:nvGrpSpPr>
          <p:cNvPr id="29" name="Group 29"/>
          <p:cNvGrpSpPr/>
          <p:nvPr/>
        </p:nvGrpSpPr>
        <p:grpSpPr>
          <a:xfrm>
            <a:off x="1028700" y="5980435"/>
            <a:ext cx="16230600" cy="1036944"/>
            <a:chOff x="0" y="0"/>
            <a:chExt cx="21640800" cy="1382592"/>
          </a:xfrm>
        </p:grpSpPr>
        <p:sp>
          <p:nvSpPr>
            <p:cNvPr id="30" name="Freeform 30"/>
            <p:cNvSpPr/>
            <p:nvPr/>
          </p:nvSpPr>
          <p:spPr>
            <a:xfrm>
              <a:off x="0" y="0"/>
              <a:ext cx="21640800" cy="1382592"/>
            </a:xfrm>
            <a:custGeom>
              <a:avLst/>
              <a:gdLst/>
              <a:ahLst/>
              <a:cxnLst/>
              <a:rect l="l" t="t" r="r" b="b"/>
              <a:pathLst>
                <a:path w="21640800" h="1382592">
                  <a:moveTo>
                    <a:pt x="0" y="0"/>
                  </a:moveTo>
                  <a:lnTo>
                    <a:pt x="21640800" y="0"/>
                  </a:lnTo>
                  <a:lnTo>
                    <a:pt x="21640800" y="1382592"/>
                  </a:lnTo>
                  <a:lnTo>
                    <a:pt x="0" y="1382592"/>
                  </a:lnTo>
                  <a:close/>
                </a:path>
              </a:pathLst>
            </a:custGeom>
            <a:solidFill>
              <a:srgbClr val="FFFFFF"/>
            </a:solidFill>
          </p:spPr>
        </p:sp>
      </p:grpSp>
      <p:grpSp>
        <p:nvGrpSpPr>
          <p:cNvPr id="31" name="Group 31"/>
          <p:cNvGrpSpPr/>
          <p:nvPr/>
        </p:nvGrpSpPr>
        <p:grpSpPr>
          <a:xfrm>
            <a:off x="3406140" y="6161192"/>
            <a:ext cx="3925254" cy="744382"/>
            <a:chOff x="0" y="0"/>
            <a:chExt cx="5233672" cy="992510"/>
          </a:xfrm>
        </p:grpSpPr>
        <p:sp>
          <p:nvSpPr>
            <p:cNvPr id="32" name="Freeform 32"/>
            <p:cNvSpPr/>
            <p:nvPr/>
          </p:nvSpPr>
          <p:spPr>
            <a:xfrm>
              <a:off x="0" y="0"/>
              <a:ext cx="5233672" cy="992510"/>
            </a:xfrm>
            <a:custGeom>
              <a:avLst/>
              <a:gdLst/>
              <a:ahLst/>
              <a:cxnLst/>
              <a:rect l="l" t="t" r="r" b="b"/>
              <a:pathLst>
                <a:path w="5233672" h="992510">
                  <a:moveTo>
                    <a:pt x="0" y="0"/>
                  </a:moveTo>
                  <a:lnTo>
                    <a:pt x="5233672" y="0"/>
                  </a:lnTo>
                  <a:lnTo>
                    <a:pt x="5233672" y="992510"/>
                  </a:lnTo>
                  <a:lnTo>
                    <a:pt x="0" y="992510"/>
                  </a:lnTo>
                  <a:close/>
                </a:path>
              </a:pathLst>
            </a:custGeom>
            <a:blipFill>
              <a:blip r:embed="rId3">
                <a:alphaModFix amt="0"/>
              </a:blip>
              <a:stretch>
                <a:fillRect t="-195258" r="-128294" b="-173876"/>
              </a:stretch>
            </a:blipFill>
          </p:spPr>
        </p:sp>
        <p:sp>
          <p:nvSpPr>
            <p:cNvPr id="33" name="TextBox 33"/>
            <p:cNvSpPr txBox="1"/>
            <p:nvPr/>
          </p:nvSpPr>
          <p:spPr>
            <a:xfrm>
              <a:off x="0" y="-76200"/>
              <a:ext cx="5233672" cy="1068710"/>
            </a:xfrm>
            <a:prstGeom prst="rect">
              <a:avLst/>
            </a:prstGeom>
          </p:spPr>
          <p:txBody>
            <a:bodyPr lIns="0" tIns="0" rIns="0" bIns="0" rtlCol="0" anchor="ctr"/>
            <a:lstStyle/>
            <a:p>
              <a:pPr algn="l">
                <a:lnSpc>
                  <a:spcPts val="4439"/>
                </a:lnSpc>
              </a:pPr>
              <a:r>
                <a:rPr lang="en-US" sz="3699" b="1">
                  <a:solidFill>
                    <a:srgbClr val="0B1E3D"/>
                  </a:solidFill>
                  <a:latin typeface="Calibri (MS) Bold"/>
                  <a:ea typeface="Calibri (MS) Bold"/>
                  <a:cs typeface="Calibri (MS) Bold"/>
                  <a:sym typeface="Calibri (MS) Bold"/>
                </a:rPr>
                <a:t>Records Keeping</a:t>
              </a:r>
            </a:p>
          </p:txBody>
        </p:sp>
      </p:grpSp>
      <p:grpSp>
        <p:nvGrpSpPr>
          <p:cNvPr id="34" name="Group 34"/>
          <p:cNvGrpSpPr/>
          <p:nvPr/>
        </p:nvGrpSpPr>
        <p:grpSpPr>
          <a:xfrm>
            <a:off x="1028700" y="8264774"/>
            <a:ext cx="16230600" cy="1018794"/>
            <a:chOff x="0" y="0"/>
            <a:chExt cx="21640800" cy="1358392"/>
          </a:xfrm>
        </p:grpSpPr>
        <p:sp>
          <p:nvSpPr>
            <p:cNvPr id="35" name="Freeform 35"/>
            <p:cNvSpPr/>
            <p:nvPr/>
          </p:nvSpPr>
          <p:spPr>
            <a:xfrm>
              <a:off x="0" y="0"/>
              <a:ext cx="21640800" cy="1358392"/>
            </a:xfrm>
            <a:custGeom>
              <a:avLst/>
              <a:gdLst/>
              <a:ahLst/>
              <a:cxnLst/>
              <a:rect l="l" t="t" r="r" b="b"/>
              <a:pathLst>
                <a:path w="21640800" h="1358392">
                  <a:moveTo>
                    <a:pt x="0" y="0"/>
                  </a:moveTo>
                  <a:lnTo>
                    <a:pt x="21640800" y="0"/>
                  </a:lnTo>
                  <a:lnTo>
                    <a:pt x="21640800" y="1358392"/>
                  </a:lnTo>
                  <a:lnTo>
                    <a:pt x="0" y="1358392"/>
                  </a:lnTo>
                  <a:close/>
                </a:path>
              </a:pathLst>
            </a:custGeom>
            <a:solidFill>
              <a:srgbClr val="FFFFFF"/>
            </a:solidFill>
          </p:spPr>
        </p:sp>
      </p:grpSp>
      <p:grpSp>
        <p:nvGrpSpPr>
          <p:cNvPr id="36" name="Group 36"/>
          <p:cNvGrpSpPr/>
          <p:nvPr/>
        </p:nvGrpSpPr>
        <p:grpSpPr>
          <a:xfrm>
            <a:off x="2400300" y="8421319"/>
            <a:ext cx="822960" cy="822960"/>
            <a:chOff x="0" y="0"/>
            <a:chExt cx="1097280" cy="1097280"/>
          </a:xfrm>
        </p:grpSpPr>
        <p:sp>
          <p:nvSpPr>
            <p:cNvPr id="37" name="Freeform 37" descr="preencoded.png"/>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lnTo>
                    <a:pt x="0" y="0"/>
                  </a:lnTo>
                  <a:close/>
                </a:path>
              </a:pathLst>
            </a:custGeom>
            <a:blipFill>
              <a:blip r:embed="rId6"/>
              <a:stretch>
                <a:fillRect/>
              </a:stretch>
            </a:blipFill>
          </p:spPr>
        </p:sp>
      </p:grpSp>
      <p:grpSp>
        <p:nvGrpSpPr>
          <p:cNvPr id="38" name="Group 38"/>
          <p:cNvGrpSpPr/>
          <p:nvPr/>
        </p:nvGrpSpPr>
        <p:grpSpPr>
          <a:xfrm>
            <a:off x="3512910" y="8451083"/>
            <a:ext cx="4040062" cy="744382"/>
            <a:chOff x="0" y="0"/>
            <a:chExt cx="5386749" cy="992510"/>
          </a:xfrm>
        </p:grpSpPr>
        <p:sp>
          <p:nvSpPr>
            <p:cNvPr id="39" name="Freeform 39"/>
            <p:cNvSpPr/>
            <p:nvPr/>
          </p:nvSpPr>
          <p:spPr>
            <a:xfrm>
              <a:off x="0" y="0"/>
              <a:ext cx="5386749" cy="992510"/>
            </a:xfrm>
            <a:custGeom>
              <a:avLst/>
              <a:gdLst/>
              <a:ahLst/>
              <a:cxnLst/>
              <a:rect l="l" t="t" r="r" b="b"/>
              <a:pathLst>
                <a:path w="5386749" h="992510">
                  <a:moveTo>
                    <a:pt x="0" y="0"/>
                  </a:moveTo>
                  <a:lnTo>
                    <a:pt x="5386749" y="0"/>
                  </a:lnTo>
                  <a:lnTo>
                    <a:pt x="5386749" y="992510"/>
                  </a:lnTo>
                  <a:lnTo>
                    <a:pt x="0" y="992510"/>
                  </a:lnTo>
                  <a:close/>
                </a:path>
              </a:pathLst>
            </a:custGeom>
            <a:blipFill>
              <a:blip r:embed="rId3">
                <a:alphaModFix amt="0"/>
              </a:blip>
              <a:stretch>
                <a:fillRect t="-195258" r="-121806" b="-173876"/>
              </a:stretch>
            </a:blipFill>
          </p:spPr>
        </p:sp>
        <p:sp>
          <p:nvSpPr>
            <p:cNvPr id="40" name="TextBox 40"/>
            <p:cNvSpPr txBox="1"/>
            <p:nvPr/>
          </p:nvSpPr>
          <p:spPr>
            <a:xfrm>
              <a:off x="0" y="-76200"/>
              <a:ext cx="5386749" cy="1068710"/>
            </a:xfrm>
            <a:prstGeom prst="rect">
              <a:avLst/>
            </a:prstGeom>
          </p:spPr>
          <p:txBody>
            <a:bodyPr lIns="0" tIns="0" rIns="0" bIns="0" rtlCol="0" anchor="ctr"/>
            <a:lstStyle/>
            <a:p>
              <a:pPr algn="l">
                <a:lnSpc>
                  <a:spcPts val="4439"/>
                </a:lnSpc>
              </a:pPr>
              <a:r>
                <a:rPr lang="en-US" sz="3699" b="1">
                  <a:solidFill>
                    <a:srgbClr val="0B1E3D"/>
                  </a:solidFill>
                  <a:latin typeface="Calibri (MS) Bold"/>
                  <a:ea typeface="Calibri (MS) Bold"/>
                  <a:cs typeface="Calibri (MS) Bold"/>
                  <a:sym typeface="Calibri (MS) Bold"/>
                </a:rPr>
                <a:t>Team Leadership</a:t>
              </a:r>
            </a:p>
          </p:txBody>
        </p:sp>
      </p:grpSp>
      <p:sp>
        <p:nvSpPr>
          <p:cNvPr id="41" name="Freeform 41"/>
          <p:cNvSpPr/>
          <p:nvPr/>
        </p:nvSpPr>
        <p:spPr>
          <a:xfrm>
            <a:off x="13552970" y="1028700"/>
            <a:ext cx="688193" cy="561759"/>
          </a:xfrm>
          <a:custGeom>
            <a:avLst/>
            <a:gdLst/>
            <a:ahLst/>
            <a:cxnLst/>
            <a:rect l="l" t="t" r="r" b="b"/>
            <a:pathLst>
              <a:path w="688193" h="561759">
                <a:moveTo>
                  <a:pt x="0" y="0"/>
                </a:moveTo>
                <a:lnTo>
                  <a:pt x="688193" y="0"/>
                </a:lnTo>
                <a:lnTo>
                  <a:pt x="688193" y="561759"/>
                </a:lnTo>
                <a:lnTo>
                  <a:pt x="0" y="561759"/>
                </a:lnTo>
                <a:lnTo>
                  <a:pt x="0" y="0"/>
                </a:lnTo>
                <a:close/>
              </a:path>
            </a:pathLst>
          </a:custGeom>
          <a:blipFill>
            <a:blip r:embed="rId7"/>
            <a:stretch>
              <a:fillRect l="-2654" t="-7161" r="-2654"/>
            </a:stretch>
          </a:blipFill>
        </p:spPr>
      </p:sp>
      <p:sp>
        <p:nvSpPr>
          <p:cNvPr id="42" name="Freeform 42"/>
          <p:cNvSpPr/>
          <p:nvPr/>
        </p:nvSpPr>
        <p:spPr>
          <a:xfrm>
            <a:off x="2466732" y="6113785"/>
            <a:ext cx="690096" cy="757307"/>
          </a:xfrm>
          <a:custGeom>
            <a:avLst/>
            <a:gdLst/>
            <a:ahLst/>
            <a:cxnLst/>
            <a:rect l="l" t="t" r="r" b="b"/>
            <a:pathLst>
              <a:path w="690096" h="757307">
                <a:moveTo>
                  <a:pt x="0" y="0"/>
                </a:moveTo>
                <a:lnTo>
                  <a:pt x="690096" y="0"/>
                </a:lnTo>
                <a:lnTo>
                  <a:pt x="690096" y="757308"/>
                </a:lnTo>
                <a:lnTo>
                  <a:pt x="0" y="757308"/>
                </a:lnTo>
                <a:lnTo>
                  <a:pt x="0" y="0"/>
                </a:lnTo>
                <a:close/>
              </a:path>
            </a:pathLst>
          </a:custGeom>
          <a:blipFill>
            <a:blip>
              <a:extLst>
                <a:ext uri="{96DAC541-7B7A-43D3-8B79-37D633B846F1}">
                  <asvg:svgBlip xmlns:asvg="http://schemas.microsoft.com/office/drawing/2016/SVG/main" r:embed="rId8"/>
                </a:ext>
              </a:extLst>
            </a:blip>
            <a:stretch>
              <a:fillRect/>
            </a:stretch>
          </a:blipFill>
        </p:spPr>
      </p:sp>
      <p:grpSp>
        <p:nvGrpSpPr>
          <p:cNvPr id="43" name="Group 43"/>
          <p:cNvGrpSpPr/>
          <p:nvPr/>
        </p:nvGrpSpPr>
        <p:grpSpPr>
          <a:xfrm>
            <a:off x="1028700" y="7131680"/>
            <a:ext cx="16230600" cy="1018794"/>
            <a:chOff x="0" y="0"/>
            <a:chExt cx="21640800" cy="1358392"/>
          </a:xfrm>
        </p:grpSpPr>
        <p:sp>
          <p:nvSpPr>
            <p:cNvPr id="44" name="Freeform 44"/>
            <p:cNvSpPr/>
            <p:nvPr/>
          </p:nvSpPr>
          <p:spPr>
            <a:xfrm>
              <a:off x="0" y="0"/>
              <a:ext cx="21640800" cy="1358392"/>
            </a:xfrm>
            <a:custGeom>
              <a:avLst/>
              <a:gdLst/>
              <a:ahLst/>
              <a:cxnLst/>
              <a:rect l="l" t="t" r="r" b="b"/>
              <a:pathLst>
                <a:path w="21640800" h="1358392">
                  <a:moveTo>
                    <a:pt x="0" y="0"/>
                  </a:moveTo>
                  <a:lnTo>
                    <a:pt x="21640800" y="0"/>
                  </a:lnTo>
                  <a:lnTo>
                    <a:pt x="21640800" y="1358392"/>
                  </a:lnTo>
                  <a:lnTo>
                    <a:pt x="0" y="1358392"/>
                  </a:lnTo>
                  <a:close/>
                </a:path>
              </a:pathLst>
            </a:custGeom>
            <a:solidFill>
              <a:srgbClr val="FFFFFF"/>
            </a:solidFill>
          </p:spPr>
        </p:sp>
      </p:grpSp>
      <p:grpSp>
        <p:nvGrpSpPr>
          <p:cNvPr id="45" name="Group 45"/>
          <p:cNvGrpSpPr/>
          <p:nvPr/>
        </p:nvGrpSpPr>
        <p:grpSpPr>
          <a:xfrm>
            <a:off x="3512910" y="7327514"/>
            <a:ext cx="3818483" cy="744382"/>
            <a:chOff x="0" y="0"/>
            <a:chExt cx="5091311" cy="992510"/>
          </a:xfrm>
        </p:grpSpPr>
        <p:sp>
          <p:nvSpPr>
            <p:cNvPr id="46" name="Freeform 46"/>
            <p:cNvSpPr/>
            <p:nvPr/>
          </p:nvSpPr>
          <p:spPr>
            <a:xfrm>
              <a:off x="0" y="0"/>
              <a:ext cx="5091311" cy="992510"/>
            </a:xfrm>
            <a:custGeom>
              <a:avLst/>
              <a:gdLst/>
              <a:ahLst/>
              <a:cxnLst/>
              <a:rect l="l" t="t" r="r" b="b"/>
              <a:pathLst>
                <a:path w="5091311" h="992510">
                  <a:moveTo>
                    <a:pt x="0" y="0"/>
                  </a:moveTo>
                  <a:lnTo>
                    <a:pt x="5091311" y="0"/>
                  </a:lnTo>
                  <a:lnTo>
                    <a:pt x="5091311" y="992510"/>
                  </a:lnTo>
                  <a:lnTo>
                    <a:pt x="0" y="992510"/>
                  </a:lnTo>
                  <a:close/>
                </a:path>
              </a:pathLst>
            </a:custGeom>
            <a:blipFill>
              <a:blip r:embed="rId3">
                <a:alphaModFix amt="0"/>
              </a:blip>
              <a:stretch>
                <a:fillRect t="-195258" r="-134677" b="-173876"/>
              </a:stretch>
            </a:blipFill>
          </p:spPr>
        </p:sp>
        <p:sp>
          <p:nvSpPr>
            <p:cNvPr id="47" name="TextBox 47"/>
            <p:cNvSpPr txBox="1"/>
            <p:nvPr/>
          </p:nvSpPr>
          <p:spPr>
            <a:xfrm>
              <a:off x="0" y="-76200"/>
              <a:ext cx="5091311" cy="1068710"/>
            </a:xfrm>
            <a:prstGeom prst="rect">
              <a:avLst/>
            </a:prstGeom>
          </p:spPr>
          <p:txBody>
            <a:bodyPr lIns="0" tIns="0" rIns="0" bIns="0" rtlCol="0" anchor="ctr"/>
            <a:lstStyle/>
            <a:p>
              <a:pPr algn="l">
                <a:lnSpc>
                  <a:spcPts val="4439"/>
                </a:lnSpc>
              </a:pPr>
              <a:r>
                <a:rPr lang="en-US" sz="3699" b="1">
                  <a:solidFill>
                    <a:srgbClr val="0B1E3D"/>
                  </a:solidFill>
                  <a:latin typeface="Calibri (MS) Bold"/>
                  <a:ea typeface="Calibri (MS) Bold"/>
                  <a:cs typeface="Calibri (MS) Bold"/>
                  <a:sym typeface="Calibri (MS) Bold"/>
                </a:rPr>
                <a:t>CIT Management</a:t>
              </a:r>
            </a:p>
          </p:txBody>
        </p:sp>
      </p:grpSp>
      <p:sp>
        <p:nvSpPr>
          <p:cNvPr id="48" name="Freeform 48"/>
          <p:cNvSpPr/>
          <p:nvPr/>
        </p:nvSpPr>
        <p:spPr>
          <a:xfrm>
            <a:off x="2411730" y="7265030"/>
            <a:ext cx="800100" cy="800100"/>
          </a:xfrm>
          <a:custGeom>
            <a:avLst/>
            <a:gdLst/>
            <a:ahLst/>
            <a:cxnLst/>
            <a:rect l="l" t="t" r="r" b="b"/>
            <a:pathLst>
              <a:path w="800100" h="800100">
                <a:moveTo>
                  <a:pt x="0" y="0"/>
                </a:moveTo>
                <a:lnTo>
                  <a:pt x="800100" y="0"/>
                </a:lnTo>
                <a:lnTo>
                  <a:pt x="800100" y="800100"/>
                </a:lnTo>
                <a:lnTo>
                  <a:pt x="0" y="80010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49" name="Group 49"/>
          <p:cNvGrpSpPr/>
          <p:nvPr/>
        </p:nvGrpSpPr>
        <p:grpSpPr>
          <a:xfrm>
            <a:off x="1028700" y="3735896"/>
            <a:ext cx="924896" cy="989648"/>
            <a:chOff x="0" y="0"/>
            <a:chExt cx="243594" cy="260648"/>
          </a:xfrm>
        </p:grpSpPr>
        <p:sp>
          <p:nvSpPr>
            <p:cNvPr id="50" name="Freeform 50"/>
            <p:cNvSpPr/>
            <p:nvPr/>
          </p:nvSpPr>
          <p:spPr>
            <a:xfrm>
              <a:off x="0" y="0"/>
              <a:ext cx="243594" cy="260648"/>
            </a:xfrm>
            <a:custGeom>
              <a:avLst/>
              <a:gdLst/>
              <a:ahLst/>
              <a:cxnLst/>
              <a:rect l="l" t="t" r="r" b="b"/>
              <a:pathLst>
                <a:path w="243594" h="260648">
                  <a:moveTo>
                    <a:pt x="0" y="0"/>
                  </a:moveTo>
                  <a:lnTo>
                    <a:pt x="243594" y="0"/>
                  </a:lnTo>
                  <a:lnTo>
                    <a:pt x="243594" y="260648"/>
                  </a:lnTo>
                  <a:lnTo>
                    <a:pt x="0" y="260648"/>
                  </a:lnTo>
                  <a:close/>
                </a:path>
              </a:pathLst>
            </a:custGeom>
            <a:solidFill>
              <a:srgbClr val="0B1E3D"/>
            </a:solidFill>
          </p:spPr>
        </p:sp>
        <p:sp>
          <p:nvSpPr>
            <p:cNvPr id="51" name="TextBox 51"/>
            <p:cNvSpPr txBox="1"/>
            <p:nvPr/>
          </p:nvSpPr>
          <p:spPr>
            <a:xfrm>
              <a:off x="0" y="-38100"/>
              <a:ext cx="243594" cy="298748"/>
            </a:xfrm>
            <a:prstGeom prst="rect">
              <a:avLst/>
            </a:prstGeom>
          </p:spPr>
          <p:txBody>
            <a:bodyPr lIns="50800" tIns="50800" rIns="50800" bIns="50800" rtlCol="0" anchor="ctr"/>
            <a:lstStyle/>
            <a:p>
              <a:pPr algn="ctr">
                <a:lnSpc>
                  <a:spcPts val="2279"/>
                </a:lnSpc>
              </a:pPr>
              <a:endParaRPr/>
            </a:p>
          </p:txBody>
        </p:sp>
      </p:grpSp>
      <p:grpSp>
        <p:nvGrpSpPr>
          <p:cNvPr id="52" name="Group 52"/>
          <p:cNvGrpSpPr/>
          <p:nvPr/>
        </p:nvGrpSpPr>
        <p:grpSpPr>
          <a:xfrm>
            <a:off x="1028700" y="4826808"/>
            <a:ext cx="924896" cy="1039327"/>
            <a:chOff x="0" y="0"/>
            <a:chExt cx="243594" cy="273732"/>
          </a:xfrm>
        </p:grpSpPr>
        <p:sp>
          <p:nvSpPr>
            <p:cNvPr id="53" name="Freeform 53"/>
            <p:cNvSpPr/>
            <p:nvPr/>
          </p:nvSpPr>
          <p:spPr>
            <a:xfrm>
              <a:off x="0" y="0"/>
              <a:ext cx="243594" cy="273732"/>
            </a:xfrm>
            <a:custGeom>
              <a:avLst/>
              <a:gdLst/>
              <a:ahLst/>
              <a:cxnLst/>
              <a:rect l="l" t="t" r="r" b="b"/>
              <a:pathLst>
                <a:path w="243594" h="273732">
                  <a:moveTo>
                    <a:pt x="0" y="0"/>
                  </a:moveTo>
                  <a:lnTo>
                    <a:pt x="243594" y="0"/>
                  </a:lnTo>
                  <a:lnTo>
                    <a:pt x="243594" y="273732"/>
                  </a:lnTo>
                  <a:lnTo>
                    <a:pt x="0" y="273732"/>
                  </a:lnTo>
                  <a:close/>
                </a:path>
              </a:pathLst>
            </a:custGeom>
            <a:solidFill>
              <a:srgbClr val="122D5B"/>
            </a:solidFill>
          </p:spPr>
        </p:sp>
        <p:sp>
          <p:nvSpPr>
            <p:cNvPr id="54" name="TextBox 54"/>
            <p:cNvSpPr txBox="1"/>
            <p:nvPr/>
          </p:nvSpPr>
          <p:spPr>
            <a:xfrm>
              <a:off x="0" y="-38100"/>
              <a:ext cx="243594" cy="311832"/>
            </a:xfrm>
            <a:prstGeom prst="rect">
              <a:avLst/>
            </a:prstGeom>
          </p:spPr>
          <p:txBody>
            <a:bodyPr lIns="50800" tIns="50800" rIns="50800" bIns="50800" rtlCol="0" anchor="ctr"/>
            <a:lstStyle/>
            <a:p>
              <a:pPr algn="ctr">
                <a:lnSpc>
                  <a:spcPts val="2279"/>
                </a:lnSpc>
              </a:pPr>
              <a:endParaRPr/>
            </a:p>
          </p:txBody>
        </p:sp>
      </p:grpSp>
      <p:grpSp>
        <p:nvGrpSpPr>
          <p:cNvPr id="55" name="Group 55"/>
          <p:cNvGrpSpPr/>
          <p:nvPr/>
        </p:nvGrpSpPr>
        <p:grpSpPr>
          <a:xfrm>
            <a:off x="1028700" y="5980435"/>
            <a:ext cx="924896" cy="1036944"/>
            <a:chOff x="0" y="0"/>
            <a:chExt cx="243594" cy="273105"/>
          </a:xfrm>
        </p:grpSpPr>
        <p:sp>
          <p:nvSpPr>
            <p:cNvPr id="56" name="Freeform 56"/>
            <p:cNvSpPr/>
            <p:nvPr/>
          </p:nvSpPr>
          <p:spPr>
            <a:xfrm>
              <a:off x="0" y="0"/>
              <a:ext cx="243594" cy="273105"/>
            </a:xfrm>
            <a:custGeom>
              <a:avLst/>
              <a:gdLst/>
              <a:ahLst/>
              <a:cxnLst/>
              <a:rect l="l" t="t" r="r" b="b"/>
              <a:pathLst>
                <a:path w="243594" h="273105">
                  <a:moveTo>
                    <a:pt x="0" y="0"/>
                  </a:moveTo>
                  <a:lnTo>
                    <a:pt x="243594" y="0"/>
                  </a:lnTo>
                  <a:lnTo>
                    <a:pt x="243594" y="273105"/>
                  </a:lnTo>
                  <a:lnTo>
                    <a:pt x="0" y="273105"/>
                  </a:lnTo>
                  <a:close/>
                </a:path>
              </a:pathLst>
            </a:custGeom>
            <a:solidFill>
              <a:srgbClr val="0B1E3D"/>
            </a:solidFill>
          </p:spPr>
        </p:sp>
        <p:sp>
          <p:nvSpPr>
            <p:cNvPr id="57" name="TextBox 57"/>
            <p:cNvSpPr txBox="1"/>
            <p:nvPr/>
          </p:nvSpPr>
          <p:spPr>
            <a:xfrm>
              <a:off x="0" y="-38100"/>
              <a:ext cx="243594" cy="311205"/>
            </a:xfrm>
            <a:prstGeom prst="rect">
              <a:avLst/>
            </a:prstGeom>
          </p:spPr>
          <p:txBody>
            <a:bodyPr lIns="50800" tIns="50800" rIns="50800" bIns="50800" rtlCol="0" anchor="ctr"/>
            <a:lstStyle/>
            <a:p>
              <a:pPr algn="ctr">
                <a:lnSpc>
                  <a:spcPts val="2279"/>
                </a:lnSpc>
              </a:pPr>
              <a:endParaRPr/>
            </a:p>
          </p:txBody>
        </p:sp>
      </p:grpSp>
      <p:grpSp>
        <p:nvGrpSpPr>
          <p:cNvPr id="58" name="Group 58"/>
          <p:cNvGrpSpPr/>
          <p:nvPr/>
        </p:nvGrpSpPr>
        <p:grpSpPr>
          <a:xfrm>
            <a:off x="1028700" y="7131680"/>
            <a:ext cx="924896" cy="1018794"/>
            <a:chOff x="0" y="0"/>
            <a:chExt cx="243594" cy="268324"/>
          </a:xfrm>
        </p:grpSpPr>
        <p:sp>
          <p:nvSpPr>
            <p:cNvPr id="59" name="Freeform 59"/>
            <p:cNvSpPr/>
            <p:nvPr/>
          </p:nvSpPr>
          <p:spPr>
            <a:xfrm>
              <a:off x="0" y="0"/>
              <a:ext cx="243594" cy="268324"/>
            </a:xfrm>
            <a:custGeom>
              <a:avLst/>
              <a:gdLst/>
              <a:ahLst/>
              <a:cxnLst/>
              <a:rect l="l" t="t" r="r" b="b"/>
              <a:pathLst>
                <a:path w="243594" h="268324">
                  <a:moveTo>
                    <a:pt x="0" y="0"/>
                  </a:moveTo>
                  <a:lnTo>
                    <a:pt x="243594" y="0"/>
                  </a:lnTo>
                  <a:lnTo>
                    <a:pt x="243594" y="268324"/>
                  </a:lnTo>
                  <a:lnTo>
                    <a:pt x="0" y="268324"/>
                  </a:lnTo>
                  <a:close/>
                </a:path>
              </a:pathLst>
            </a:custGeom>
            <a:solidFill>
              <a:srgbClr val="122D5B"/>
            </a:solidFill>
          </p:spPr>
        </p:sp>
        <p:sp>
          <p:nvSpPr>
            <p:cNvPr id="60" name="TextBox 60"/>
            <p:cNvSpPr txBox="1"/>
            <p:nvPr/>
          </p:nvSpPr>
          <p:spPr>
            <a:xfrm>
              <a:off x="0" y="-38100"/>
              <a:ext cx="243594" cy="306424"/>
            </a:xfrm>
            <a:prstGeom prst="rect">
              <a:avLst/>
            </a:prstGeom>
          </p:spPr>
          <p:txBody>
            <a:bodyPr lIns="50800" tIns="50800" rIns="50800" bIns="50800" rtlCol="0" anchor="ctr"/>
            <a:lstStyle/>
            <a:p>
              <a:pPr algn="ctr">
                <a:lnSpc>
                  <a:spcPts val="2279"/>
                </a:lnSpc>
              </a:pPr>
              <a:endParaRPr/>
            </a:p>
          </p:txBody>
        </p:sp>
      </p:grpSp>
      <p:grpSp>
        <p:nvGrpSpPr>
          <p:cNvPr id="61" name="Group 61"/>
          <p:cNvGrpSpPr/>
          <p:nvPr/>
        </p:nvGrpSpPr>
        <p:grpSpPr>
          <a:xfrm>
            <a:off x="1028700" y="8264774"/>
            <a:ext cx="924896" cy="1036944"/>
            <a:chOff x="0" y="0"/>
            <a:chExt cx="243594" cy="273105"/>
          </a:xfrm>
        </p:grpSpPr>
        <p:sp>
          <p:nvSpPr>
            <p:cNvPr id="62" name="Freeform 62"/>
            <p:cNvSpPr/>
            <p:nvPr/>
          </p:nvSpPr>
          <p:spPr>
            <a:xfrm>
              <a:off x="0" y="0"/>
              <a:ext cx="243594" cy="273105"/>
            </a:xfrm>
            <a:custGeom>
              <a:avLst/>
              <a:gdLst/>
              <a:ahLst/>
              <a:cxnLst/>
              <a:rect l="l" t="t" r="r" b="b"/>
              <a:pathLst>
                <a:path w="243594" h="273105">
                  <a:moveTo>
                    <a:pt x="0" y="0"/>
                  </a:moveTo>
                  <a:lnTo>
                    <a:pt x="243594" y="0"/>
                  </a:lnTo>
                  <a:lnTo>
                    <a:pt x="243594" y="273105"/>
                  </a:lnTo>
                  <a:lnTo>
                    <a:pt x="0" y="273105"/>
                  </a:lnTo>
                  <a:close/>
                </a:path>
              </a:pathLst>
            </a:custGeom>
            <a:solidFill>
              <a:srgbClr val="0B1E3D"/>
            </a:solidFill>
          </p:spPr>
        </p:sp>
        <p:sp>
          <p:nvSpPr>
            <p:cNvPr id="63" name="TextBox 63"/>
            <p:cNvSpPr txBox="1"/>
            <p:nvPr/>
          </p:nvSpPr>
          <p:spPr>
            <a:xfrm>
              <a:off x="0" y="-38100"/>
              <a:ext cx="243594" cy="311205"/>
            </a:xfrm>
            <a:prstGeom prst="rect">
              <a:avLst/>
            </a:prstGeom>
          </p:spPr>
          <p:txBody>
            <a:bodyPr lIns="50800" tIns="50800" rIns="50800" bIns="50800" rtlCol="0" anchor="ctr"/>
            <a:lstStyle/>
            <a:p>
              <a:pPr algn="ctr">
                <a:lnSpc>
                  <a:spcPts val="2279"/>
                </a:lnSpc>
              </a:pPr>
              <a:endParaRPr/>
            </a:p>
          </p:txBody>
        </p:sp>
      </p:grpSp>
      <p:sp>
        <p:nvSpPr>
          <p:cNvPr id="64" name="TextBox 64"/>
          <p:cNvSpPr txBox="1"/>
          <p:nvPr/>
        </p:nvSpPr>
        <p:spPr>
          <a:xfrm>
            <a:off x="1305530" y="3870849"/>
            <a:ext cx="447070" cy="482312"/>
          </a:xfrm>
          <a:prstGeom prst="rect">
            <a:avLst/>
          </a:prstGeom>
        </p:spPr>
        <p:txBody>
          <a:bodyPr wrap="square" lIns="0" tIns="0" rIns="0" bIns="0" rtlCol="0" anchor="t">
            <a:spAutoFit/>
          </a:bodyPr>
          <a:lstStyle/>
          <a:p>
            <a:pPr algn="ctr">
              <a:lnSpc>
                <a:spcPts val="4037"/>
              </a:lnSpc>
            </a:pPr>
            <a:r>
              <a:rPr lang="en-US" sz="2883" b="1" dirty="0">
                <a:solidFill>
                  <a:srgbClr val="C9A84C"/>
                </a:solidFill>
                <a:latin typeface="Calibri (MS) Bold"/>
                <a:ea typeface="Calibri (MS) Bold"/>
                <a:cs typeface="Calibri (MS) Bold"/>
                <a:sym typeface="Calibri (MS) Bold"/>
              </a:rPr>
              <a:t>01</a:t>
            </a:r>
          </a:p>
        </p:txBody>
      </p:sp>
      <p:sp>
        <p:nvSpPr>
          <p:cNvPr id="65" name="TextBox 65"/>
          <p:cNvSpPr txBox="1"/>
          <p:nvPr/>
        </p:nvSpPr>
        <p:spPr>
          <a:xfrm>
            <a:off x="1305530" y="5016385"/>
            <a:ext cx="447070" cy="482312"/>
          </a:xfrm>
          <a:prstGeom prst="rect">
            <a:avLst/>
          </a:prstGeom>
        </p:spPr>
        <p:txBody>
          <a:bodyPr wrap="square" lIns="0" tIns="0" rIns="0" bIns="0" rtlCol="0" anchor="t">
            <a:spAutoFit/>
          </a:bodyPr>
          <a:lstStyle/>
          <a:p>
            <a:pPr algn="ctr">
              <a:lnSpc>
                <a:spcPts val="4037"/>
              </a:lnSpc>
            </a:pPr>
            <a:r>
              <a:rPr lang="en-US" sz="2883" b="1" dirty="0">
                <a:solidFill>
                  <a:srgbClr val="C9A84C"/>
                </a:solidFill>
                <a:latin typeface="Calibri (MS) Bold"/>
                <a:ea typeface="Calibri (MS) Bold"/>
                <a:cs typeface="Calibri (MS) Bold"/>
                <a:sym typeface="Calibri (MS) Bold"/>
              </a:rPr>
              <a:t>02</a:t>
            </a:r>
          </a:p>
        </p:txBody>
      </p:sp>
      <p:sp>
        <p:nvSpPr>
          <p:cNvPr id="66" name="TextBox 66"/>
          <p:cNvSpPr txBox="1"/>
          <p:nvPr/>
        </p:nvSpPr>
        <p:spPr>
          <a:xfrm>
            <a:off x="1305530" y="6203296"/>
            <a:ext cx="447070" cy="482312"/>
          </a:xfrm>
          <a:prstGeom prst="rect">
            <a:avLst/>
          </a:prstGeom>
        </p:spPr>
        <p:txBody>
          <a:bodyPr wrap="square" lIns="0" tIns="0" rIns="0" bIns="0" rtlCol="0" anchor="t">
            <a:spAutoFit/>
          </a:bodyPr>
          <a:lstStyle/>
          <a:p>
            <a:pPr algn="ctr">
              <a:lnSpc>
                <a:spcPts val="4037"/>
              </a:lnSpc>
            </a:pPr>
            <a:r>
              <a:rPr lang="en-US" sz="2883" b="1" dirty="0">
                <a:solidFill>
                  <a:srgbClr val="C9A84C"/>
                </a:solidFill>
                <a:latin typeface="Calibri (MS) Bold"/>
                <a:ea typeface="Calibri (MS) Bold"/>
                <a:cs typeface="Calibri (MS) Bold"/>
                <a:sym typeface="Calibri (MS) Bold"/>
              </a:rPr>
              <a:t>03</a:t>
            </a:r>
          </a:p>
        </p:txBody>
      </p:sp>
      <p:sp>
        <p:nvSpPr>
          <p:cNvPr id="67" name="TextBox 67"/>
          <p:cNvSpPr txBox="1"/>
          <p:nvPr/>
        </p:nvSpPr>
        <p:spPr>
          <a:xfrm>
            <a:off x="1305530" y="7334993"/>
            <a:ext cx="381800" cy="482312"/>
          </a:xfrm>
          <a:prstGeom prst="rect">
            <a:avLst/>
          </a:prstGeom>
        </p:spPr>
        <p:txBody>
          <a:bodyPr wrap="square" lIns="0" tIns="0" rIns="0" bIns="0" rtlCol="0" anchor="t">
            <a:spAutoFit/>
          </a:bodyPr>
          <a:lstStyle/>
          <a:p>
            <a:pPr algn="ctr">
              <a:lnSpc>
                <a:spcPts val="4037"/>
              </a:lnSpc>
            </a:pPr>
            <a:r>
              <a:rPr lang="en-US" sz="2883" b="1" dirty="0">
                <a:solidFill>
                  <a:srgbClr val="C9A84C"/>
                </a:solidFill>
                <a:latin typeface="Calibri (MS) Bold"/>
                <a:ea typeface="Calibri (MS) Bold"/>
                <a:cs typeface="Calibri (MS) Bold"/>
                <a:sym typeface="Calibri (MS) Bold"/>
              </a:rPr>
              <a:t>04</a:t>
            </a:r>
          </a:p>
        </p:txBody>
      </p:sp>
      <p:sp>
        <p:nvSpPr>
          <p:cNvPr id="68" name="TextBox 68"/>
          <p:cNvSpPr txBox="1"/>
          <p:nvPr/>
        </p:nvSpPr>
        <p:spPr>
          <a:xfrm>
            <a:off x="1305530" y="8502712"/>
            <a:ext cx="447070" cy="482312"/>
          </a:xfrm>
          <a:prstGeom prst="rect">
            <a:avLst/>
          </a:prstGeom>
        </p:spPr>
        <p:txBody>
          <a:bodyPr wrap="square" lIns="0" tIns="0" rIns="0" bIns="0" rtlCol="0" anchor="t">
            <a:spAutoFit/>
          </a:bodyPr>
          <a:lstStyle/>
          <a:p>
            <a:pPr algn="ctr">
              <a:lnSpc>
                <a:spcPts val="4037"/>
              </a:lnSpc>
            </a:pPr>
            <a:r>
              <a:rPr lang="en-US" sz="2883" b="1" dirty="0">
                <a:solidFill>
                  <a:srgbClr val="C9A84C"/>
                </a:solidFill>
                <a:latin typeface="Calibri (MS) Bold"/>
                <a:ea typeface="Calibri (MS) Bold"/>
                <a:cs typeface="Calibri (MS) Bold"/>
                <a:sym typeface="Calibri (MS) Bold"/>
              </a:rPr>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C9A84C"/>
            </a:solidFill>
          </p:spPr>
        </p:sp>
      </p:grpSp>
      <p:grpSp>
        <p:nvGrpSpPr>
          <p:cNvPr id="4" name="Group 4"/>
          <p:cNvGrpSpPr/>
          <p:nvPr/>
        </p:nvGrpSpPr>
        <p:grpSpPr>
          <a:xfrm>
            <a:off x="1019062" y="1225296"/>
            <a:ext cx="6008597" cy="1224650"/>
            <a:chOff x="0" y="0"/>
            <a:chExt cx="8011462" cy="1632867"/>
          </a:xfrm>
        </p:grpSpPr>
        <p:sp>
          <p:nvSpPr>
            <p:cNvPr id="5" name="Freeform 5"/>
            <p:cNvSpPr/>
            <p:nvPr/>
          </p:nvSpPr>
          <p:spPr>
            <a:xfrm>
              <a:off x="0" y="0"/>
              <a:ext cx="8011462" cy="1632867"/>
            </a:xfrm>
            <a:custGeom>
              <a:avLst/>
              <a:gdLst/>
              <a:ahLst/>
              <a:cxnLst/>
              <a:rect l="l" t="t" r="r" b="b"/>
              <a:pathLst>
                <a:path w="8011462" h="1632867">
                  <a:moveTo>
                    <a:pt x="0" y="0"/>
                  </a:moveTo>
                  <a:lnTo>
                    <a:pt x="8011462" y="0"/>
                  </a:lnTo>
                  <a:lnTo>
                    <a:pt x="8011462" y="1632867"/>
                  </a:lnTo>
                  <a:lnTo>
                    <a:pt x="0" y="1632867"/>
                  </a:lnTo>
                  <a:close/>
                </a:path>
              </a:pathLst>
            </a:custGeom>
            <a:blipFill>
              <a:blip r:embed="rId3">
                <a:alphaModFix amt="0"/>
              </a:blip>
              <a:stretch>
                <a:fillRect t="-106660" r="-52181" b="-84313"/>
              </a:stretch>
            </a:blipFill>
          </p:spPr>
        </p:sp>
        <p:sp>
          <p:nvSpPr>
            <p:cNvPr id="6" name="TextBox 6"/>
            <p:cNvSpPr txBox="1"/>
            <p:nvPr/>
          </p:nvSpPr>
          <p:spPr>
            <a:xfrm>
              <a:off x="0" y="-133350"/>
              <a:ext cx="8011462" cy="1766217"/>
            </a:xfrm>
            <a:prstGeom prst="rect">
              <a:avLst/>
            </a:prstGeom>
          </p:spPr>
          <p:txBody>
            <a:bodyPr lIns="0" tIns="0" rIns="0" bIns="0" rtlCol="0" anchor="ctr"/>
            <a:lstStyle/>
            <a:p>
              <a:pPr algn="l">
                <a:lnSpc>
                  <a:spcPts val="7319"/>
                </a:lnSpc>
              </a:pPr>
              <a:r>
                <a:rPr lang="en-US" sz="6099" b="1">
                  <a:solidFill>
                    <a:srgbClr val="FFCE25"/>
                  </a:solidFill>
                  <a:latin typeface="Calibri (MS) Bold"/>
                  <a:ea typeface="Calibri (MS) Bold"/>
                  <a:cs typeface="Calibri (MS) Bold"/>
                  <a:sym typeface="Calibri (MS) Bold"/>
                </a:rPr>
                <a:t>CASH LOGISTICS</a:t>
              </a:r>
            </a:p>
          </p:txBody>
        </p:sp>
      </p:grpSp>
      <p:grpSp>
        <p:nvGrpSpPr>
          <p:cNvPr id="7" name="Group 7"/>
          <p:cNvGrpSpPr/>
          <p:nvPr/>
        </p:nvGrpSpPr>
        <p:grpSpPr>
          <a:xfrm>
            <a:off x="12152872" y="3573896"/>
            <a:ext cx="4785260" cy="197835"/>
            <a:chOff x="0" y="0"/>
            <a:chExt cx="1260315" cy="52105"/>
          </a:xfrm>
        </p:grpSpPr>
        <p:sp>
          <p:nvSpPr>
            <p:cNvPr id="8" name="Freeform 8"/>
            <p:cNvSpPr/>
            <p:nvPr/>
          </p:nvSpPr>
          <p:spPr>
            <a:xfrm>
              <a:off x="0" y="0"/>
              <a:ext cx="1260315" cy="52105"/>
            </a:xfrm>
            <a:custGeom>
              <a:avLst/>
              <a:gdLst/>
              <a:ahLst/>
              <a:cxnLst/>
              <a:rect l="l" t="t" r="r" b="b"/>
              <a:pathLst>
                <a:path w="1260315" h="52105">
                  <a:moveTo>
                    <a:pt x="0" y="0"/>
                  </a:moveTo>
                  <a:lnTo>
                    <a:pt x="1260315" y="0"/>
                  </a:lnTo>
                  <a:lnTo>
                    <a:pt x="1260315" y="52105"/>
                  </a:lnTo>
                  <a:lnTo>
                    <a:pt x="0" y="52105"/>
                  </a:lnTo>
                  <a:close/>
                </a:path>
              </a:pathLst>
            </a:custGeom>
            <a:solidFill>
              <a:srgbClr val="C9A84C"/>
            </a:solidFill>
          </p:spPr>
        </p:sp>
        <p:sp>
          <p:nvSpPr>
            <p:cNvPr id="9" name="TextBox 9"/>
            <p:cNvSpPr txBox="1"/>
            <p:nvPr/>
          </p:nvSpPr>
          <p:spPr>
            <a:xfrm>
              <a:off x="0" y="-38100"/>
              <a:ext cx="1260315" cy="90205"/>
            </a:xfrm>
            <a:prstGeom prst="rect">
              <a:avLst/>
            </a:prstGeom>
          </p:spPr>
          <p:txBody>
            <a:bodyPr lIns="50800" tIns="50800" rIns="50800" bIns="50800" rtlCol="0" anchor="ctr"/>
            <a:lstStyle/>
            <a:p>
              <a:pPr algn="ctr">
                <a:lnSpc>
                  <a:spcPts val="2160"/>
                </a:lnSpc>
              </a:pPr>
              <a:endParaRPr/>
            </a:p>
          </p:txBody>
        </p:sp>
      </p:grpSp>
      <p:grpSp>
        <p:nvGrpSpPr>
          <p:cNvPr id="10" name="Group 10"/>
          <p:cNvGrpSpPr/>
          <p:nvPr/>
        </p:nvGrpSpPr>
        <p:grpSpPr>
          <a:xfrm>
            <a:off x="12152872" y="3698573"/>
            <a:ext cx="4785260" cy="5095919"/>
            <a:chOff x="0" y="0"/>
            <a:chExt cx="1260315" cy="1342135"/>
          </a:xfrm>
        </p:grpSpPr>
        <p:sp>
          <p:nvSpPr>
            <p:cNvPr id="11" name="Freeform 11"/>
            <p:cNvSpPr/>
            <p:nvPr/>
          </p:nvSpPr>
          <p:spPr>
            <a:xfrm>
              <a:off x="0" y="0"/>
              <a:ext cx="1260315" cy="1342135"/>
            </a:xfrm>
            <a:custGeom>
              <a:avLst/>
              <a:gdLst/>
              <a:ahLst/>
              <a:cxnLst/>
              <a:rect l="l" t="t" r="r" b="b"/>
              <a:pathLst>
                <a:path w="1260315" h="1342135">
                  <a:moveTo>
                    <a:pt x="0" y="0"/>
                  </a:moveTo>
                  <a:lnTo>
                    <a:pt x="1260315" y="0"/>
                  </a:lnTo>
                  <a:lnTo>
                    <a:pt x="1260315" y="1342135"/>
                  </a:lnTo>
                  <a:lnTo>
                    <a:pt x="0" y="1342135"/>
                  </a:lnTo>
                  <a:close/>
                </a:path>
              </a:pathLst>
            </a:custGeom>
            <a:solidFill>
              <a:srgbClr val="1A3A6E"/>
            </a:solidFill>
          </p:spPr>
        </p:sp>
        <p:sp>
          <p:nvSpPr>
            <p:cNvPr id="12" name="TextBox 12"/>
            <p:cNvSpPr txBox="1"/>
            <p:nvPr/>
          </p:nvSpPr>
          <p:spPr>
            <a:xfrm>
              <a:off x="0" y="-38100"/>
              <a:ext cx="1260315" cy="1380235"/>
            </a:xfrm>
            <a:prstGeom prst="rect">
              <a:avLst/>
            </a:prstGeom>
          </p:spPr>
          <p:txBody>
            <a:bodyPr lIns="50800" tIns="50800" rIns="50800" bIns="50800" rtlCol="0" anchor="ctr"/>
            <a:lstStyle/>
            <a:p>
              <a:pPr algn="ctr">
                <a:lnSpc>
                  <a:spcPts val="2160"/>
                </a:lnSpc>
              </a:pPr>
              <a:endParaRPr/>
            </a:p>
          </p:txBody>
        </p:sp>
      </p:grpSp>
      <p:grpSp>
        <p:nvGrpSpPr>
          <p:cNvPr id="13" name="Group 13"/>
          <p:cNvGrpSpPr/>
          <p:nvPr/>
        </p:nvGrpSpPr>
        <p:grpSpPr>
          <a:xfrm>
            <a:off x="12267172" y="5311518"/>
            <a:ext cx="4528085" cy="2544578"/>
            <a:chOff x="0" y="0"/>
            <a:chExt cx="6037447" cy="3392771"/>
          </a:xfrm>
        </p:grpSpPr>
        <p:sp>
          <p:nvSpPr>
            <p:cNvPr id="14" name="Freeform 14"/>
            <p:cNvSpPr/>
            <p:nvPr/>
          </p:nvSpPr>
          <p:spPr>
            <a:xfrm>
              <a:off x="0" y="0"/>
              <a:ext cx="6037446" cy="3392771"/>
            </a:xfrm>
            <a:custGeom>
              <a:avLst/>
              <a:gdLst/>
              <a:ahLst/>
              <a:cxnLst/>
              <a:rect l="l" t="t" r="r" b="b"/>
              <a:pathLst>
                <a:path w="6037446" h="3392771">
                  <a:moveTo>
                    <a:pt x="0" y="0"/>
                  </a:moveTo>
                  <a:lnTo>
                    <a:pt x="6037446" y="0"/>
                  </a:lnTo>
                  <a:lnTo>
                    <a:pt x="6037446" y="3392771"/>
                  </a:lnTo>
                  <a:lnTo>
                    <a:pt x="0" y="3392771"/>
                  </a:lnTo>
                  <a:close/>
                </a:path>
              </a:pathLst>
            </a:custGeom>
            <a:blipFill>
              <a:blip r:embed="rId3">
                <a:alphaModFix amt="0"/>
              </a:blip>
              <a:stretch>
                <a:fillRect t="-27711" r="-13086" b="49289"/>
              </a:stretch>
            </a:blipFill>
          </p:spPr>
        </p:sp>
        <p:sp>
          <p:nvSpPr>
            <p:cNvPr id="15" name="TextBox 15"/>
            <p:cNvSpPr txBox="1"/>
            <p:nvPr/>
          </p:nvSpPr>
          <p:spPr>
            <a:xfrm>
              <a:off x="0" y="-76200"/>
              <a:ext cx="6037447" cy="3468971"/>
            </a:xfrm>
            <a:prstGeom prst="rect">
              <a:avLst/>
            </a:prstGeom>
          </p:spPr>
          <p:txBody>
            <a:bodyPr lIns="0" tIns="0" rIns="0" bIns="0" rtlCol="0" anchor="ctr"/>
            <a:lstStyle/>
            <a:p>
              <a:pPr algn="ctr">
                <a:lnSpc>
                  <a:spcPts val="4559"/>
                </a:lnSpc>
              </a:pPr>
              <a:r>
                <a:rPr lang="en-US" sz="3799" b="1">
                  <a:solidFill>
                    <a:srgbClr val="FFFFFF"/>
                  </a:solidFill>
                  <a:latin typeface="Calibri (MS) Bold"/>
                  <a:ea typeface="Calibri (MS) Bold"/>
                  <a:cs typeface="Calibri (MS) Bold"/>
                  <a:sym typeface="Calibri (MS) Bold"/>
                </a:rPr>
                <a:t>Avoid unnecessary cash shortages by making cash available for all operations </a:t>
              </a:r>
            </a:p>
          </p:txBody>
        </p:sp>
      </p:grpSp>
      <p:sp>
        <p:nvSpPr>
          <p:cNvPr id="16" name="Freeform 16"/>
          <p:cNvSpPr/>
          <p:nvPr/>
        </p:nvSpPr>
        <p:spPr>
          <a:xfrm>
            <a:off x="13576447" y="1028700"/>
            <a:ext cx="688193" cy="561759"/>
          </a:xfrm>
          <a:custGeom>
            <a:avLst/>
            <a:gdLst/>
            <a:ahLst/>
            <a:cxnLst/>
            <a:rect l="l" t="t" r="r" b="b"/>
            <a:pathLst>
              <a:path w="688193" h="561759">
                <a:moveTo>
                  <a:pt x="0" y="0"/>
                </a:moveTo>
                <a:lnTo>
                  <a:pt x="688193" y="0"/>
                </a:lnTo>
                <a:lnTo>
                  <a:pt x="688193" y="561759"/>
                </a:lnTo>
                <a:lnTo>
                  <a:pt x="0" y="561759"/>
                </a:lnTo>
                <a:lnTo>
                  <a:pt x="0" y="0"/>
                </a:lnTo>
                <a:close/>
              </a:path>
            </a:pathLst>
          </a:custGeom>
          <a:blipFill>
            <a:blip r:embed="rId4"/>
            <a:stretch>
              <a:fillRect l="-2654" t="-7161" r="-2654"/>
            </a:stretch>
          </a:blipFill>
        </p:spPr>
      </p:sp>
      <p:grpSp>
        <p:nvGrpSpPr>
          <p:cNvPr id="17" name="Group 17"/>
          <p:cNvGrpSpPr/>
          <p:nvPr/>
        </p:nvGrpSpPr>
        <p:grpSpPr>
          <a:xfrm>
            <a:off x="14361352" y="1060869"/>
            <a:ext cx="2897948" cy="548640"/>
            <a:chOff x="0" y="0"/>
            <a:chExt cx="3863931" cy="731520"/>
          </a:xfrm>
        </p:grpSpPr>
        <p:sp>
          <p:nvSpPr>
            <p:cNvPr id="18" name="Freeform 18"/>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19" name="TextBox 19"/>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F4F6F9"/>
                  </a:solidFill>
                  <a:latin typeface="Calibri (MS)"/>
                  <a:ea typeface="Calibri (MS)"/>
                  <a:cs typeface="Calibri (MS)"/>
                  <a:sym typeface="Calibri (MS)"/>
                </a:rPr>
                <a:t>GCB Bank PLC</a:t>
              </a:r>
            </a:p>
          </p:txBody>
        </p:sp>
      </p:grpSp>
      <p:grpSp>
        <p:nvGrpSpPr>
          <p:cNvPr id="20" name="Group 20"/>
          <p:cNvGrpSpPr/>
          <p:nvPr/>
        </p:nvGrpSpPr>
        <p:grpSpPr>
          <a:xfrm>
            <a:off x="1028700" y="754380"/>
            <a:ext cx="1367045" cy="548640"/>
            <a:chOff x="0" y="0"/>
            <a:chExt cx="1822727" cy="731520"/>
          </a:xfrm>
        </p:grpSpPr>
        <p:sp>
          <p:nvSpPr>
            <p:cNvPr id="21" name="Freeform 21"/>
            <p:cNvSpPr/>
            <p:nvPr/>
          </p:nvSpPr>
          <p:spPr>
            <a:xfrm>
              <a:off x="0" y="0"/>
              <a:ext cx="1822727" cy="731520"/>
            </a:xfrm>
            <a:custGeom>
              <a:avLst/>
              <a:gdLst/>
              <a:ahLst/>
              <a:cxnLst/>
              <a:rect l="l" t="t" r="r" b="b"/>
              <a:pathLst>
                <a:path w="1822727" h="731520">
                  <a:moveTo>
                    <a:pt x="0" y="0"/>
                  </a:moveTo>
                  <a:lnTo>
                    <a:pt x="1822727" y="0"/>
                  </a:lnTo>
                  <a:lnTo>
                    <a:pt x="1822727" y="731520"/>
                  </a:lnTo>
                  <a:lnTo>
                    <a:pt x="0" y="731520"/>
                  </a:lnTo>
                  <a:close/>
                </a:path>
              </a:pathLst>
            </a:custGeom>
            <a:blipFill>
              <a:blip r:embed="rId3">
                <a:alphaModFix amt="0"/>
              </a:blip>
              <a:stretch>
                <a:fillRect t="-131860" r="-274577" b="-131860"/>
              </a:stretch>
            </a:blipFill>
          </p:spPr>
        </p:sp>
        <p:sp>
          <p:nvSpPr>
            <p:cNvPr id="22" name="TextBox 22"/>
            <p:cNvSpPr txBox="1"/>
            <p:nvPr/>
          </p:nvSpPr>
          <p:spPr>
            <a:xfrm>
              <a:off x="0" y="-38100"/>
              <a:ext cx="1822727" cy="769620"/>
            </a:xfrm>
            <a:prstGeom prst="rect">
              <a:avLst/>
            </a:prstGeom>
          </p:spPr>
          <p:txBody>
            <a:bodyPr lIns="0" tIns="0" rIns="0" bIns="0" rtlCol="0" anchor="ctr"/>
            <a:lstStyle/>
            <a:p>
              <a:pPr algn="l">
                <a:lnSpc>
                  <a:spcPts val="2400"/>
                </a:lnSpc>
              </a:pPr>
              <a:r>
                <a:rPr lang="en-US" sz="2000">
                  <a:solidFill>
                    <a:srgbClr val="F4F6F9"/>
                  </a:solidFill>
                  <a:latin typeface="Calibri (MS)"/>
                  <a:ea typeface="Calibri (MS)"/>
                  <a:cs typeface="Calibri (MS)"/>
                  <a:sym typeface="Calibri (MS)"/>
                </a:rPr>
                <a:t>PILLAR ONE</a:t>
              </a:r>
            </a:p>
          </p:txBody>
        </p:sp>
      </p:grpSp>
      <p:grpSp>
        <p:nvGrpSpPr>
          <p:cNvPr id="23" name="Group 23"/>
          <p:cNvGrpSpPr/>
          <p:nvPr/>
        </p:nvGrpSpPr>
        <p:grpSpPr>
          <a:xfrm>
            <a:off x="6331317" y="3545321"/>
            <a:ext cx="5021455" cy="196691"/>
            <a:chOff x="0" y="0"/>
            <a:chExt cx="1322523" cy="51804"/>
          </a:xfrm>
        </p:grpSpPr>
        <p:sp>
          <p:nvSpPr>
            <p:cNvPr id="24" name="Freeform 24"/>
            <p:cNvSpPr/>
            <p:nvPr/>
          </p:nvSpPr>
          <p:spPr>
            <a:xfrm>
              <a:off x="0" y="0"/>
              <a:ext cx="1322523" cy="51804"/>
            </a:xfrm>
            <a:custGeom>
              <a:avLst/>
              <a:gdLst/>
              <a:ahLst/>
              <a:cxnLst/>
              <a:rect l="l" t="t" r="r" b="b"/>
              <a:pathLst>
                <a:path w="1322523" h="51804">
                  <a:moveTo>
                    <a:pt x="0" y="0"/>
                  </a:moveTo>
                  <a:lnTo>
                    <a:pt x="1322523" y="0"/>
                  </a:lnTo>
                  <a:lnTo>
                    <a:pt x="1322523" y="51804"/>
                  </a:lnTo>
                  <a:lnTo>
                    <a:pt x="0" y="51804"/>
                  </a:lnTo>
                  <a:close/>
                </a:path>
              </a:pathLst>
            </a:custGeom>
            <a:solidFill>
              <a:srgbClr val="C9A84C"/>
            </a:solidFill>
          </p:spPr>
        </p:sp>
        <p:sp>
          <p:nvSpPr>
            <p:cNvPr id="25" name="TextBox 25"/>
            <p:cNvSpPr txBox="1"/>
            <p:nvPr/>
          </p:nvSpPr>
          <p:spPr>
            <a:xfrm>
              <a:off x="0" y="-38100"/>
              <a:ext cx="1322523" cy="89904"/>
            </a:xfrm>
            <a:prstGeom prst="rect">
              <a:avLst/>
            </a:prstGeom>
          </p:spPr>
          <p:txBody>
            <a:bodyPr lIns="50800" tIns="50800" rIns="50800" bIns="50800" rtlCol="0" anchor="ctr"/>
            <a:lstStyle/>
            <a:p>
              <a:pPr algn="ctr">
                <a:lnSpc>
                  <a:spcPts val="2160"/>
                </a:lnSpc>
              </a:pPr>
              <a:endParaRPr/>
            </a:p>
          </p:txBody>
        </p:sp>
      </p:grpSp>
      <p:grpSp>
        <p:nvGrpSpPr>
          <p:cNvPr id="26" name="Group 26"/>
          <p:cNvGrpSpPr/>
          <p:nvPr/>
        </p:nvGrpSpPr>
        <p:grpSpPr>
          <a:xfrm>
            <a:off x="6331317" y="3669998"/>
            <a:ext cx="5021455" cy="5095919"/>
            <a:chOff x="0" y="0"/>
            <a:chExt cx="1322523" cy="1342135"/>
          </a:xfrm>
        </p:grpSpPr>
        <p:sp>
          <p:nvSpPr>
            <p:cNvPr id="27" name="Freeform 27"/>
            <p:cNvSpPr/>
            <p:nvPr/>
          </p:nvSpPr>
          <p:spPr>
            <a:xfrm>
              <a:off x="0" y="0"/>
              <a:ext cx="1322523" cy="1342135"/>
            </a:xfrm>
            <a:custGeom>
              <a:avLst/>
              <a:gdLst/>
              <a:ahLst/>
              <a:cxnLst/>
              <a:rect l="l" t="t" r="r" b="b"/>
              <a:pathLst>
                <a:path w="1322523" h="1342135">
                  <a:moveTo>
                    <a:pt x="0" y="0"/>
                  </a:moveTo>
                  <a:lnTo>
                    <a:pt x="1322523" y="0"/>
                  </a:lnTo>
                  <a:lnTo>
                    <a:pt x="1322523" y="1342135"/>
                  </a:lnTo>
                  <a:lnTo>
                    <a:pt x="0" y="1342135"/>
                  </a:lnTo>
                  <a:close/>
                </a:path>
              </a:pathLst>
            </a:custGeom>
            <a:solidFill>
              <a:srgbClr val="1A3A6E"/>
            </a:solidFill>
          </p:spPr>
        </p:sp>
        <p:sp>
          <p:nvSpPr>
            <p:cNvPr id="28" name="TextBox 28"/>
            <p:cNvSpPr txBox="1"/>
            <p:nvPr/>
          </p:nvSpPr>
          <p:spPr>
            <a:xfrm>
              <a:off x="0" y="-38100"/>
              <a:ext cx="1322523" cy="1380235"/>
            </a:xfrm>
            <a:prstGeom prst="rect">
              <a:avLst/>
            </a:prstGeom>
          </p:spPr>
          <p:txBody>
            <a:bodyPr lIns="50800" tIns="50800" rIns="50800" bIns="50800" rtlCol="0" anchor="ctr"/>
            <a:lstStyle/>
            <a:p>
              <a:pPr algn="ctr">
                <a:lnSpc>
                  <a:spcPts val="2160"/>
                </a:lnSpc>
              </a:pPr>
              <a:endParaRPr/>
            </a:p>
          </p:txBody>
        </p:sp>
      </p:grpSp>
      <p:grpSp>
        <p:nvGrpSpPr>
          <p:cNvPr id="29" name="Group 29"/>
          <p:cNvGrpSpPr/>
          <p:nvPr/>
        </p:nvGrpSpPr>
        <p:grpSpPr>
          <a:xfrm>
            <a:off x="6587231" y="5311518"/>
            <a:ext cx="4672384" cy="2093908"/>
            <a:chOff x="0" y="0"/>
            <a:chExt cx="6229845" cy="2791878"/>
          </a:xfrm>
        </p:grpSpPr>
        <p:sp>
          <p:nvSpPr>
            <p:cNvPr id="30" name="Freeform 30"/>
            <p:cNvSpPr/>
            <p:nvPr/>
          </p:nvSpPr>
          <p:spPr>
            <a:xfrm>
              <a:off x="0" y="0"/>
              <a:ext cx="6229845" cy="2791878"/>
            </a:xfrm>
            <a:custGeom>
              <a:avLst/>
              <a:gdLst/>
              <a:ahLst/>
              <a:cxnLst/>
              <a:rect l="l" t="t" r="r" b="b"/>
              <a:pathLst>
                <a:path w="6229845" h="2791878">
                  <a:moveTo>
                    <a:pt x="0" y="0"/>
                  </a:moveTo>
                  <a:lnTo>
                    <a:pt x="6229845" y="0"/>
                  </a:lnTo>
                  <a:lnTo>
                    <a:pt x="6229845" y="2791878"/>
                  </a:lnTo>
                  <a:lnTo>
                    <a:pt x="0" y="2791878"/>
                  </a:lnTo>
                  <a:close/>
                </a:path>
              </a:pathLst>
            </a:custGeom>
            <a:blipFill>
              <a:blip r:embed="rId3">
                <a:alphaModFix amt="0"/>
              </a:blip>
              <a:stretch>
                <a:fillRect t="-33676" r="-9593" b="38375"/>
              </a:stretch>
            </a:blipFill>
          </p:spPr>
        </p:sp>
        <p:sp>
          <p:nvSpPr>
            <p:cNvPr id="31" name="TextBox 31"/>
            <p:cNvSpPr txBox="1"/>
            <p:nvPr/>
          </p:nvSpPr>
          <p:spPr>
            <a:xfrm>
              <a:off x="0" y="-76200"/>
              <a:ext cx="6229845" cy="2868078"/>
            </a:xfrm>
            <a:prstGeom prst="rect">
              <a:avLst/>
            </a:prstGeom>
          </p:spPr>
          <p:txBody>
            <a:bodyPr lIns="0" tIns="0" rIns="0" bIns="0" rtlCol="0" anchor="ctr"/>
            <a:lstStyle/>
            <a:p>
              <a:pPr algn="ctr">
                <a:lnSpc>
                  <a:spcPts val="4559"/>
                </a:lnSpc>
              </a:pPr>
              <a:r>
                <a:rPr lang="en-US" sz="3799" b="1">
                  <a:solidFill>
                    <a:srgbClr val="FFFFFF"/>
                  </a:solidFill>
                  <a:latin typeface="Calibri (MS) Bold"/>
                  <a:ea typeface="Calibri (MS) Bold"/>
                  <a:cs typeface="Calibri (MS) Bold"/>
                  <a:sym typeface="Calibri (MS) Bold"/>
                </a:rPr>
                <a:t>Ensure cash positions are within approved insurance limits</a:t>
              </a:r>
            </a:p>
          </p:txBody>
        </p:sp>
      </p:grpSp>
      <p:grpSp>
        <p:nvGrpSpPr>
          <p:cNvPr id="32" name="Group 32"/>
          <p:cNvGrpSpPr/>
          <p:nvPr/>
        </p:nvGrpSpPr>
        <p:grpSpPr>
          <a:xfrm>
            <a:off x="1019062" y="3573896"/>
            <a:ext cx="4652892" cy="197835"/>
            <a:chOff x="0" y="0"/>
            <a:chExt cx="1225453" cy="52105"/>
          </a:xfrm>
        </p:grpSpPr>
        <p:sp>
          <p:nvSpPr>
            <p:cNvPr id="33" name="Freeform 33"/>
            <p:cNvSpPr/>
            <p:nvPr/>
          </p:nvSpPr>
          <p:spPr>
            <a:xfrm>
              <a:off x="0" y="0"/>
              <a:ext cx="1225453" cy="52105"/>
            </a:xfrm>
            <a:custGeom>
              <a:avLst/>
              <a:gdLst/>
              <a:ahLst/>
              <a:cxnLst/>
              <a:rect l="l" t="t" r="r" b="b"/>
              <a:pathLst>
                <a:path w="1225453" h="52105">
                  <a:moveTo>
                    <a:pt x="0" y="0"/>
                  </a:moveTo>
                  <a:lnTo>
                    <a:pt x="1225453" y="0"/>
                  </a:lnTo>
                  <a:lnTo>
                    <a:pt x="1225453" y="52105"/>
                  </a:lnTo>
                  <a:lnTo>
                    <a:pt x="0" y="52105"/>
                  </a:lnTo>
                  <a:close/>
                </a:path>
              </a:pathLst>
            </a:custGeom>
            <a:solidFill>
              <a:srgbClr val="C9A84C"/>
            </a:solidFill>
          </p:spPr>
        </p:sp>
        <p:sp>
          <p:nvSpPr>
            <p:cNvPr id="34" name="TextBox 34"/>
            <p:cNvSpPr txBox="1"/>
            <p:nvPr/>
          </p:nvSpPr>
          <p:spPr>
            <a:xfrm>
              <a:off x="0" y="-38100"/>
              <a:ext cx="1225453" cy="90205"/>
            </a:xfrm>
            <a:prstGeom prst="rect">
              <a:avLst/>
            </a:prstGeom>
          </p:spPr>
          <p:txBody>
            <a:bodyPr lIns="50800" tIns="50800" rIns="50800" bIns="50800" rtlCol="0" anchor="ctr"/>
            <a:lstStyle/>
            <a:p>
              <a:pPr algn="ctr">
                <a:lnSpc>
                  <a:spcPts val="2160"/>
                </a:lnSpc>
              </a:pPr>
              <a:endParaRPr/>
            </a:p>
          </p:txBody>
        </p:sp>
      </p:grpSp>
      <p:grpSp>
        <p:nvGrpSpPr>
          <p:cNvPr id="35" name="Group 35"/>
          <p:cNvGrpSpPr/>
          <p:nvPr/>
        </p:nvGrpSpPr>
        <p:grpSpPr>
          <a:xfrm>
            <a:off x="1019062" y="3698573"/>
            <a:ext cx="4652892" cy="5095919"/>
            <a:chOff x="0" y="0"/>
            <a:chExt cx="1225453" cy="1342135"/>
          </a:xfrm>
        </p:grpSpPr>
        <p:sp>
          <p:nvSpPr>
            <p:cNvPr id="36" name="Freeform 36"/>
            <p:cNvSpPr/>
            <p:nvPr/>
          </p:nvSpPr>
          <p:spPr>
            <a:xfrm>
              <a:off x="0" y="0"/>
              <a:ext cx="1225453" cy="1342135"/>
            </a:xfrm>
            <a:custGeom>
              <a:avLst/>
              <a:gdLst/>
              <a:ahLst/>
              <a:cxnLst/>
              <a:rect l="l" t="t" r="r" b="b"/>
              <a:pathLst>
                <a:path w="1225453" h="1342135">
                  <a:moveTo>
                    <a:pt x="0" y="0"/>
                  </a:moveTo>
                  <a:lnTo>
                    <a:pt x="1225453" y="0"/>
                  </a:lnTo>
                  <a:lnTo>
                    <a:pt x="1225453" y="1342135"/>
                  </a:lnTo>
                  <a:lnTo>
                    <a:pt x="0" y="1342135"/>
                  </a:lnTo>
                  <a:close/>
                </a:path>
              </a:pathLst>
            </a:custGeom>
            <a:solidFill>
              <a:srgbClr val="1A3A6E"/>
            </a:solidFill>
          </p:spPr>
        </p:sp>
        <p:sp>
          <p:nvSpPr>
            <p:cNvPr id="37" name="TextBox 37"/>
            <p:cNvSpPr txBox="1"/>
            <p:nvPr/>
          </p:nvSpPr>
          <p:spPr>
            <a:xfrm>
              <a:off x="0" y="-38100"/>
              <a:ext cx="1225453" cy="1380235"/>
            </a:xfrm>
            <a:prstGeom prst="rect">
              <a:avLst/>
            </a:prstGeom>
          </p:spPr>
          <p:txBody>
            <a:bodyPr lIns="50800" tIns="50800" rIns="50800" bIns="50800" rtlCol="0" anchor="ctr"/>
            <a:lstStyle/>
            <a:p>
              <a:pPr algn="ctr">
                <a:lnSpc>
                  <a:spcPts val="2160"/>
                </a:lnSpc>
              </a:pPr>
              <a:endParaRPr/>
            </a:p>
          </p:txBody>
        </p:sp>
      </p:grpSp>
      <p:grpSp>
        <p:nvGrpSpPr>
          <p:cNvPr id="38" name="Group 38"/>
          <p:cNvGrpSpPr/>
          <p:nvPr/>
        </p:nvGrpSpPr>
        <p:grpSpPr>
          <a:xfrm>
            <a:off x="1042209" y="5311518"/>
            <a:ext cx="4491093" cy="3044835"/>
            <a:chOff x="0" y="0"/>
            <a:chExt cx="5988124" cy="4059780"/>
          </a:xfrm>
        </p:grpSpPr>
        <p:sp>
          <p:nvSpPr>
            <p:cNvPr id="39" name="Freeform 39"/>
            <p:cNvSpPr/>
            <p:nvPr/>
          </p:nvSpPr>
          <p:spPr>
            <a:xfrm>
              <a:off x="0" y="0"/>
              <a:ext cx="5988124" cy="4059780"/>
            </a:xfrm>
            <a:custGeom>
              <a:avLst/>
              <a:gdLst/>
              <a:ahLst/>
              <a:cxnLst/>
              <a:rect l="l" t="t" r="r" b="b"/>
              <a:pathLst>
                <a:path w="5988124" h="4059780">
                  <a:moveTo>
                    <a:pt x="0" y="0"/>
                  </a:moveTo>
                  <a:lnTo>
                    <a:pt x="5988124" y="0"/>
                  </a:lnTo>
                  <a:lnTo>
                    <a:pt x="5988124" y="4059780"/>
                  </a:lnTo>
                  <a:lnTo>
                    <a:pt x="0" y="4059780"/>
                  </a:lnTo>
                  <a:close/>
                </a:path>
              </a:pathLst>
            </a:custGeom>
            <a:blipFill>
              <a:blip r:embed="rId3">
                <a:alphaModFix amt="0"/>
              </a:blip>
              <a:stretch>
                <a:fillRect t="-23158" r="-14017" b="57621"/>
              </a:stretch>
            </a:blipFill>
          </p:spPr>
        </p:sp>
        <p:sp>
          <p:nvSpPr>
            <p:cNvPr id="40" name="TextBox 40"/>
            <p:cNvSpPr txBox="1"/>
            <p:nvPr/>
          </p:nvSpPr>
          <p:spPr>
            <a:xfrm>
              <a:off x="0" y="-76200"/>
              <a:ext cx="5988124" cy="4135980"/>
            </a:xfrm>
            <a:prstGeom prst="rect">
              <a:avLst/>
            </a:prstGeom>
          </p:spPr>
          <p:txBody>
            <a:bodyPr lIns="0" tIns="0" rIns="0" bIns="0" rtlCol="0" anchor="ctr"/>
            <a:lstStyle/>
            <a:p>
              <a:pPr algn="ctr">
                <a:lnSpc>
                  <a:spcPts val="4559"/>
                </a:lnSpc>
              </a:pPr>
              <a:r>
                <a:rPr lang="en-US" sz="3799" b="1">
                  <a:solidFill>
                    <a:srgbClr val="FFFFFF"/>
                  </a:solidFill>
                  <a:latin typeface="Calibri (MS) Bold"/>
                  <a:ea typeface="Calibri (MS) Bold"/>
                  <a:cs typeface="Calibri (MS) Bold"/>
                  <a:sym typeface="Calibri (MS) Bold"/>
                </a:rPr>
                <a:t>Maintain sufficient cash levels for both GCB Bank branches and Deposit Money Banks daily request </a:t>
              </a:r>
            </a:p>
          </p:txBody>
        </p:sp>
      </p:grpSp>
      <p:grpSp>
        <p:nvGrpSpPr>
          <p:cNvPr id="41" name="Group 41"/>
          <p:cNvGrpSpPr/>
          <p:nvPr/>
        </p:nvGrpSpPr>
        <p:grpSpPr>
          <a:xfrm>
            <a:off x="13870811" y="3882801"/>
            <a:ext cx="1320807" cy="1320807"/>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1E3D"/>
            </a:solidFill>
          </p:spPr>
        </p:sp>
        <p:sp>
          <p:nvSpPr>
            <p:cNvPr id="43" name="TextBox 43"/>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44" name="Freeform 44"/>
          <p:cNvSpPr/>
          <p:nvPr/>
        </p:nvSpPr>
        <p:spPr>
          <a:xfrm>
            <a:off x="14129085" y="4089620"/>
            <a:ext cx="804260" cy="846589"/>
          </a:xfrm>
          <a:custGeom>
            <a:avLst/>
            <a:gdLst/>
            <a:ahLst/>
            <a:cxnLst/>
            <a:rect l="l" t="t" r="r" b="b"/>
            <a:pathLst>
              <a:path w="804260" h="846589">
                <a:moveTo>
                  <a:pt x="0" y="0"/>
                </a:moveTo>
                <a:lnTo>
                  <a:pt x="804260" y="0"/>
                </a:lnTo>
                <a:lnTo>
                  <a:pt x="804260" y="846589"/>
                </a:lnTo>
                <a:lnTo>
                  <a:pt x="0" y="846589"/>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45" name="Group 45"/>
          <p:cNvGrpSpPr/>
          <p:nvPr/>
        </p:nvGrpSpPr>
        <p:grpSpPr>
          <a:xfrm>
            <a:off x="1036028" y="2337666"/>
            <a:ext cx="1659061" cy="73152"/>
            <a:chOff x="0" y="0"/>
            <a:chExt cx="2212081" cy="97536"/>
          </a:xfrm>
        </p:grpSpPr>
        <p:sp>
          <p:nvSpPr>
            <p:cNvPr id="46" name="Freeform 46"/>
            <p:cNvSpPr/>
            <p:nvPr/>
          </p:nvSpPr>
          <p:spPr>
            <a:xfrm>
              <a:off x="0" y="0"/>
              <a:ext cx="2212081" cy="97536"/>
            </a:xfrm>
            <a:custGeom>
              <a:avLst/>
              <a:gdLst/>
              <a:ahLst/>
              <a:cxnLst/>
              <a:rect l="l" t="t" r="r" b="b"/>
              <a:pathLst>
                <a:path w="2212081" h="97536">
                  <a:moveTo>
                    <a:pt x="0" y="0"/>
                  </a:moveTo>
                  <a:lnTo>
                    <a:pt x="2212081" y="0"/>
                  </a:lnTo>
                  <a:lnTo>
                    <a:pt x="2212081" y="97536"/>
                  </a:lnTo>
                  <a:lnTo>
                    <a:pt x="0" y="97536"/>
                  </a:lnTo>
                  <a:close/>
                </a:path>
              </a:pathLst>
            </a:custGeom>
            <a:solidFill>
              <a:srgbClr val="F4F6F9"/>
            </a:solidFill>
          </p:spPr>
        </p:sp>
      </p:grpSp>
      <p:grpSp>
        <p:nvGrpSpPr>
          <p:cNvPr id="47" name="Group 47"/>
          <p:cNvGrpSpPr/>
          <p:nvPr/>
        </p:nvGrpSpPr>
        <p:grpSpPr>
          <a:xfrm>
            <a:off x="8181641" y="3882801"/>
            <a:ext cx="1320807" cy="1320807"/>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1E3D"/>
            </a:solidFill>
          </p:spPr>
        </p:sp>
        <p:sp>
          <p:nvSpPr>
            <p:cNvPr id="49" name="TextBox 49"/>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50" name="Freeform 50"/>
          <p:cNvSpPr/>
          <p:nvPr/>
        </p:nvSpPr>
        <p:spPr>
          <a:xfrm>
            <a:off x="8503951" y="4151780"/>
            <a:ext cx="676187" cy="782850"/>
          </a:xfrm>
          <a:custGeom>
            <a:avLst/>
            <a:gdLst/>
            <a:ahLst/>
            <a:cxnLst/>
            <a:rect l="l" t="t" r="r" b="b"/>
            <a:pathLst>
              <a:path w="676187" h="782850">
                <a:moveTo>
                  <a:pt x="0" y="0"/>
                </a:moveTo>
                <a:lnTo>
                  <a:pt x="676187" y="0"/>
                </a:lnTo>
                <a:lnTo>
                  <a:pt x="676187" y="782850"/>
                </a:lnTo>
                <a:lnTo>
                  <a:pt x="0" y="782850"/>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51" name="Group 51"/>
          <p:cNvGrpSpPr/>
          <p:nvPr/>
        </p:nvGrpSpPr>
        <p:grpSpPr>
          <a:xfrm>
            <a:off x="2627352" y="3882801"/>
            <a:ext cx="1320807" cy="1320807"/>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1E3D"/>
            </a:solidFill>
          </p:spPr>
        </p:sp>
        <p:sp>
          <p:nvSpPr>
            <p:cNvPr id="53" name="TextBox 53"/>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54" name="Freeform 54"/>
          <p:cNvSpPr/>
          <p:nvPr/>
        </p:nvSpPr>
        <p:spPr>
          <a:xfrm>
            <a:off x="2929896" y="4151780"/>
            <a:ext cx="715718" cy="729394"/>
          </a:xfrm>
          <a:custGeom>
            <a:avLst/>
            <a:gdLst/>
            <a:ahLst/>
            <a:cxnLst/>
            <a:rect l="l" t="t" r="r" b="b"/>
            <a:pathLst>
              <a:path w="715718" h="729394">
                <a:moveTo>
                  <a:pt x="0" y="0"/>
                </a:moveTo>
                <a:lnTo>
                  <a:pt x="715718" y="0"/>
                </a:lnTo>
                <a:lnTo>
                  <a:pt x="715718" y="729394"/>
                </a:lnTo>
                <a:lnTo>
                  <a:pt x="0" y="729394"/>
                </a:lnTo>
                <a:lnTo>
                  <a:pt x="0" y="0"/>
                </a:lnTo>
                <a:close/>
              </a:path>
            </a:pathLst>
          </a:custGeom>
          <a:blipFill>
            <a:blip r:embed="rId7"/>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grpSp>
        <p:nvGrpSpPr>
          <p:cNvPr id="2" name="Group 2"/>
          <p:cNvGrpSpPr/>
          <p:nvPr/>
        </p:nvGrpSpPr>
        <p:grpSpPr>
          <a:xfrm>
            <a:off x="-1133" y="0"/>
            <a:ext cx="129149" cy="10378082"/>
            <a:chOff x="0" y="0"/>
            <a:chExt cx="170688" cy="13716000"/>
          </a:xfrm>
        </p:grpSpPr>
        <p:sp>
          <p:nvSpPr>
            <p:cNvPr id="3" name="Freeform 3"/>
            <p:cNvSpPr/>
            <p:nvPr/>
          </p:nvSpPr>
          <p:spPr>
            <a:xfrm>
              <a:off x="0" y="0"/>
              <a:ext cx="170688" cy="13716000"/>
            </a:xfrm>
            <a:custGeom>
              <a:avLst/>
              <a:gdLst/>
              <a:ahLst/>
              <a:cxnLst/>
              <a:rect l="l" t="t" r="r" b="b"/>
              <a:pathLst>
                <a:path w="170688" h="13716000">
                  <a:moveTo>
                    <a:pt x="0" y="0"/>
                  </a:moveTo>
                  <a:lnTo>
                    <a:pt x="170688" y="0"/>
                  </a:lnTo>
                  <a:lnTo>
                    <a:pt x="170688" y="13716000"/>
                  </a:lnTo>
                  <a:lnTo>
                    <a:pt x="0" y="13716000"/>
                  </a:lnTo>
                  <a:close/>
                </a:path>
              </a:pathLst>
            </a:custGeom>
            <a:solidFill>
              <a:srgbClr val="C9A84C"/>
            </a:solidFill>
          </p:spPr>
        </p:sp>
      </p:grpSp>
      <p:grpSp>
        <p:nvGrpSpPr>
          <p:cNvPr id="4" name="Group 4"/>
          <p:cNvGrpSpPr/>
          <p:nvPr/>
        </p:nvGrpSpPr>
        <p:grpSpPr>
          <a:xfrm>
            <a:off x="1193275" y="1143700"/>
            <a:ext cx="7564946" cy="1224650"/>
            <a:chOff x="0" y="0"/>
            <a:chExt cx="10086595" cy="1632867"/>
          </a:xfrm>
        </p:grpSpPr>
        <p:sp>
          <p:nvSpPr>
            <p:cNvPr id="5" name="Freeform 5"/>
            <p:cNvSpPr/>
            <p:nvPr/>
          </p:nvSpPr>
          <p:spPr>
            <a:xfrm>
              <a:off x="0" y="0"/>
              <a:ext cx="10086594" cy="1632867"/>
            </a:xfrm>
            <a:custGeom>
              <a:avLst/>
              <a:gdLst/>
              <a:ahLst/>
              <a:cxnLst/>
              <a:rect l="l" t="t" r="r" b="b"/>
              <a:pathLst>
                <a:path w="10086594" h="1632867">
                  <a:moveTo>
                    <a:pt x="0" y="0"/>
                  </a:moveTo>
                  <a:lnTo>
                    <a:pt x="10086594" y="0"/>
                  </a:lnTo>
                  <a:lnTo>
                    <a:pt x="10086594" y="1632867"/>
                  </a:lnTo>
                  <a:lnTo>
                    <a:pt x="0" y="1632867"/>
                  </a:lnTo>
                  <a:close/>
                </a:path>
              </a:pathLst>
            </a:custGeom>
            <a:blipFill>
              <a:blip r:embed="rId3">
                <a:alphaModFix amt="0"/>
              </a:blip>
              <a:stretch>
                <a:fillRect t="-70821" r="-20873" b="-120153"/>
              </a:stretch>
            </a:blipFill>
          </p:spPr>
        </p:sp>
        <p:sp>
          <p:nvSpPr>
            <p:cNvPr id="6" name="TextBox 6"/>
            <p:cNvSpPr txBox="1"/>
            <p:nvPr/>
          </p:nvSpPr>
          <p:spPr>
            <a:xfrm>
              <a:off x="0" y="-133350"/>
              <a:ext cx="10086595" cy="1766217"/>
            </a:xfrm>
            <a:prstGeom prst="rect">
              <a:avLst/>
            </a:prstGeom>
          </p:spPr>
          <p:txBody>
            <a:bodyPr lIns="0" tIns="0" rIns="0" bIns="0" rtlCol="0" anchor="ctr"/>
            <a:lstStyle/>
            <a:p>
              <a:pPr algn="l">
                <a:lnSpc>
                  <a:spcPts val="7319"/>
                </a:lnSpc>
              </a:pPr>
              <a:r>
                <a:rPr lang="en-US" sz="6099" b="1" spc="-150" dirty="0">
                  <a:solidFill>
                    <a:srgbClr val="0B1E3D"/>
                  </a:solidFill>
                  <a:latin typeface="Calibri (MS) Bold"/>
                  <a:ea typeface="Calibri (MS) Bold"/>
                  <a:cs typeface="Calibri (MS) Bold"/>
                  <a:sym typeface="Calibri (MS) Bold"/>
                </a:rPr>
                <a:t>VAULT</a:t>
              </a:r>
              <a:r>
                <a:rPr lang="en-US" sz="6099" b="1" dirty="0">
                  <a:solidFill>
                    <a:srgbClr val="0B1E3D"/>
                  </a:solidFill>
                  <a:latin typeface="Calibri (MS) Bold"/>
                  <a:ea typeface="Calibri (MS) Bold"/>
                  <a:cs typeface="Calibri (MS) Bold"/>
                  <a:sym typeface="Calibri (MS) Bold"/>
                </a:rPr>
                <a:t> MANAGEMENT</a:t>
              </a:r>
            </a:p>
          </p:txBody>
        </p:sp>
      </p:grpSp>
      <p:grpSp>
        <p:nvGrpSpPr>
          <p:cNvPr id="7" name="Group 7"/>
          <p:cNvGrpSpPr/>
          <p:nvPr/>
        </p:nvGrpSpPr>
        <p:grpSpPr>
          <a:xfrm>
            <a:off x="1193275" y="2332443"/>
            <a:ext cx="2204040" cy="73152"/>
            <a:chOff x="0" y="0"/>
            <a:chExt cx="2938720" cy="97536"/>
          </a:xfrm>
        </p:grpSpPr>
        <p:sp>
          <p:nvSpPr>
            <p:cNvPr id="8" name="Freeform 8"/>
            <p:cNvSpPr/>
            <p:nvPr/>
          </p:nvSpPr>
          <p:spPr>
            <a:xfrm>
              <a:off x="0" y="0"/>
              <a:ext cx="2938720" cy="97536"/>
            </a:xfrm>
            <a:custGeom>
              <a:avLst/>
              <a:gdLst/>
              <a:ahLst/>
              <a:cxnLst/>
              <a:rect l="l" t="t" r="r" b="b"/>
              <a:pathLst>
                <a:path w="2938720" h="97536">
                  <a:moveTo>
                    <a:pt x="0" y="0"/>
                  </a:moveTo>
                  <a:lnTo>
                    <a:pt x="2938720" y="0"/>
                  </a:lnTo>
                  <a:lnTo>
                    <a:pt x="2938720" y="97536"/>
                  </a:lnTo>
                  <a:lnTo>
                    <a:pt x="0" y="97536"/>
                  </a:lnTo>
                  <a:close/>
                </a:path>
              </a:pathLst>
            </a:custGeom>
            <a:solidFill>
              <a:srgbClr val="C9A84C"/>
            </a:solidFill>
          </p:spPr>
        </p:sp>
      </p:grpSp>
      <p:grpSp>
        <p:nvGrpSpPr>
          <p:cNvPr id="9" name="Group 9"/>
          <p:cNvGrpSpPr/>
          <p:nvPr/>
        </p:nvGrpSpPr>
        <p:grpSpPr>
          <a:xfrm>
            <a:off x="1193275" y="3828655"/>
            <a:ext cx="833345" cy="809701"/>
            <a:chOff x="0" y="0"/>
            <a:chExt cx="1341120" cy="1303070"/>
          </a:xfrm>
        </p:grpSpPr>
        <p:sp>
          <p:nvSpPr>
            <p:cNvPr id="10" name="Freeform 10"/>
            <p:cNvSpPr/>
            <p:nvPr/>
          </p:nvSpPr>
          <p:spPr>
            <a:xfrm>
              <a:off x="0" y="0"/>
              <a:ext cx="1341120" cy="1303070"/>
            </a:xfrm>
            <a:custGeom>
              <a:avLst/>
              <a:gdLst/>
              <a:ahLst/>
              <a:cxnLst/>
              <a:rect l="l" t="t" r="r" b="b"/>
              <a:pathLst>
                <a:path w="1341120" h="1303070">
                  <a:moveTo>
                    <a:pt x="0" y="0"/>
                  </a:moveTo>
                  <a:lnTo>
                    <a:pt x="1341120" y="0"/>
                  </a:lnTo>
                  <a:lnTo>
                    <a:pt x="1341120" y="1303070"/>
                  </a:lnTo>
                  <a:lnTo>
                    <a:pt x="0" y="1303070"/>
                  </a:lnTo>
                  <a:close/>
                </a:path>
              </a:pathLst>
            </a:custGeom>
            <a:solidFill>
              <a:srgbClr val="0B1E3D"/>
            </a:solidFill>
          </p:spPr>
        </p:sp>
      </p:grpSp>
      <p:grpSp>
        <p:nvGrpSpPr>
          <p:cNvPr id="11" name="Group 11"/>
          <p:cNvGrpSpPr/>
          <p:nvPr/>
        </p:nvGrpSpPr>
        <p:grpSpPr>
          <a:xfrm>
            <a:off x="1314489" y="3906771"/>
            <a:ext cx="606069" cy="606069"/>
            <a:chOff x="0" y="0"/>
            <a:chExt cx="975360" cy="975360"/>
          </a:xfrm>
        </p:grpSpPr>
        <p:sp>
          <p:nvSpPr>
            <p:cNvPr id="12" name="Freeform 12" descr="preencoded.png"/>
            <p:cNvSpPr/>
            <p:nvPr/>
          </p:nvSpPr>
          <p:spPr>
            <a:xfrm>
              <a:off x="0" y="0"/>
              <a:ext cx="975360" cy="975360"/>
            </a:xfrm>
            <a:custGeom>
              <a:avLst/>
              <a:gdLst/>
              <a:ahLst/>
              <a:cxnLst/>
              <a:rect l="l" t="t" r="r" b="b"/>
              <a:pathLst>
                <a:path w="975360" h="975360">
                  <a:moveTo>
                    <a:pt x="0" y="0"/>
                  </a:moveTo>
                  <a:lnTo>
                    <a:pt x="975360" y="0"/>
                  </a:lnTo>
                  <a:lnTo>
                    <a:pt x="975360" y="975360"/>
                  </a:lnTo>
                  <a:lnTo>
                    <a:pt x="0" y="975360"/>
                  </a:lnTo>
                  <a:lnTo>
                    <a:pt x="0" y="0"/>
                  </a:lnTo>
                  <a:close/>
                </a:path>
              </a:pathLst>
            </a:custGeom>
            <a:blipFill>
              <a:blip r:embed="rId4"/>
              <a:stretch>
                <a:fillRect/>
              </a:stretch>
            </a:blipFill>
          </p:spPr>
        </p:sp>
      </p:grpSp>
      <p:grpSp>
        <p:nvGrpSpPr>
          <p:cNvPr id="13" name="Group 13"/>
          <p:cNvGrpSpPr/>
          <p:nvPr/>
        </p:nvGrpSpPr>
        <p:grpSpPr>
          <a:xfrm>
            <a:off x="1193275" y="4757570"/>
            <a:ext cx="822960" cy="901866"/>
            <a:chOff x="0" y="0"/>
            <a:chExt cx="1341120" cy="1469708"/>
          </a:xfrm>
        </p:grpSpPr>
        <p:sp>
          <p:nvSpPr>
            <p:cNvPr id="14" name="Freeform 14"/>
            <p:cNvSpPr/>
            <p:nvPr/>
          </p:nvSpPr>
          <p:spPr>
            <a:xfrm>
              <a:off x="0" y="0"/>
              <a:ext cx="1341120" cy="1469708"/>
            </a:xfrm>
            <a:custGeom>
              <a:avLst/>
              <a:gdLst/>
              <a:ahLst/>
              <a:cxnLst/>
              <a:rect l="l" t="t" r="r" b="b"/>
              <a:pathLst>
                <a:path w="1341120" h="1469708">
                  <a:moveTo>
                    <a:pt x="0" y="0"/>
                  </a:moveTo>
                  <a:lnTo>
                    <a:pt x="1341120" y="0"/>
                  </a:lnTo>
                  <a:lnTo>
                    <a:pt x="1341120" y="1469708"/>
                  </a:lnTo>
                  <a:lnTo>
                    <a:pt x="0" y="1469708"/>
                  </a:lnTo>
                  <a:close/>
                </a:path>
              </a:pathLst>
            </a:custGeom>
            <a:solidFill>
              <a:srgbClr val="2E5FAC"/>
            </a:solidFill>
          </p:spPr>
        </p:sp>
      </p:grpSp>
      <p:grpSp>
        <p:nvGrpSpPr>
          <p:cNvPr id="15" name="Group 15"/>
          <p:cNvGrpSpPr/>
          <p:nvPr/>
        </p:nvGrpSpPr>
        <p:grpSpPr>
          <a:xfrm>
            <a:off x="1312978" y="4935324"/>
            <a:ext cx="598516" cy="598516"/>
            <a:chOff x="0" y="0"/>
            <a:chExt cx="975360" cy="975360"/>
          </a:xfrm>
        </p:grpSpPr>
        <p:sp>
          <p:nvSpPr>
            <p:cNvPr id="16" name="Freeform 16" descr="preencoded.png"/>
            <p:cNvSpPr/>
            <p:nvPr/>
          </p:nvSpPr>
          <p:spPr>
            <a:xfrm>
              <a:off x="0" y="0"/>
              <a:ext cx="975360" cy="975360"/>
            </a:xfrm>
            <a:custGeom>
              <a:avLst/>
              <a:gdLst/>
              <a:ahLst/>
              <a:cxnLst/>
              <a:rect l="l" t="t" r="r" b="b"/>
              <a:pathLst>
                <a:path w="975360" h="975360">
                  <a:moveTo>
                    <a:pt x="0" y="0"/>
                  </a:moveTo>
                  <a:lnTo>
                    <a:pt x="975360" y="0"/>
                  </a:lnTo>
                  <a:lnTo>
                    <a:pt x="975360" y="975360"/>
                  </a:lnTo>
                  <a:lnTo>
                    <a:pt x="0" y="975360"/>
                  </a:lnTo>
                  <a:lnTo>
                    <a:pt x="0" y="0"/>
                  </a:lnTo>
                  <a:close/>
                </a:path>
              </a:pathLst>
            </a:custGeom>
            <a:blipFill>
              <a:blip r:embed="rId5"/>
              <a:stretch>
                <a:fillRect/>
              </a:stretch>
            </a:blipFill>
          </p:spPr>
        </p:sp>
      </p:grpSp>
      <p:grpSp>
        <p:nvGrpSpPr>
          <p:cNvPr id="17" name="Group 17"/>
          <p:cNvGrpSpPr/>
          <p:nvPr/>
        </p:nvGrpSpPr>
        <p:grpSpPr>
          <a:xfrm>
            <a:off x="1193275" y="5783261"/>
            <a:ext cx="833345" cy="885438"/>
            <a:chOff x="0" y="0"/>
            <a:chExt cx="1341120" cy="1424956"/>
          </a:xfrm>
        </p:grpSpPr>
        <p:sp>
          <p:nvSpPr>
            <p:cNvPr id="18" name="Freeform 18"/>
            <p:cNvSpPr/>
            <p:nvPr/>
          </p:nvSpPr>
          <p:spPr>
            <a:xfrm>
              <a:off x="0" y="0"/>
              <a:ext cx="1341120" cy="1424956"/>
            </a:xfrm>
            <a:custGeom>
              <a:avLst/>
              <a:gdLst/>
              <a:ahLst/>
              <a:cxnLst/>
              <a:rect l="l" t="t" r="r" b="b"/>
              <a:pathLst>
                <a:path w="1341120" h="1424956">
                  <a:moveTo>
                    <a:pt x="0" y="0"/>
                  </a:moveTo>
                  <a:lnTo>
                    <a:pt x="1341120" y="0"/>
                  </a:lnTo>
                  <a:lnTo>
                    <a:pt x="1341120" y="1424956"/>
                  </a:lnTo>
                  <a:lnTo>
                    <a:pt x="0" y="1424956"/>
                  </a:lnTo>
                  <a:close/>
                </a:path>
              </a:pathLst>
            </a:custGeom>
            <a:solidFill>
              <a:srgbClr val="0B1E3D"/>
            </a:solidFill>
          </p:spPr>
        </p:sp>
      </p:grpSp>
      <p:grpSp>
        <p:nvGrpSpPr>
          <p:cNvPr id="19" name="Group 19"/>
          <p:cNvGrpSpPr/>
          <p:nvPr/>
        </p:nvGrpSpPr>
        <p:grpSpPr>
          <a:xfrm>
            <a:off x="1314489" y="5970267"/>
            <a:ext cx="606069" cy="606069"/>
            <a:chOff x="0" y="0"/>
            <a:chExt cx="975360" cy="975360"/>
          </a:xfrm>
        </p:grpSpPr>
        <p:sp>
          <p:nvSpPr>
            <p:cNvPr id="20" name="Freeform 20" descr="preencoded.png"/>
            <p:cNvSpPr/>
            <p:nvPr/>
          </p:nvSpPr>
          <p:spPr>
            <a:xfrm>
              <a:off x="0" y="0"/>
              <a:ext cx="975360" cy="975360"/>
            </a:xfrm>
            <a:custGeom>
              <a:avLst/>
              <a:gdLst/>
              <a:ahLst/>
              <a:cxnLst/>
              <a:rect l="l" t="t" r="r" b="b"/>
              <a:pathLst>
                <a:path w="975360" h="975360">
                  <a:moveTo>
                    <a:pt x="0" y="0"/>
                  </a:moveTo>
                  <a:lnTo>
                    <a:pt x="975360" y="0"/>
                  </a:lnTo>
                  <a:lnTo>
                    <a:pt x="975360" y="975360"/>
                  </a:lnTo>
                  <a:lnTo>
                    <a:pt x="0" y="975360"/>
                  </a:lnTo>
                  <a:lnTo>
                    <a:pt x="0" y="0"/>
                  </a:lnTo>
                  <a:close/>
                </a:path>
              </a:pathLst>
            </a:custGeom>
            <a:blipFill>
              <a:blip r:embed="rId6"/>
              <a:stretch>
                <a:fillRect/>
              </a:stretch>
            </a:blipFill>
          </p:spPr>
        </p:sp>
      </p:grpSp>
      <p:grpSp>
        <p:nvGrpSpPr>
          <p:cNvPr id="21" name="Group 21"/>
          <p:cNvGrpSpPr/>
          <p:nvPr/>
        </p:nvGrpSpPr>
        <p:grpSpPr>
          <a:xfrm>
            <a:off x="1193275" y="6792525"/>
            <a:ext cx="806027" cy="752425"/>
            <a:chOff x="0" y="0"/>
            <a:chExt cx="1341120" cy="1251933"/>
          </a:xfrm>
        </p:grpSpPr>
        <p:sp>
          <p:nvSpPr>
            <p:cNvPr id="22" name="Freeform 22"/>
            <p:cNvSpPr/>
            <p:nvPr/>
          </p:nvSpPr>
          <p:spPr>
            <a:xfrm>
              <a:off x="0" y="0"/>
              <a:ext cx="1341120" cy="1251933"/>
            </a:xfrm>
            <a:custGeom>
              <a:avLst/>
              <a:gdLst/>
              <a:ahLst/>
              <a:cxnLst/>
              <a:rect l="l" t="t" r="r" b="b"/>
              <a:pathLst>
                <a:path w="1341120" h="1251933">
                  <a:moveTo>
                    <a:pt x="0" y="0"/>
                  </a:moveTo>
                  <a:lnTo>
                    <a:pt x="1341120" y="0"/>
                  </a:lnTo>
                  <a:lnTo>
                    <a:pt x="1341120" y="1251933"/>
                  </a:lnTo>
                  <a:lnTo>
                    <a:pt x="0" y="1251933"/>
                  </a:lnTo>
                  <a:close/>
                </a:path>
              </a:pathLst>
            </a:custGeom>
            <a:solidFill>
              <a:srgbClr val="2E5FAC"/>
            </a:solidFill>
          </p:spPr>
        </p:sp>
      </p:grpSp>
      <p:grpSp>
        <p:nvGrpSpPr>
          <p:cNvPr id="23" name="Group 23"/>
          <p:cNvGrpSpPr/>
          <p:nvPr/>
        </p:nvGrpSpPr>
        <p:grpSpPr>
          <a:xfrm>
            <a:off x="1310515" y="6808665"/>
            <a:ext cx="586202" cy="586202"/>
            <a:chOff x="0" y="0"/>
            <a:chExt cx="975360" cy="975360"/>
          </a:xfrm>
        </p:grpSpPr>
        <p:sp>
          <p:nvSpPr>
            <p:cNvPr id="24" name="Freeform 24" descr="preencoded.png"/>
            <p:cNvSpPr/>
            <p:nvPr/>
          </p:nvSpPr>
          <p:spPr>
            <a:xfrm>
              <a:off x="0" y="0"/>
              <a:ext cx="975360" cy="975360"/>
            </a:xfrm>
            <a:custGeom>
              <a:avLst/>
              <a:gdLst/>
              <a:ahLst/>
              <a:cxnLst/>
              <a:rect l="l" t="t" r="r" b="b"/>
              <a:pathLst>
                <a:path w="975360" h="975360">
                  <a:moveTo>
                    <a:pt x="0" y="0"/>
                  </a:moveTo>
                  <a:lnTo>
                    <a:pt x="975360" y="0"/>
                  </a:lnTo>
                  <a:lnTo>
                    <a:pt x="975360" y="975360"/>
                  </a:lnTo>
                  <a:lnTo>
                    <a:pt x="0" y="975360"/>
                  </a:lnTo>
                  <a:lnTo>
                    <a:pt x="0" y="0"/>
                  </a:lnTo>
                  <a:close/>
                </a:path>
              </a:pathLst>
            </a:custGeom>
            <a:blipFill>
              <a:blip r:embed="rId7"/>
              <a:stretch>
                <a:fillRect/>
              </a:stretch>
            </a:blipFill>
          </p:spPr>
        </p:sp>
      </p:grpSp>
      <p:grpSp>
        <p:nvGrpSpPr>
          <p:cNvPr id="25" name="Group 25"/>
          <p:cNvGrpSpPr/>
          <p:nvPr/>
        </p:nvGrpSpPr>
        <p:grpSpPr>
          <a:xfrm>
            <a:off x="1193275" y="8505875"/>
            <a:ext cx="806027" cy="752425"/>
            <a:chOff x="0" y="0"/>
            <a:chExt cx="1341120" cy="1251933"/>
          </a:xfrm>
        </p:grpSpPr>
        <p:sp>
          <p:nvSpPr>
            <p:cNvPr id="26" name="Freeform 26"/>
            <p:cNvSpPr/>
            <p:nvPr/>
          </p:nvSpPr>
          <p:spPr>
            <a:xfrm>
              <a:off x="0" y="0"/>
              <a:ext cx="1341120" cy="1251933"/>
            </a:xfrm>
            <a:custGeom>
              <a:avLst/>
              <a:gdLst/>
              <a:ahLst/>
              <a:cxnLst/>
              <a:rect l="l" t="t" r="r" b="b"/>
              <a:pathLst>
                <a:path w="1341120" h="1251933">
                  <a:moveTo>
                    <a:pt x="0" y="0"/>
                  </a:moveTo>
                  <a:lnTo>
                    <a:pt x="1341120" y="0"/>
                  </a:lnTo>
                  <a:lnTo>
                    <a:pt x="1341120" y="1251933"/>
                  </a:lnTo>
                  <a:lnTo>
                    <a:pt x="0" y="1251933"/>
                  </a:lnTo>
                  <a:close/>
                </a:path>
              </a:pathLst>
            </a:custGeom>
            <a:solidFill>
              <a:srgbClr val="0B1E3D"/>
            </a:solidFill>
          </p:spPr>
        </p:sp>
      </p:grpSp>
      <p:sp>
        <p:nvSpPr>
          <p:cNvPr id="27" name="Freeform 27"/>
          <p:cNvSpPr/>
          <p:nvPr/>
        </p:nvSpPr>
        <p:spPr>
          <a:xfrm>
            <a:off x="1288672" y="8601125"/>
            <a:ext cx="596023" cy="596023"/>
          </a:xfrm>
          <a:custGeom>
            <a:avLst/>
            <a:gdLst/>
            <a:ahLst/>
            <a:cxnLst/>
            <a:rect l="l" t="t" r="r" b="b"/>
            <a:pathLst>
              <a:path w="596023" h="596023">
                <a:moveTo>
                  <a:pt x="0" y="0"/>
                </a:moveTo>
                <a:lnTo>
                  <a:pt x="596023" y="0"/>
                </a:lnTo>
                <a:lnTo>
                  <a:pt x="596023" y="596023"/>
                </a:lnTo>
                <a:lnTo>
                  <a:pt x="0" y="596023"/>
                </a:lnTo>
                <a:lnTo>
                  <a:pt x="0" y="0"/>
                </a:lnTo>
                <a:close/>
              </a:path>
            </a:pathLst>
          </a:custGeom>
          <a:blipFill>
            <a:blip>
              <a:extLst>
                <a:ext uri="{96DAC541-7B7A-43D3-8B79-37D633B846F1}">
                  <asvg:svgBlip xmlns:asvg="http://schemas.microsoft.com/office/drawing/2016/SVG/main" r:embed="rId8"/>
                </a:ext>
              </a:extLst>
            </a:blip>
            <a:stretch>
              <a:fillRect/>
            </a:stretch>
          </a:blipFill>
        </p:spPr>
      </p:sp>
      <p:grpSp>
        <p:nvGrpSpPr>
          <p:cNvPr id="28" name="Group 28"/>
          <p:cNvGrpSpPr/>
          <p:nvPr/>
        </p:nvGrpSpPr>
        <p:grpSpPr>
          <a:xfrm>
            <a:off x="1200603" y="7668774"/>
            <a:ext cx="806027" cy="713276"/>
            <a:chOff x="0" y="0"/>
            <a:chExt cx="212287" cy="187859"/>
          </a:xfrm>
        </p:grpSpPr>
        <p:sp>
          <p:nvSpPr>
            <p:cNvPr id="29" name="Freeform 29"/>
            <p:cNvSpPr/>
            <p:nvPr/>
          </p:nvSpPr>
          <p:spPr>
            <a:xfrm>
              <a:off x="0" y="0"/>
              <a:ext cx="212287" cy="187859"/>
            </a:xfrm>
            <a:custGeom>
              <a:avLst/>
              <a:gdLst/>
              <a:ahLst/>
              <a:cxnLst/>
              <a:rect l="l" t="t" r="r" b="b"/>
              <a:pathLst>
                <a:path w="212287" h="187859">
                  <a:moveTo>
                    <a:pt x="0" y="0"/>
                  </a:moveTo>
                  <a:lnTo>
                    <a:pt x="212287" y="0"/>
                  </a:lnTo>
                  <a:lnTo>
                    <a:pt x="212287" y="187859"/>
                  </a:lnTo>
                  <a:lnTo>
                    <a:pt x="0" y="187859"/>
                  </a:lnTo>
                  <a:close/>
                </a:path>
              </a:pathLst>
            </a:custGeom>
            <a:solidFill>
              <a:srgbClr val="0B1E3D"/>
            </a:solidFill>
          </p:spPr>
        </p:sp>
        <p:sp>
          <p:nvSpPr>
            <p:cNvPr id="30" name="TextBox 30"/>
            <p:cNvSpPr txBox="1"/>
            <p:nvPr/>
          </p:nvSpPr>
          <p:spPr>
            <a:xfrm>
              <a:off x="0" y="-38100"/>
              <a:ext cx="212287" cy="225959"/>
            </a:xfrm>
            <a:prstGeom prst="rect">
              <a:avLst/>
            </a:prstGeom>
          </p:spPr>
          <p:txBody>
            <a:bodyPr lIns="50800" tIns="50800" rIns="50800" bIns="50800" rtlCol="0" anchor="ctr"/>
            <a:lstStyle/>
            <a:p>
              <a:pPr algn="ctr">
                <a:lnSpc>
                  <a:spcPts val="2160"/>
                </a:lnSpc>
              </a:pPr>
              <a:endParaRPr/>
            </a:p>
          </p:txBody>
        </p:sp>
      </p:grpSp>
      <p:sp>
        <p:nvSpPr>
          <p:cNvPr id="31" name="Freeform 31"/>
          <p:cNvSpPr/>
          <p:nvPr/>
        </p:nvSpPr>
        <p:spPr>
          <a:xfrm>
            <a:off x="1267278" y="7828642"/>
            <a:ext cx="612514" cy="393540"/>
          </a:xfrm>
          <a:custGeom>
            <a:avLst/>
            <a:gdLst/>
            <a:ahLst/>
            <a:cxnLst/>
            <a:rect l="l" t="t" r="r" b="b"/>
            <a:pathLst>
              <a:path w="612514" h="393540">
                <a:moveTo>
                  <a:pt x="0" y="0"/>
                </a:moveTo>
                <a:lnTo>
                  <a:pt x="612514" y="0"/>
                </a:lnTo>
                <a:lnTo>
                  <a:pt x="612514" y="393540"/>
                </a:lnTo>
                <a:lnTo>
                  <a:pt x="0" y="393540"/>
                </a:lnTo>
                <a:lnTo>
                  <a:pt x="0" y="0"/>
                </a:lnTo>
                <a:close/>
              </a:path>
            </a:pathLst>
          </a:custGeom>
          <a:blipFill>
            <a:blip r:embed="rId9"/>
            <a:stretch>
              <a:fillRect/>
            </a:stretch>
          </a:blipFill>
        </p:spPr>
      </p:sp>
      <p:sp>
        <p:nvSpPr>
          <p:cNvPr id="32" name="TextBox 32"/>
          <p:cNvSpPr txBox="1"/>
          <p:nvPr/>
        </p:nvSpPr>
        <p:spPr>
          <a:xfrm>
            <a:off x="2324078" y="3757317"/>
            <a:ext cx="11620521" cy="733021"/>
          </a:xfrm>
          <a:prstGeom prst="rect">
            <a:avLst/>
          </a:prstGeom>
        </p:spPr>
        <p:txBody>
          <a:bodyPr wrap="square" lIns="0" tIns="0" rIns="0" bIns="0" rtlCol="0" anchor="t">
            <a:spAutoFit/>
          </a:bodyPr>
          <a:lstStyle/>
          <a:p>
            <a:pPr algn="l">
              <a:lnSpc>
                <a:spcPts val="6050"/>
              </a:lnSpc>
            </a:pPr>
            <a:r>
              <a:rPr lang="en-US" sz="4321" b="1" dirty="0">
                <a:solidFill>
                  <a:srgbClr val="000000"/>
                </a:solidFill>
                <a:latin typeface="Calibri (MS) Bold"/>
                <a:ea typeface="Calibri (MS) Bold"/>
                <a:cs typeface="Calibri (MS) Bold"/>
                <a:sym typeface="Calibri (MS) Bold"/>
              </a:rPr>
              <a:t>Authenticate and sort cash into fit and unfit notes</a:t>
            </a:r>
          </a:p>
        </p:txBody>
      </p:sp>
      <p:sp>
        <p:nvSpPr>
          <p:cNvPr id="33" name="TextBox 33"/>
          <p:cNvSpPr txBox="1"/>
          <p:nvPr/>
        </p:nvSpPr>
        <p:spPr>
          <a:xfrm>
            <a:off x="2324079" y="4710939"/>
            <a:ext cx="11172111" cy="823677"/>
          </a:xfrm>
          <a:prstGeom prst="rect">
            <a:avLst/>
          </a:prstGeom>
        </p:spPr>
        <p:txBody>
          <a:bodyPr lIns="0" tIns="0" rIns="0" bIns="0" rtlCol="0" anchor="t">
            <a:spAutoFit/>
          </a:bodyPr>
          <a:lstStyle/>
          <a:p>
            <a:pPr algn="l">
              <a:lnSpc>
                <a:spcPts val="6050"/>
              </a:lnSpc>
            </a:pPr>
            <a:r>
              <a:rPr lang="en-US" sz="4321" b="1">
                <a:solidFill>
                  <a:srgbClr val="000000"/>
                </a:solidFill>
                <a:latin typeface="Calibri (MS) Bold"/>
                <a:ea typeface="Calibri (MS) Bold"/>
                <a:cs typeface="Calibri (MS) Bold"/>
                <a:sym typeface="Calibri (MS) Bold"/>
              </a:rPr>
              <a:t>Supply only fit notes to Bank branches and DMBs</a:t>
            </a:r>
          </a:p>
        </p:txBody>
      </p:sp>
      <p:sp>
        <p:nvSpPr>
          <p:cNvPr id="34" name="TextBox 34"/>
          <p:cNvSpPr txBox="1"/>
          <p:nvPr/>
        </p:nvSpPr>
        <p:spPr>
          <a:xfrm>
            <a:off x="2324079" y="5806922"/>
            <a:ext cx="7626072" cy="823677"/>
          </a:xfrm>
          <a:prstGeom prst="rect">
            <a:avLst/>
          </a:prstGeom>
        </p:spPr>
        <p:txBody>
          <a:bodyPr lIns="0" tIns="0" rIns="0" bIns="0" rtlCol="0" anchor="t">
            <a:spAutoFit/>
          </a:bodyPr>
          <a:lstStyle/>
          <a:p>
            <a:pPr algn="l">
              <a:lnSpc>
                <a:spcPts val="6050"/>
              </a:lnSpc>
            </a:pPr>
            <a:r>
              <a:rPr lang="en-US" sz="4321" b="1">
                <a:solidFill>
                  <a:srgbClr val="000000"/>
                </a:solidFill>
                <a:latin typeface="Calibri (MS) Bold"/>
                <a:ea typeface="Calibri (MS) Bold"/>
                <a:cs typeface="Calibri (MS) Bold"/>
                <a:sym typeface="Calibri (MS) Bold"/>
              </a:rPr>
              <a:t>Repatriate the unfit notes to BOG</a:t>
            </a:r>
          </a:p>
        </p:txBody>
      </p:sp>
      <p:sp>
        <p:nvSpPr>
          <p:cNvPr id="35" name="TextBox 35"/>
          <p:cNvSpPr txBox="1"/>
          <p:nvPr/>
        </p:nvSpPr>
        <p:spPr>
          <a:xfrm>
            <a:off x="2324079" y="6721272"/>
            <a:ext cx="11121510" cy="823677"/>
          </a:xfrm>
          <a:prstGeom prst="rect">
            <a:avLst/>
          </a:prstGeom>
        </p:spPr>
        <p:txBody>
          <a:bodyPr lIns="0" tIns="0" rIns="0" bIns="0" rtlCol="0" anchor="t">
            <a:spAutoFit/>
          </a:bodyPr>
          <a:lstStyle/>
          <a:p>
            <a:pPr algn="l">
              <a:lnSpc>
                <a:spcPts val="6050"/>
              </a:lnSpc>
            </a:pPr>
            <a:r>
              <a:rPr lang="en-US" sz="4321" b="1">
                <a:solidFill>
                  <a:srgbClr val="000000"/>
                </a:solidFill>
                <a:latin typeface="Calibri (MS) Bold"/>
                <a:ea typeface="Calibri (MS) Bold"/>
                <a:cs typeface="Calibri (MS) Bold"/>
                <a:sym typeface="Calibri (MS) Bold"/>
              </a:rPr>
              <a:t>Talk about the Recirculation or Clean note policy </a:t>
            </a:r>
          </a:p>
        </p:txBody>
      </p:sp>
      <p:sp>
        <p:nvSpPr>
          <p:cNvPr id="36" name="TextBox 36"/>
          <p:cNvSpPr txBox="1"/>
          <p:nvPr/>
        </p:nvSpPr>
        <p:spPr>
          <a:xfrm>
            <a:off x="2324079" y="7657192"/>
            <a:ext cx="12378214" cy="823677"/>
          </a:xfrm>
          <a:prstGeom prst="rect">
            <a:avLst/>
          </a:prstGeom>
        </p:spPr>
        <p:txBody>
          <a:bodyPr lIns="0" tIns="0" rIns="0" bIns="0" rtlCol="0" anchor="t">
            <a:spAutoFit/>
          </a:bodyPr>
          <a:lstStyle/>
          <a:p>
            <a:pPr algn="l">
              <a:lnSpc>
                <a:spcPts val="6050"/>
              </a:lnSpc>
            </a:pPr>
            <a:r>
              <a:rPr lang="en-US" sz="4321" b="1">
                <a:solidFill>
                  <a:srgbClr val="000000"/>
                </a:solidFill>
                <a:latin typeface="Calibri (MS) Bold"/>
                <a:ea typeface="Calibri (MS) Bold"/>
                <a:cs typeface="Calibri (MS) Bold"/>
                <a:sym typeface="Calibri (MS) Bold"/>
              </a:rPr>
              <a:t>Ensure correct wrappers are used for the correct notes</a:t>
            </a:r>
          </a:p>
        </p:txBody>
      </p:sp>
      <p:sp>
        <p:nvSpPr>
          <p:cNvPr id="37" name="TextBox 37"/>
          <p:cNvSpPr txBox="1"/>
          <p:nvPr/>
        </p:nvSpPr>
        <p:spPr>
          <a:xfrm>
            <a:off x="2324079" y="8429675"/>
            <a:ext cx="12125802" cy="823677"/>
          </a:xfrm>
          <a:prstGeom prst="rect">
            <a:avLst/>
          </a:prstGeom>
        </p:spPr>
        <p:txBody>
          <a:bodyPr lIns="0" tIns="0" rIns="0" bIns="0" rtlCol="0" anchor="t">
            <a:spAutoFit/>
          </a:bodyPr>
          <a:lstStyle/>
          <a:p>
            <a:pPr algn="l">
              <a:lnSpc>
                <a:spcPts val="6050"/>
              </a:lnSpc>
            </a:pPr>
            <a:r>
              <a:rPr lang="en-US" sz="4321" b="1" dirty="0">
                <a:solidFill>
                  <a:srgbClr val="000000"/>
                </a:solidFill>
                <a:latin typeface="Calibri (MS) Bold"/>
                <a:ea typeface="Calibri (MS) Bold"/>
                <a:cs typeface="Calibri (MS) Bold"/>
                <a:sym typeface="Calibri (MS) Bold"/>
              </a:rPr>
              <a:t>Ensure monies are kept in BOG trays for safe keeping </a:t>
            </a:r>
          </a:p>
        </p:txBody>
      </p:sp>
      <p:grpSp>
        <p:nvGrpSpPr>
          <p:cNvPr id="38" name="Group 38"/>
          <p:cNvGrpSpPr/>
          <p:nvPr/>
        </p:nvGrpSpPr>
        <p:grpSpPr>
          <a:xfrm>
            <a:off x="1193275" y="774153"/>
            <a:ext cx="1367045" cy="548640"/>
            <a:chOff x="0" y="0"/>
            <a:chExt cx="1822727" cy="731520"/>
          </a:xfrm>
        </p:grpSpPr>
        <p:sp>
          <p:nvSpPr>
            <p:cNvPr id="39" name="Freeform 39"/>
            <p:cNvSpPr/>
            <p:nvPr/>
          </p:nvSpPr>
          <p:spPr>
            <a:xfrm>
              <a:off x="0" y="0"/>
              <a:ext cx="1822727" cy="731520"/>
            </a:xfrm>
            <a:custGeom>
              <a:avLst/>
              <a:gdLst/>
              <a:ahLst/>
              <a:cxnLst/>
              <a:rect l="l" t="t" r="r" b="b"/>
              <a:pathLst>
                <a:path w="1822727" h="731520">
                  <a:moveTo>
                    <a:pt x="0" y="0"/>
                  </a:moveTo>
                  <a:lnTo>
                    <a:pt x="1822727" y="0"/>
                  </a:lnTo>
                  <a:lnTo>
                    <a:pt x="1822727" y="731520"/>
                  </a:lnTo>
                  <a:lnTo>
                    <a:pt x="0" y="731520"/>
                  </a:lnTo>
                  <a:close/>
                </a:path>
              </a:pathLst>
            </a:custGeom>
            <a:blipFill>
              <a:blip r:embed="rId3">
                <a:alphaModFix amt="0"/>
              </a:blip>
              <a:stretch>
                <a:fillRect t="-131860" r="-274577" b="-131860"/>
              </a:stretch>
            </a:blipFill>
          </p:spPr>
        </p:sp>
        <p:sp>
          <p:nvSpPr>
            <p:cNvPr id="40" name="TextBox 40"/>
            <p:cNvSpPr txBox="1"/>
            <p:nvPr/>
          </p:nvSpPr>
          <p:spPr>
            <a:xfrm>
              <a:off x="0" y="-38100"/>
              <a:ext cx="1822727" cy="769620"/>
            </a:xfrm>
            <a:prstGeom prst="rect">
              <a:avLst/>
            </a:prstGeom>
          </p:spPr>
          <p:txBody>
            <a:bodyPr lIns="0" tIns="0" rIns="0" bIns="0" rtlCol="0" anchor="ctr"/>
            <a:lstStyle/>
            <a:p>
              <a:pPr algn="l">
                <a:lnSpc>
                  <a:spcPts val="2400"/>
                </a:lnSpc>
              </a:pPr>
              <a:r>
                <a:rPr lang="en-US" sz="2000">
                  <a:solidFill>
                    <a:srgbClr val="0B1E3D"/>
                  </a:solidFill>
                  <a:latin typeface="Calibri (MS)"/>
                  <a:ea typeface="Calibri (MS)"/>
                  <a:cs typeface="Calibri (MS)"/>
                  <a:sym typeface="Calibri (MS)"/>
                </a:rPr>
                <a:t>PILLAR TWO</a:t>
              </a:r>
            </a:p>
          </p:txBody>
        </p:sp>
      </p:grpSp>
      <p:grpSp>
        <p:nvGrpSpPr>
          <p:cNvPr id="41" name="Group 41"/>
          <p:cNvGrpSpPr/>
          <p:nvPr/>
        </p:nvGrpSpPr>
        <p:grpSpPr>
          <a:xfrm>
            <a:off x="14361352" y="1038496"/>
            <a:ext cx="2897948" cy="548640"/>
            <a:chOff x="0" y="0"/>
            <a:chExt cx="3863931" cy="731520"/>
          </a:xfrm>
        </p:grpSpPr>
        <p:sp>
          <p:nvSpPr>
            <p:cNvPr id="42" name="Freeform 42"/>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43" name="TextBox 43"/>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0B1E3D"/>
                  </a:solidFill>
                  <a:latin typeface="Calibri (MS)"/>
                  <a:ea typeface="Calibri (MS)"/>
                  <a:cs typeface="Calibri (MS)"/>
                  <a:sym typeface="Calibri (MS)"/>
                </a:rPr>
                <a:t>GCB Bank PLC</a:t>
              </a:r>
            </a:p>
          </p:txBody>
        </p:sp>
      </p:grpSp>
      <p:sp>
        <p:nvSpPr>
          <p:cNvPr id="44" name="Freeform 44"/>
          <p:cNvSpPr/>
          <p:nvPr/>
        </p:nvSpPr>
        <p:spPr>
          <a:xfrm>
            <a:off x="13646663" y="1028700"/>
            <a:ext cx="651948" cy="541537"/>
          </a:xfrm>
          <a:custGeom>
            <a:avLst/>
            <a:gdLst/>
            <a:ahLst/>
            <a:cxnLst/>
            <a:rect l="l" t="t" r="r" b="b"/>
            <a:pathLst>
              <a:path w="651948" h="541537">
                <a:moveTo>
                  <a:pt x="0" y="0"/>
                </a:moveTo>
                <a:lnTo>
                  <a:pt x="651948" y="0"/>
                </a:lnTo>
                <a:lnTo>
                  <a:pt x="651948" y="541537"/>
                </a:lnTo>
                <a:lnTo>
                  <a:pt x="0" y="541537"/>
                </a:lnTo>
                <a:lnTo>
                  <a:pt x="0" y="0"/>
                </a:lnTo>
                <a:close/>
              </a:path>
            </a:pathLst>
          </a:custGeom>
          <a:blipFill>
            <a:blip r:embed="rId10"/>
            <a:stretch>
              <a:fillRect/>
            </a:stretch>
          </a:blipFill>
        </p:spPr>
      </p:sp>
      <p:grpSp>
        <p:nvGrpSpPr>
          <p:cNvPr id="45" name="Group 45"/>
          <p:cNvGrpSpPr/>
          <p:nvPr/>
        </p:nvGrpSpPr>
        <p:grpSpPr>
          <a:xfrm>
            <a:off x="1193275" y="2541011"/>
            <a:ext cx="4261458" cy="782819"/>
            <a:chOff x="0" y="0"/>
            <a:chExt cx="5681944" cy="1043759"/>
          </a:xfrm>
        </p:grpSpPr>
        <p:sp>
          <p:nvSpPr>
            <p:cNvPr id="46" name="Freeform 46"/>
            <p:cNvSpPr/>
            <p:nvPr/>
          </p:nvSpPr>
          <p:spPr>
            <a:xfrm>
              <a:off x="0" y="0"/>
              <a:ext cx="5681944" cy="1043759"/>
            </a:xfrm>
            <a:custGeom>
              <a:avLst/>
              <a:gdLst/>
              <a:ahLst/>
              <a:cxnLst/>
              <a:rect l="l" t="t" r="r" b="b"/>
              <a:pathLst>
                <a:path w="5681944" h="1043759">
                  <a:moveTo>
                    <a:pt x="0" y="0"/>
                  </a:moveTo>
                  <a:lnTo>
                    <a:pt x="5681944" y="0"/>
                  </a:lnTo>
                  <a:lnTo>
                    <a:pt x="5681944" y="1043759"/>
                  </a:lnTo>
                  <a:lnTo>
                    <a:pt x="0" y="1043759"/>
                  </a:lnTo>
                  <a:close/>
                </a:path>
              </a:pathLst>
            </a:custGeom>
            <a:blipFill>
              <a:blip r:embed="rId3">
                <a:alphaModFix amt="0"/>
              </a:blip>
              <a:stretch>
                <a:fillRect t="-110793" r="-114574" b="-244410"/>
              </a:stretch>
            </a:blipFill>
          </p:spPr>
        </p:sp>
        <p:sp>
          <p:nvSpPr>
            <p:cNvPr id="47" name="TextBox 47"/>
            <p:cNvSpPr txBox="1"/>
            <p:nvPr/>
          </p:nvSpPr>
          <p:spPr>
            <a:xfrm>
              <a:off x="0" y="-76200"/>
              <a:ext cx="5681944" cy="1119959"/>
            </a:xfrm>
            <a:prstGeom prst="rect">
              <a:avLst/>
            </a:prstGeom>
          </p:spPr>
          <p:txBody>
            <a:bodyPr lIns="0" tIns="0" rIns="0" bIns="0" rtlCol="0" anchor="ctr"/>
            <a:lstStyle/>
            <a:p>
              <a:pPr algn="l">
                <a:lnSpc>
                  <a:spcPts val="4200"/>
                </a:lnSpc>
              </a:pPr>
              <a:r>
                <a:rPr lang="en-US" sz="3500" b="1">
                  <a:solidFill>
                    <a:srgbClr val="0B1E3D"/>
                  </a:solidFill>
                  <a:latin typeface="Calibri (MS) Bold"/>
                  <a:ea typeface="Calibri (MS) Bold"/>
                  <a:cs typeface="Calibri (MS) Bold"/>
                  <a:sym typeface="Calibri (MS) Bold"/>
                </a:rPr>
                <a:t>GCB &amp; BOG VAULTS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C9A84C"/>
            </a:solidFill>
          </p:spPr>
        </p:sp>
      </p:grpSp>
      <p:grpSp>
        <p:nvGrpSpPr>
          <p:cNvPr id="4" name="Group 4"/>
          <p:cNvGrpSpPr/>
          <p:nvPr/>
        </p:nvGrpSpPr>
        <p:grpSpPr>
          <a:xfrm>
            <a:off x="1028700" y="1455181"/>
            <a:ext cx="11031131" cy="1224651"/>
            <a:chOff x="0" y="0"/>
            <a:chExt cx="14708175" cy="1632868"/>
          </a:xfrm>
        </p:grpSpPr>
        <p:sp>
          <p:nvSpPr>
            <p:cNvPr id="5" name="Freeform 5"/>
            <p:cNvSpPr/>
            <p:nvPr/>
          </p:nvSpPr>
          <p:spPr>
            <a:xfrm>
              <a:off x="0" y="0"/>
              <a:ext cx="14708175" cy="1632868"/>
            </a:xfrm>
            <a:custGeom>
              <a:avLst/>
              <a:gdLst/>
              <a:ahLst/>
              <a:cxnLst/>
              <a:rect l="l" t="t" r="r" b="b"/>
              <a:pathLst>
                <a:path w="14708175" h="1632868">
                  <a:moveTo>
                    <a:pt x="0" y="0"/>
                  </a:moveTo>
                  <a:lnTo>
                    <a:pt x="14708175" y="0"/>
                  </a:lnTo>
                  <a:lnTo>
                    <a:pt x="14708175" y="1632868"/>
                  </a:lnTo>
                  <a:lnTo>
                    <a:pt x="0" y="1632868"/>
                  </a:lnTo>
                  <a:close/>
                </a:path>
              </a:pathLst>
            </a:custGeom>
            <a:blipFill>
              <a:blip r:embed="rId3">
                <a:alphaModFix amt="0"/>
              </a:blip>
              <a:stretch>
                <a:fillRect t="-212905" r="-42575" b="-187571"/>
              </a:stretch>
            </a:blipFill>
          </p:spPr>
        </p:sp>
        <p:sp>
          <p:nvSpPr>
            <p:cNvPr id="6" name="TextBox 6"/>
            <p:cNvSpPr txBox="1"/>
            <p:nvPr/>
          </p:nvSpPr>
          <p:spPr>
            <a:xfrm>
              <a:off x="0" y="-133350"/>
              <a:ext cx="14708175" cy="1766218"/>
            </a:xfrm>
            <a:prstGeom prst="rect">
              <a:avLst/>
            </a:prstGeom>
          </p:spPr>
          <p:txBody>
            <a:bodyPr lIns="0" tIns="0" rIns="0" bIns="0" rtlCol="0" anchor="ctr"/>
            <a:lstStyle/>
            <a:p>
              <a:pPr algn="l">
                <a:lnSpc>
                  <a:spcPts val="7319"/>
                </a:lnSpc>
              </a:pPr>
              <a:r>
                <a:rPr lang="en-US" sz="6099" b="1">
                  <a:solidFill>
                    <a:srgbClr val="C9A84C"/>
                  </a:solidFill>
                  <a:latin typeface="Calibri (MS) Bold"/>
                  <a:ea typeface="Calibri (MS) Bold"/>
                  <a:cs typeface="Calibri (MS) Bold"/>
                  <a:sym typeface="Calibri (MS) Bold"/>
                </a:rPr>
                <a:t>RECORDS MANAGEMENT</a:t>
              </a:r>
            </a:p>
          </p:txBody>
        </p:sp>
      </p:grpSp>
      <p:grpSp>
        <p:nvGrpSpPr>
          <p:cNvPr id="7" name="Group 7"/>
          <p:cNvGrpSpPr/>
          <p:nvPr/>
        </p:nvGrpSpPr>
        <p:grpSpPr>
          <a:xfrm>
            <a:off x="1336156" y="3600450"/>
            <a:ext cx="14036328" cy="2217452"/>
            <a:chOff x="0" y="0"/>
            <a:chExt cx="3696811" cy="584020"/>
          </a:xfrm>
        </p:grpSpPr>
        <p:sp>
          <p:nvSpPr>
            <p:cNvPr id="8" name="Freeform 8"/>
            <p:cNvSpPr/>
            <p:nvPr/>
          </p:nvSpPr>
          <p:spPr>
            <a:xfrm>
              <a:off x="0" y="0"/>
              <a:ext cx="3696811" cy="584020"/>
            </a:xfrm>
            <a:custGeom>
              <a:avLst/>
              <a:gdLst/>
              <a:ahLst/>
              <a:cxnLst/>
              <a:rect l="l" t="t" r="r" b="b"/>
              <a:pathLst>
                <a:path w="3696811" h="584020">
                  <a:moveTo>
                    <a:pt x="17098" y="0"/>
                  </a:moveTo>
                  <a:lnTo>
                    <a:pt x="3679712" y="0"/>
                  </a:lnTo>
                  <a:cubicBezTo>
                    <a:pt x="3684247" y="0"/>
                    <a:pt x="3688596" y="1801"/>
                    <a:pt x="3691803" y="5008"/>
                  </a:cubicBezTo>
                  <a:cubicBezTo>
                    <a:pt x="3695009" y="8215"/>
                    <a:pt x="3696811" y="12564"/>
                    <a:pt x="3696811" y="17098"/>
                  </a:cubicBezTo>
                  <a:lnTo>
                    <a:pt x="3696811" y="566922"/>
                  </a:lnTo>
                  <a:cubicBezTo>
                    <a:pt x="3696811" y="571457"/>
                    <a:pt x="3695009" y="575806"/>
                    <a:pt x="3691803" y="579012"/>
                  </a:cubicBezTo>
                  <a:cubicBezTo>
                    <a:pt x="3688596" y="582219"/>
                    <a:pt x="3684247" y="584020"/>
                    <a:pt x="3679712" y="584020"/>
                  </a:cubicBezTo>
                  <a:lnTo>
                    <a:pt x="17098" y="584020"/>
                  </a:lnTo>
                  <a:cubicBezTo>
                    <a:pt x="12564" y="584020"/>
                    <a:pt x="8215" y="582219"/>
                    <a:pt x="5008" y="579012"/>
                  </a:cubicBezTo>
                  <a:cubicBezTo>
                    <a:pt x="1801" y="575806"/>
                    <a:pt x="0" y="571457"/>
                    <a:pt x="0" y="566922"/>
                  </a:cubicBezTo>
                  <a:lnTo>
                    <a:pt x="0" y="17098"/>
                  </a:lnTo>
                  <a:cubicBezTo>
                    <a:pt x="0" y="12564"/>
                    <a:pt x="1801" y="8215"/>
                    <a:pt x="5008" y="5008"/>
                  </a:cubicBezTo>
                  <a:cubicBezTo>
                    <a:pt x="8215" y="1801"/>
                    <a:pt x="12564" y="0"/>
                    <a:pt x="17098" y="0"/>
                  </a:cubicBezTo>
                  <a:close/>
                </a:path>
              </a:pathLst>
            </a:custGeom>
            <a:solidFill>
              <a:srgbClr val="1A3A6E"/>
            </a:solidFill>
            <a:ln w="38100" cap="rnd">
              <a:solidFill>
                <a:srgbClr val="C9A84C"/>
              </a:solidFill>
              <a:prstDash val="solid"/>
              <a:round/>
            </a:ln>
          </p:spPr>
        </p:sp>
        <p:sp>
          <p:nvSpPr>
            <p:cNvPr id="9" name="TextBox 9"/>
            <p:cNvSpPr txBox="1"/>
            <p:nvPr/>
          </p:nvSpPr>
          <p:spPr>
            <a:xfrm>
              <a:off x="0" y="-38100"/>
              <a:ext cx="3696811" cy="622120"/>
            </a:xfrm>
            <a:prstGeom prst="rect">
              <a:avLst/>
            </a:prstGeom>
          </p:spPr>
          <p:txBody>
            <a:bodyPr lIns="50800" tIns="50800" rIns="50800" bIns="50800" rtlCol="0" anchor="ctr"/>
            <a:lstStyle/>
            <a:p>
              <a:pPr algn="ctr">
                <a:lnSpc>
                  <a:spcPts val="2160"/>
                </a:lnSpc>
              </a:pPr>
              <a:endParaRPr/>
            </a:p>
          </p:txBody>
        </p:sp>
      </p:grpSp>
      <p:grpSp>
        <p:nvGrpSpPr>
          <p:cNvPr id="10" name="Group 10"/>
          <p:cNvGrpSpPr/>
          <p:nvPr/>
        </p:nvGrpSpPr>
        <p:grpSpPr>
          <a:xfrm>
            <a:off x="3740034" y="3967474"/>
            <a:ext cx="11452294" cy="1483404"/>
            <a:chOff x="0" y="0"/>
            <a:chExt cx="15269725" cy="1977872"/>
          </a:xfrm>
        </p:grpSpPr>
        <p:sp>
          <p:nvSpPr>
            <p:cNvPr id="11" name="Freeform 11"/>
            <p:cNvSpPr/>
            <p:nvPr/>
          </p:nvSpPr>
          <p:spPr>
            <a:xfrm>
              <a:off x="0" y="0"/>
              <a:ext cx="15269725" cy="1977872"/>
            </a:xfrm>
            <a:custGeom>
              <a:avLst/>
              <a:gdLst/>
              <a:ahLst/>
              <a:cxnLst/>
              <a:rect l="l" t="t" r="r" b="b"/>
              <a:pathLst>
                <a:path w="15269725" h="1977872">
                  <a:moveTo>
                    <a:pt x="0" y="0"/>
                  </a:moveTo>
                  <a:lnTo>
                    <a:pt x="15269725" y="0"/>
                  </a:lnTo>
                  <a:lnTo>
                    <a:pt x="15269725" y="1977872"/>
                  </a:lnTo>
                  <a:lnTo>
                    <a:pt x="0" y="1977872"/>
                  </a:lnTo>
                  <a:close/>
                </a:path>
              </a:pathLst>
            </a:custGeom>
            <a:solidFill>
              <a:srgbClr val="E8C96B">
                <a:alpha val="0"/>
              </a:srgbClr>
            </a:solidFill>
          </p:spPr>
        </p:sp>
        <p:sp>
          <p:nvSpPr>
            <p:cNvPr id="12" name="TextBox 12"/>
            <p:cNvSpPr txBox="1"/>
            <p:nvPr/>
          </p:nvSpPr>
          <p:spPr>
            <a:xfrm>
              <a:off x="0" y="-85725"/>
              <a:ext cx="15269725" cy="2063597"/>
            </a:xfrm>
            <a:prstGeom prst="rect">
              <a:avLst/>
            </a:prstGeom>
          </p:spPr>
          <p:txBody>
            <a:bodyPr lIns="0" tIns="0" rIns="0" bIns="0" rtlCol="0" anchor="ctr"/>
            <a:lstStyle/>
            <a:p>
              <a:pPr algn="l">
                <a:lnSpc>
                  <a:spcPts val="5039"/>
                </a:lnSpc>
              </a:pPr>
              <a:r>
                <a:rPr lang="en-US" sz="4199" b="1">
                  <a:solidFill>
                    <a:srgbClr val="E8C96B"/>
                  </a:solidFill>
                  <a:latin typeface="Calibri (MS) Bold"/>
                  <a:ea typeface="Calibri (MS) Bold"/>
                  <a:cs typeface="Calibri (MS) Bold"/>
                  <a:sym typeface="Calibri (MS) Bold"/>
                </a:rPr>
                <a:t>Accurate transaction inputting and records keeping to prevent imbalances </a:t>
              </a:r>
            </a:p>
          </p:txBody>
        </p:sp>
      </p:grpSp>
      <p:grpSp>
        <p:nvGrpSpPr>
          <p:cNvPr id="13" name="Group 13"/>
          <p:cNvGrpSpPr/>
          <p:nvPr/>
        </p:nvGrpSpPr>
        <p:grpSpPr>
          <a:xfrm>
            <a:off x="1028700" y="2606680"/>
            <a:ext cx="2204040" cy="73152"/>
            <a:chOff x="0" y="0"/>
            <a:chExt cx="2938720" cy="97536"/>
          </a:xfrm>
        </p:grpSpPr>
        <p:sp>
          <p:nvSpPr>
            <p:cNvPr id="14" name="Freeform 14"/>
            <p:cNvSpPr/>
            <p:nvPr/>
          </p:nvSpPr>
          <p:spPr>
            <a:xfrm>
              <a:off x="0" y="0"/>
              <a:ext cx="2938720" cy="97536"/>
            </a:xfrm>
            <a:custGeom>
              <a:avLst/>
              <a:gdLst/>
              <a:ahLst/>
              <a:cxnLst/>
              <a:rect l="l" t="t" r="r" b="b"/>
              <a:pathLst>
                <a:path w="2938720" h="97536">
                  <a:moveTo>
                    <a:pt x="0" y="0"/>
                  </a:moveTo>
                  <a:lnTo>
                    <a:pt x="2938720" y="0"/>
                  </a:lnTo>
                  <a:lnTo>
                    <a:pt x="2938720" y="97536"/>
                  </a:lnTo>
                  <a:lnTo>
                    <a:pt x="0" y="97536"/>
                  </a:lnTo>
                  <a:close/>
                </a:path>
              </a:pathLst>
            </a:custGeom>
            <a:solidFill>
              <a:srgbClr val="F4F6F9"/>
            </a:solidFill>
          </p:spPr>
        </p:sp>
      </p:grpSp>
      <p:grpSp>
        <p:nvGrpSpPr>
          <p:cNvPr id="15" name="Group 15"/>
          <p:cNvGrpSpPr/>
          <p:nvPr/>
        </p:nvGrpSpPr>
        <p:grpSpPr>
          <a:xfrm>
            <a:off x="1028700" y="1028700"/>
            <a:ext cx="2204040" cy="548640"/>
            <a:chOff x="0" y="0"/>
            <a:chExt cx="2938720" cy="731520"/>
          </a:xfrm>
        </p:grpSpPr>
        <p:sp>
          <p:nvSpPr>
            <p:cNvPr id="16" name="Freeform 16"/>
            <p:cNvSpPr/>
            <p:nvPr/>
          </p:nvSpPr>
          <p:spPr>
            <a:xfrm>
              <a:off x="0" y="0"/>
              <a:ext cx="2938720" cy="731520"/>
            </a:xfrm>
            <a:custGeom>
              <a:avLst/>
              <a:gdLst/>
              <a:ahLst/>
              <a:cxnLst/>
              <a:rect l="l" t="t" r="r" b="b"/>
              <a:pathLst>
                <a:path w="2938720" h="731520">
                  <a:moveTo>
                    <a:pt x="0" y="0"/>
                  </a:moveTo>
                  <a:lnTo>
                    <a:pt x="2938720" y="0"/>
                  </a:lnTo>
                  <a:lnTo>
                    <a:pt x="2938720" y="731520"/>
                  </a:lnTo>
                  <a:lnTo>
                    <a:pt x="0" y="731520"/>
                  </a:lnTo>
                  <a:close/>
                </a:path>
              </a:pathLst>
            </a:custGeom>
            <a:blipFill>
              <a:blip r:embed="rId3">
                <a:alphaModFix amt="0"/>
              </a:blip>
              <a:stretch>
                <a:fillRect t="-131860" r="-132329" b="-131860"/>
              </a:stretch>
            </a:blipFill>
          </p:spPr>
        </p:sp>
        <p:sp>
          <p:nvSpPr>
            <p:cNvPr id="17" name="TextBox 17"/>
            <p:cNvSpPr txBox="1"/>
            <p:nvPr/>
          </p:nvSpPr>
          <p:spPr>
            <a:xfrm>
              <a:off x="0" y="-38100"/>
              <a:ext cx="2938720" cy="769620"/>
            </a:xfrm>
            <a:prstGeom prst="rect">
              <a:avLst/>
            </a:prstGeom>
          </p:spPr>
          <p:txBody>
            <a:bodyPr lIns="0" tIns="0" rIns="0" bIns="0" rtlCol="0" anchor="ctr"/>
            <a:lstStyle/>
            <a:p>
              <a:pPr algn="l">
                <a:lnSpc>
                  <a:spcPts val="2400"/>
                </a:lnSpc>
              </a:pPr>
              <a:r>
                <a:rPr lang="en-US" sz="2000">
                  <a:solidFill>
                    <a:srgbClr val="F4F6F9"/>
                  </a:solidFill>
                  <a:latin typeface="Calibri (MS)"/>
                  <a:ea typeface="Calibri (MS)"/>
                  <a:cs typeface="Calibri (MS)"/>
                  <a:sym typeface="Calibri (MS)"/>
                </a:rPr>
                <a:t>PILLAR THREE</a:t>
              </a:r>
            </a:p>
          </p:txBody>
        </p:sp>
      </p:grpSp>
      <p:grpSp>
        <p:nvGrpSpPr>
          <p:cNvPr id="18" name="Group 18"/>
          <p:cNvGrpSpPr/>
          <p:nvPr/>
        </p:nvGrpSpPr>
        <p:grpSpPr>
          <a:xfrm>
            <a:off x="1336156" y="6275102"/>
            <a:ext cx="14036328" cy="2217452"/>
            <a:chOff x="0" y="0"/>
            <a:chExt cx="3696811" cy="584020"/>
          </a:xfrm>
        </p:grpSpPr>
        <p:sp>
          <p:nvSpPr>
            <p:cNvPr id="19" name="Freeform 19"/>
            <p:cNvSpPr/>
            <p:nvPr/>
          </p:nvSpPr>
          <p:spPr>
            <a:xfrm>
              <a:off x="0" y="0"/>
              <a:ext cx="3696811" cy="584020"/>
            </a:xfrm>
            <a:custGeom>
              <a:avLst/>
              <a:gdLst/>
              <a:ahLst/>
              <a:cxnLst/>
              <a:rect l="l" t="t" r="r" b="b"/>
              <a:pathLst>
                <a:path w="3696811" h="584020">
                  <a:moveTo>
                    <a:pt x="17098" y="0"/>
                  </a:moveTo>
                  <a:lnTo>
                    <a:pt x="3679712" y="0"/>
                  </a:lnTo>
                  <a:cubicBezTo>
                    <a:pt x="3684247" y="0"/>
                    <a:pt x="3688596" y="1801"/>
                    <a:pt x="3691803" y="5008"/>
                  </a:cubicBezTo>
                  <a:cubicBezTo>
                    <a:pt x="3695009" y="8215"/>
                    <a:pt x="3696811" y="12564"/>
                    <a:pt x="3696811" y="17098"/>
                  </a:cubicBezTo>
                  <a:lnTo>
                    <a:pt x="3696811" y="566922"/>
                  </a:lnTo>
                  <a:cubicBezTo>
                    <a:pt x="3696811" y="571457"/>
                    <a:pt x="3695009" y="575806"/>
                    <a:pt x="3691803" y="579012"/>
                  </a:cubicBezTo>
                  <a:cubicBezTo>
                    <a:pt x="3688596" y="582219"/>
                    <a:pt x="3684247" y="584020"/>
                    <a:pt x="3679712" y="584020"/>
                  </a:cubicBezTo>
                  <a:lnTo>
                    <a:pt x="17098" y="584020"/>
                  </a:lnTo>
                  <a:cubicBezTo>
                    <a:pt x="12564" y="584020"/>
                    <a:pt x="8215" y="582219"/>
                    <a:pt x="5008" y="579012"/>
                  </a:cubicBezTo>
                  <a:cubicBezTo>
                    <a:pt x="1801" y="575806"/>
                    <a:pt x="0" y="571457"/>
                    <a:pt x="0" y="566922"/>
                  </a:cubicBezTo>
                  <a:lnTo>
                    <a:pt x="0" y="17098"/>
                  </a:lnTo>
                  <a:cubicBezTo>
                    <a:pt x="0" y="12564"/>
                    <a:pt x="1801" y="8215"/>
                    <a:pt x="5008" y="5008"/>
                  </a:cubicBezTo>
                  <a:cubicBezTo>
                    <a:pt x="8215" y="1801"/>
                    <a:pt x="12564" y="0"/>
                    <a:pt x="17098" y="0"/>
                  </a:cubicBezTo>
                  <a:close/>
                </a:path>
              </a:pathLst>
            </a:custGeom>
            <a:solidFill>
              <a:srgbClr val="1A3A6E"/>
            </a:solidFill>
            <a:ln w="38100" cap="rnd">
              <a:solidFill>
                <a:srgbClr val="C9A84C"/>
              </a:solidFill>
              <a:prstDash val="solid"/>
              <a:round/>
            </a:ln>
          </p:spPr>
        </p:sp>
        <p:sp>
          <p:nvSpPr>
            <p:cNvPr id="20" name="TextBox 20"/>
            <p:cNvSpPr txBox="1"/>
            <p:nvPr/>
          </p:nvSpPr>
          <p:spPr>
            <a:xfrm>
              <a:off x="0" y="-38100"/>
              <a:ext cx="3696811" cy="622120"/>
            </a:xfrm>
            <a:prstGeom prst="rect">
              <a:avLst/>
            </a:prstGeom>
          </p:spPr>
          <p:txBody>
            <a:bodyPr lIns="50800" tIns="50800" rIns="50800" bIns="50800" rtlCol="0" anchor="ctr"/>
            <a:lstStyle/>
            <a:p>
              <a:pPr algn="ctr">
                <a:lnSpc>
                  <a:spcPts val="2160"/>
                </a:lnSpc>
              </a:pPr>
              <a:endParaRPr/>
            </a:p>
          </p:txBody>
        </p:sp>
      </p:grpSp>
      <p:sp>
        <p:nvSpPr>
          <p:cNvPr id="21" name="Freeform 21"/>
          <p:cNvSpPr/>
          <p:nvPr/>
        </p:nvSpPr>
        <p:spPr>
          <a:xfrm>
            <a:off x="1856520" y="3940622"/>
            <a:ext cx="1376221" cy="1510256"/>
          </a:xfrm>
          <a:custGeom>
            <a:avLst/>
            <a:gdLst/>
            <a:ahLst/>
            <a:cxnLst/>
            <a:rect l="l" t="t" r="r" b="b"/>
            <a:pathLst>
              <a:path w="1376221" h="1510256">
                <a:moveTo>
                  <a:pt x="0" y="0"/>
                </a:moveTo>
                <a:lnTo>
                  <a:pt x="1376220" y="0"/>
                </a:lnTo>
                <a:lnTo>
                  <a:pt x="1376220" y="1510256"/>
                </a:lnTo>
                <a:lnTo>
                  <a:pt x="0" y="151025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2" name="Freeform 22"/>
          <p:cNvSpPr/>
          <p:nvPr/>
        </p:nvSpPr>
        <p:spPr>
          <a:xfrm>
            <a:off x="13576447" y="996531"/>
            <a:ext cx="688193" cy="561759"/>
          </a:xfrm>
          <a:custGeom>
            <a:avLst/>
            <a:gdLst/>
            <a:ahLst/>
            <a:cxnLst/>
            <a:rect l="l" t="t" r="r" b="b"/>
            <a:pathLst>
              <a:path w="688193" h="561759">
                <a:moveTo>
                  <a:pt x="0" y="0"/>
                </a:moveTo>
                <a:lnTo>
                  <a:pt x="688193" y="0"/>
                </a:lnTo>
                <a:lnTo>
                  <a:pt x="688193" y="561759"/>
                </a:lnTo>
                <a:lnTo>
                  <a:pt x="0" y="561759"/>
                </a:lnTo>
                <a:lnTo>
                  <a:pt x="0" y="0"/>
                </a:lnTo>
                <a:close/>
              </a:path>
            </a:pathLst>
          </a:custGeom>
          <a:blipFill>
            <a:blip r:embed="rId5"/>
            <a:stretch>
              <a:fillRect l="-2654" t="-7161" r="-2654"/>
            </a:stretch>
          </a:blipFill>
        </p:spPr>
      </p:sp>
      <p:grpSp>
        <p:nvGrpSpPr>
          <p:cNvPr id="23" name="Group 23"/>
          <p:cNvGrpSpPr/>
          <p:nvPr/>
        </p:nvGrpSpPr>
        <p:grpSpPr>
          <a:xfrm>
            <a:off x="14361352" y="1028700"/>
            <a:ext cx="2897948" cy="548640"/>
            <a:chOff x="0" y="0"/>
            <a:chExt cx="3863931" cy="731520"/>
          </a:xfrm>
        </p:grpSpPr>
        <p:sp>
          <p:nvSpPr>
            <p:cNvPr id="24" name="Freeform 24"/>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25" name="TextBox 25"/>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F4F6F9"/>
                  </a:solidFill>
                  <a:latin typeface="Calibri (MS)"/>
                  <a:ea typeface="Calibri (MS)"/>
                  <a:cs typeface="Calibri (MS)"/>
                  <a:sym typeface="Calibri (MS)"/>
                </a:rPr>
                <a:t>GCB Bank PLC</a:t>
              </a:r>
            </a:p>
          </p:txBody>
        </p:sp>
      </p:grpSp>
      <p:grpSp>
        <p:nvGrpSpPr>
          <p:cNvPr id="26" name="Group 26"/>
          <p:cNvGrpSpPr/>
          <p:nvPr/>
        </p:nvGrpSpPr>
        <p:grpSpPr>
          <a:xfrm>
            <a:off x="3740034" y="6908340"/>
            <a:ext cx="3871367" cy="950976"/>
            <a:chOff x="0" y="0"/>
            <a:chExt cx="5161823" cy="1267968"/>
          </a:xfrm>
        </p:grpSpPr>
        <p:sp>
          <p:nvSpPr>
            <p:cNvPr id="27" name="Freeform 27"/>
            <p:cNvSpPr/>
            <p:nvPr/>
          </p:nvSpPr>
          <p:spPr>
            <a:xfrm>
              <a:off x="0" y="0"/>
              <a:ext cx="5161823" cy="1267968"/>
            </a:xfrm>
            <a:custGeom>
              <a:avLst/>
              <a:gdLst/>
              <a:ahLst/>
              <a:cxnLst/>
              <a:rect l="l" t="t" r="r" b="b"/>
              <a:pathLst>
                <a:path w="5161823" h="1267968">
                  <a:moveTo>
                    <a:pt x="0" y="0"/>
                  </a:moveTo>
                  <a:lnTo>
                    <a:pt x="5161823" y="0"/>
                  </a:lnTo>
                  <a:lnTo>
                    <a:pt x="5161823" y="1267968"/>
                  </a:lnTo>
                  <a:lnTo>
                    <a:pt x="0" y="1267968"/>
                  </a:lnTo>
                  <a:close/>
                </a:path>
              </a:pathLst>
            </a:custGeom>
            <a:solidFill>
              <a:srgbClr val="E8C96B">
                <a:alpha val="0"/>
              </a:srgbClr>
            </a:solidFill>
          </p:spPr>
        </p:sp>
        <p:sp>
          <p:nvSpPr>
            <p:cNvPr id="28" name="TextBox 28"/>
            <p:cNvSpPr txBox="1"/>
            <p:nvPr/>
          </p:nvSpPr>
          <p:spPr>
            <a:xfrm>
              <a:off x="0" y="-85725"/>
              <a:ext cx="5161823" cy="1353693"/>
            </a:xfrm>
            <a:prstGeom prst="rect">
              <a:avLst/>
            </a:prstGeom>
          </p:spPr>
          <p:txBody>
            <a:bodyPr lIns="0" tIns="0" rIns="0" bIns="0" rtlCol="0" anchor="ctr"/>
            <a:lstStyle/>
            <a:p>
              <a:pPr algn="l">
                <a:lnSpc>
                  <a:spcPts val="5039"/>
                </a:lnSpc>
              </a:pPr>
              <a:r>
                <a:rPr lang="en-US" sz="4199" b="1">
                  <a:solidFill>
                    <a:srgbClr val="E8C96B"/>
                  </a:solidFill>
                  <a:latin typeface="Calibri (MS) Bold"/>
                  <a:ea typeface="Calibri (MS) Bold"/>
                  <a:cs typeface="Calibri (MS) Bold"/>
                  <a:sym typeface="Calibri (MS) Bold"/>
                </a:rPr>
                <a:t>Zero or no errors </a:t>
              </a:r>
            </a:p>
          </p:txBody>
        </p:sp>
      </p:grpSp>
      <p:sp>
        <p:nvSpPr>
          <p:cNvPr id="29" name="Freeform 29"/>
          <p:cNvSpPr/>
          <p:nvPr/>
        </p:nvSpPr>
        <p:spPr>
          <a:xfrm>
            <a:off x="1856520" y="6697581"/>
            <a:ext cx="1372495" cy="1372495"/>
          </a:xfrm>
          <a:custGeom>
            <a:avLst/>
            <a:gdLst/>
            <a:ahLst/>
            <a:cxnLst/>
            <a:rect l="l" t="t" r="r" b="b"/>
            <a:pathLst>
              <a:path w="1372495" h="1372495">
                <a:moveTo>
                  <a:pt x="0" y="0"/>
                </a:moveTo>
                <a:lnTo>
                  <a:pt x="1372495" y="0"/>
                </a:lnTo>
                <a:lnTo>
                  <a:pt x="1372495" y="1372495"/>
                </a:lnTo>
                <a:lnTo>
                  <a:pt x="0" y="1372495"/>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8016" cy="10287000"/>
            <a:chOff x="0" y="0"/>
            <a:chExt cx="170688" cy="13716000"/>
          </a:xfrm>
        </p:grpSpPr>
        <p:sp>
          <p:nvSpPr>
            <p:cNvPr id="3" name="Freeform 3"/>
            <p:cNvSpPr/>
            <p:nvPr/>
          </p:nvSpPr>
          <p:spPr>
            <a:xfrm>
              <a:off x="0" y="0"/>
              <a:ext cx="170688" cy="13716000"/>
            </a:xfrm>
            <a:custGeom>
              <a:avLst/>
              <a:gdLst/>
              <a:ahLst/>
              <a:cxnLst/>
              <a:rect l="l" t="t" r="r" b="b"/>
              <a:pathLst>
                <a:path w="170688" h="13716000">
                  <a:moveTo>
                    <a:pt x="0" y="0"/>
                  </a:moveTo>
                  <a:lnTo>
                    <a:pt x="170688" y="0"/>
                  </a:lnTo>
                  <a:lnTo>
                    <a:pt x="170688" y="13716000"/>
                  </a:lnTo>
                  <a:lnTo>
                    <a:pt x="0" y="13716000"/>
                  </a:lnTo>
                  <a:close/>
                </a:path>
              </a:pathLst>
            </a:custGeom>
            <a:solidFill>
              <a:srgbClr val="C9A84C"/>
            </a:solidFill>
          </p:spPr>
        </p:sp>
      </p:grpSp>
      <p:grpSp>
        <p:nvGrpSpPr>
          <p:cNvPr id="4" name="Group 4"/>
          <p:cNvGrpSpPr/>
          <p:nvPr/>
        </p:nvGrpSpPr>
        <p:grpSpPr>
          <a:xfrm>
            <a:off x="1028700" y="1350813"/>
            <a:ext cx="10847952" cy="1224650"/>
            <a:chOff x="0" y="0"/>
            <a:chExt cx="14463935" cy="1632867"/>
          </a:xfrm>
        </p:grpSpPr>
        <p:sp>
          <p:nvSpPr>
            <p:cNvPr id="5" name="Freeform 5"/>
            <p:cNvSpPr/>
            <p:nvPr/>
          </p:nvSpPr>
          <p:spPr>
            <a:xfrm>
              <a:off x="0" y="0"/>
              <a:ext cx="14463936" cy="1632867"/>
            </a:xfrm>
            <a:custGeom>
              <a:avLst/>
              <a:gdLst/>
              <a:ahLst/>
              <a:cxnLst/>
              <a:rect l="l" t="t" r="r" b="b"/>
              <a:pathLst>
                <a:path w="14463936" h="1632867">
                  <a:moveTo>
                    <a:pt x="0" y="0"/>
                  </a:moveTo>
                  <a:lnTo>
                    <a:pt x="14463936" y="0"/>
                  </a:lnTo>
                  <a:lnTo>
                    <a:pt x="14463936" y="1632867"/>
                  </a:lnTo>
                  <a:lnTo>
                    <a:pt x="0" y="1632867"/>
                  </a:lnTo>
                  <a:close/>
                </a:path>
              </a:pathLst>
            </a:custGeom>
            <a:blipFill>
              <a:blip r:embed="rId3">
                <a:alphaModFix amt="0"/>
              </a:blip>
              <a:stretch>
                <a:fillRect t="-15151" r="39309" b="-94350"/>
              </a:stretch>
            </a:blipFill>
          </p:spPr>
        </p:sp>
        <p:sp>
          <p:nvSpPr>
            <p:cNvPr id="6" name="TextBox 6"/>
            <p:cNvSpPr txBox="1"/>
            <p:nvPr/>
          </p:nvSpPr>
          <p:spPr>
            <a:xfrm>
              <a:off x="0" y="-133350"/>
              <a:ext cx="14463935" cy="1766217"/>
            </a:xfrm>
            <a:prstGeom prst="rect">
              <a:avLst/>
            </a:prstGeom>
          </p:spPr>
          <p:txBody>
            <a:bodyPr lIns="0" tIns="0" rIns="0" bIns="0" rtlCol="0" anchor="ctr"/>
            <a:lstStyle/>
            <a:p>
              <a:pPr algn="l">
                <a:lnSpc>
                  <a:spcPts val="7319"/>
                </a:lnSpc>
              </a:pPr>
              <a:r>
                <a:rPr lang="en-US" sz="6099" b="1" dirty="0">
                  <a:solidFill>
                    <a:srgbClr val="1A3A6E"/>
                  </a:solidFill>
                  <a:latin typeface="Calibri (MS) Bold"/>
                  <a:ea typeface="Calibri (MS) Bold"/>
                  <a:cs typeface="Calibri (MS) Bold"/>
                  <a:sym typeface="Calibri (MS) Bold"/>
                </a:rPr>
                <a:t>CASH IN </a:t>
              </a:r>
              <a:r>
                <a:rPr lang="en-US" sz="6099" b="1" spc="-150" dirty="0">
                  <a:solidFill>
                    <a:srgbClr val="1A3A6E"/>
                  </a:solidFill>
                  <a:latin typeface="Calibri (MS) Bold"/>
                  <a:ea typeface="Calibri (MS) Bold"/>
                  <a:cs typeface="Calibri (MS) Bold"/>
                  <a:sym typeface="Calibri (MS) Bold"/>
                </a:rPr>
                <a:t>TRANSIT</a:t>
              </a:r>
              <a:r>
                <a:rPr lang="en-US" sz="6099" b="1" dirty="0">
                  <a:solidFill>
                    <a:srgbClr val="1A3A6E"/>
                  </a:solidFill>
                  <a:latin typeface="Calibri (MS) Bold"/>
                  <a:ea typeface="Calibri (MS) Bold"/>
                  <a:cs typeface="Calibri (MS) Bold"/>
                  <a:sym typeface="Calibri (MS) Bold"/>
                </a:rPr>
                <a:t> MANAGEMENT </a:t>
              </a:r>
            </a:p>
          </p:txBody>
        </p:sp>
      </p:grpSp>
      <p:grpSp>
        <p:nvGrpSpPr>
          <p:cNvPr id="7" name="Group 7"/>
          <p:cNvGrpSpPr/>
          <p:nvPr/>
        </p:nvGrpSpPr>
        <p:grpSpPr>
          <a:xfrm>
            <a:off x="1028700" y="2502312"/>
            <a:ext cx="2204040" cy="73152"/>
            <a:chOff x="0" y="0"/>
            <a:chExt cx="2938720" cy="97536"/>
          </a:xfrm>
        </p:grpSpPr>
        <p:sp>
          <p:nvSpPr>
            <p:cNvPr id="8" name="Freeform 8"/>
            <p:cNvSpPr/>
            <p:nvPr/>
          </p:nvSpPr>
          <p:spPr>
            <a:xfrm>
              <a:off x="0" y="0"/>
              <a:ext cx="2938720" cy="97536"/>
            </a:xfrm>
            <a:custGeom>
              <a:avLst/>
              <a:gdLst/>
              <a:ahLst/>
              <a:cxnLst/>
              <a:rect l="l" t="t" r="r" b="b"/>
              <a:pathLst>
                <a:path w="2938720" h="97536">
                  <a:moveTo>
                    <a:pt x="0" y="0"/>
                  </a:moveTo>
                  <a:lnTo>
                    <a:pt x="2938720" y="0"/>
                  </a:lnTo>
                  <a:lnTo>
                    <a:pt x="2938720" y="97536"/>
                  </a:lnTo>
                  <a:lnTo>
                    <a:pt x="0" y="97536"/>
                  </a:lnTo>
                  <a:close/>
                </a:path>
              </a:pathLst>
            </a:custGeom>
            <a:solidFill>
              <a:srgbClr val="C9A84C"/>
            </a:solidFill>
          </p:spPr>
        </p:sp>
      </p:grpSp>
      <p:grpSp>
        <p:nvGrpSpPr>
          <p:cNvPr id="9" name="Group 9"/>
          <p:cNvGrpSpPr/>
          <p:nvPr/>
        </p:nvGrpSpPr>
        <p:grpSpPr>
          <a:xfrm>
            <a:off x="1028700" y="863702"/>
            <a:ext cx="2204040" cy="548640"/>
            <a:chOff x="0" y="0"/>
            <a:chExt cx="2938720" cy="731520"/>
          </a:xfrm>
        </p:grpSpPr>
        <p:sp>
          <p:nvSpPr>
            <p:cNvPr id="10" name="Freeform 10"/>
            <p:cNvSpPr/>
            <p:nvPr/>
          </p:nvSpPr>
          <p:spPr>
            <a:xfrm>
              <a:off x="0" y="0"/>
              <a:ext cx="2938720" cy="731520"/>
            </a:xfrm>
            <a:custGeom>
              <a:avLst/>
              <a:gdLst/>
              <a:ahLst/>
              <a:cxnLst/>
              <a:rect l="l" t="t" r="r" b="b"/>
              <a:pathLst>
                <a:path w="2938720" h="731520">
                  <a:moveTo>
                    <a:pt x="0" y="0"/>
                  </a:moveTo>
                  <a:lnTo>
                    <a:pt x="2938720" y="0"/>
                  </a:lnTo>
                  <a:lnTo>
                    <a:pt x="2938720" y="731520"/>
                  </a:lnTo>
                  <a:lnTo>
                    <a:pt x="0" y="731520"/>
                  </a:lnTo>
                  <a:close/>
                </a:path>
              </a:pathLst>
            </a:custGeom>
            <a:blipFill>
              <a:blip r:embed="rId3">
                <a:alphaModFix amt="0"/>
              </a:blip>
              <a:stretch>
                <a:fillRect t="-131860" r="-132329" b="-131860"/>
              </a:stretch>
            </a:blipFill>
          </p:spPr>
        </p:sp>
        <p:sp>
          <p:nvSpPr>
            <p:cNvPr id="11" name="TextBox 11"/>
            <p:cNvSpPr txBox="1"/>
            <p:nvPr/>
          </p:nvSpPr>
          <p:spPr>
            <a:xfrm>
              <a:off x="0" y="-38100"/>
              <a:ext cx="2938720" cy="769620"/>
            </a:xfrm>
            <a:prstGeom prst="rect">
              <a:avLst/>
            </a:prstGeom>
          </p:spPr>
          <p:txBody>
            <a:bodyPr lIns="0" tIns="0" rIns="0" bIns="0" rtlCol="0" anchor="ctr"/>
            <a:lstStyle/>
            <a:p>
              <a:pPr algn="l">
                <a:lnSpc>
                  <a:spcPts val="2400"/>
                </a:lnSpc>
              </a:pPr>
              <a:r>
                <a:rPr lang="en-US" sz="2000">
                  <a:solidFill>
                    <a:srgbClr val="1A3A6E"/>
                  </a:solidFill>
                  <a:latin typeface="Calibri (MS)"/>
                  <a:ea typeface="Calibri (MS)"/>
                  <a:cs typeface="Calibri (MS)"/>
                  <a:sym typeface="Calibri (MS)"/>
                </a:rPr>
                <a:t>PILLAR FOUR</a:t>
              </a:r>
            </a:p>
          </p:txBody>
        </p:sp>
      </p:grpSp>
      <p:grpSp>
        <p:nvGrpSpPr>
          <p:cNvPr id="12" name="Group 12"/>
          <p:cNvGrpSpPr/>
          <p:nvPr/>
        </p:nvGrpSpPr>
        <p:grpSpPr>
          <a:xfrm>
            <a:off x="2840766" y="4283846"/>
            <a:ext cx="12753204" cy="1467997"/>
            <a:chOff x="0" y="0"/>
            <a:chExt cx="3072866" cy="353712"/>
          </a:xfrm>
        </p:grpSpPr>
        <p:sp>
          <p:nvSpPr>
            <p:cNvPr id="13" name="Freeform 13"/>
            <p:cNvSpPr/>
            <p:nvPr/>
          </p:nvSpPr>
          <p:spPr>
            <a:xfrm>
              <a:off x="0" y="0"/>
              <a:ext cx="3072866" cy="353712"/>
            </a:xfrm>
            <a:custGeom>
              <a:avLst/>
              <a:gdLst/>
              <a:ahLst/>
              <a:cxnLst/>
              <a:rect l="l" t="t" r="r" b="b"/>
              <a:pathLst>
                <a:path w="3072866" h="353712">
                  <a:moveTo>
                    <a:pt x="18819" y="0"/>
                  </a:moveTo>
                  <a:lnTo>
                    <a:pt x="3054047" y="0"/>
                  </a:lnTo>
                  <a:cubicBezTo>
                    <a:pt x="3059038" y="0"/>
                    <a:pt x="3063825" y="1983"/>
                    <a:pt x="3067354" y="5512"/>
                  </a:cubicBezTo>
                  <a:cubicBezTo>
                    <a:pt x="3070883" y="9041"/>
                    <a:pt x="3072866" y="13828"/>
                    <a:pt x="3072866" y="18819"/>
                  </a:cubicBezTo>
                  <a:lnTo>
                    <a:pt x="3072866" y="334893"/>
                  </a:lnTo>
                  <a:cubicBezTo>
                    <a:pt x="3072866" y="339884"/>
                    <a:pt x="3070883" y="344671"/>
                    <a:pt x="3067354" y="348200"/>
                  </a:cubicBezTo>
                  <a:cubicBezTo>
                    <a:pt x="3063825" y="351729"/>
                    <a:pt x="3059038" y="353712"/>
                    <a:pt x="3054047" y="353712"/>
                  </a:cubicBezTo>
                  <a:lnTo>
                    <a:pt x="18819" y="353712"/>
                  </a:lnTo>
                  <a:cubicBezTo>
                    <a:pt x="13828" y="353712"/>
                    <a:pt x="9041" y="351729"/>
                    <a:pt x="5512" y="348200"/>
                  </a:cubicBezTo>
                  <a:cubicBezTo>
                    <a:pt x="1983" y="344671"/>
                    <a:pt x="0" y="339884"/>
                    <a:pt x="0" y="334893"/>
                  </a:cubicBezTo>
                  <a:lnTo>
                    <a:pt x="0" y="18819"/>
                  </a:lnTo>
                  <a:cubicBezTo>
                    <a:pt x="0" y="13828"/>
                    <a:pt x="1983" y="9041"/>
                    <a:pt x="5512" y="5512"/>
                  </a:cubicBezTo>
                  <a:cubicBezTo>
                    <a:pt x="9041" y="1983"/>
                    <a:pt x="13828" y="0"/>
                    <a:pt x="18819" y="0"/>
                  </a:cubicBezTo>
                  <a:close/>
                </a:path>
              </a:pathLst>
            </a:custGeom>
            <a:solidFill>
              <a:srgbClr val="1A3A6E"/>
            </a:solidFill>
            <a:ln cap="rnd">
              <a:noFill/>
              <a:prstDash val="solid"/>
              <a:round/>
            </a:ln>
          </p:spPr>
        </p:sp>
        <p:sp>
          <p:nvSpPr>
            <p:cNvPr id="14" name="TextBox 14"/>
            <p:cNvSpPr txBox="1"/>
            <p:nvPr/>
          </p:nvSpPr>
          <p:spPr>
            <a:xfrm>
              <a:off x="0" y="-38100"/>
              <a:ext cx="3072866" cy="391812"/>
            </a:xfrm>
            <a:prstGeom prst="rect">
              <a:avLst/>
            </a:prstGeom>
          </p:spPr>
          <p:txBody>
            <a:bodyPr lIns="50800" tIns="50800" rIns="50800" bIns="50800" rtlCol="0" anchor="ctr"/>
            <a:lstStyle/>
            <a:p>
              <a:pPr algn="ctr">
                <a:lnSpc>
                  <a:spcPts val="2160"/>
                </a:lnSpc>
              </a:pPr>
              <a:endParaRPr/>
            </a:p>
          </p:txBody>
        </p:sp>
      </p:grpSp>
      <p:grpSp>
        <p:nvGrpSpPr>
          <p:cNvPr id="15" name="Group 15"/>
          <p:cNvGrpSpPr/>
          <p:nvPr/>
        </p:nvGrpSpPr>
        <p:grpSpPr>
          <a:xfrm>
            <a:off x="4859672" y="4508513"/>
            <a:ext cx="7770719" cy="1039487"/>
            <a:chOff x="0" y="0"/>
            <a:chExt cx="9478739" cy="1267968"/>
          </a:xfrm>
        </p:grpSpPr>
        <p:sp>
          <p:nvSpPr>
            <p:cNvPr id="16" name="Freeform 16"/>
            <p:cNvSpPr/>
            <p:nvPr/>
          </p:nvSpPr>
          <p:spPr>
            <a:xfrm>
              <a:off x="0" y="0"/>
              <a:ext cx="9478740" cy="1267968"/>
            </a:xfrm>
            <a:custGeom>
              <a:avLst/>
              <a:gdLst/>
              <a:ahLst/>
              <a:cxnLst/>
              <a:rect l="l" t="t" r="r" b="b"/>
              <a:pathLst>
                <a:path w="9478740" h="1267968">
                  <a:moveTo>
                    <a:pt x="0" y="0"/>
                  </a:moveTo>
                  <a:lnTo>
                    <a:pt x="9478740" y="0"/>
                  </a:lnTo>
                  <a:lnTo>
                    <a:pt x="9478740" y="1267968"/>
                  </a:lnTo>
                  <a:lnTo>
                    <a:pt x="0" y="1267968"/>
                  </a:lnTo>
                  <a:close/>
                </a:path>
              </a:pathLst>
            </a:custGeom>
            <a:solidFill>
              <a:srgbClr val="E8C96B">
                <a:alpha val="0"/>
              </a:srgbClr>
            </a:solidFill>
          </p:spPr>
        </p:sp>
        <p:sp>
          <p:nvSpPr>
            <p:cNvPr id="17" name="TextBox 17"/>
            <p:cNvSpPr txBox="1"/>
            <p:nvPr/>
          </p:nvSpPr>
          <p:spPr>
            <a:xfrm>
              <a:off x="0" y="-85725"/>
              <a:ext cx="9478739" cy="1353693"/>
            </a:xfrm>
            <a:prstGeom prst="rect">
              <a:avLst/>
            </a:prstGeom>
          </p:spPr>
          <p:txBody>
            <a:bodyPr lIns="0" tIns="0" rIns="0" bIns="0" rtlCol="0" anchor="ctr"/>
            <a:lstStyle/>
            <a:p>
              <a:pPr algn="l">
                <a:lnSpc>
                  <a:spcPts val="5039"/>
                </a:lnSpc>
              </a:pPr>
              <a:r>
                <a:rPr lang="en-US" sz="4199" b="1">
                  <a:solidFill>
                    <a:srgbClr val="EEF1F7"/>
                  </a:solidFill>
                  <a:latin typeface="Calibri (MS) Bold"/>
                  <a:ea typeface="Calibri (MS) Bold"/>
                  <a:cs typeface="Calibri (MS) Bold"/>
                  <a:sym typeface="Calibri (MS) Bold"/>
                </a:rPr>
                <a:t>Assign jobs to the CIT providers</a:t>
              </a:r>
            </a:p>
          </p:txBody>
        </p:sp>
      </p:grpSp>
      <p:grpSp>
        <p:nvGrpSpPr>
          <p:cNvPr id="18" name="Group 18"/>
          <p:cNvGrpSpPr/>
          <p:nvPr/>
        </p:nvGrpSpPr>
        <p:grpSpPr>
          <a:xfrm>
            <a:off x="2840766" y="6506609"/>
            <a:ext cx="12753204" cy="1467997"/>
            <a:chOff x="0" y="0"/>
            <a:chExt cx="3072866" cy="353712"/>
          </a:xfrm>
        </p:grpSpPr>
        <p:sp>
          <p:nvSpPr>
            <p:cNvPr id="19" name="Freeform 19"/>
            <p:cNvSpPr/>
            <p:nvPr/>
          </p:nvSpPr>
          <p:spPr>
            <a:xfrm>
              <a:off x="0" y="0"/>
              <a:ext cx="3072866" cy="353712"/>
            </a:xfrm>
            <a:custGeom>
              <a:avLst/>
              <a:gdLst/>
              <a:ahLst/>
              <a:cxnLst/>
              <a:rect l="l" t="t" r="r" b="b"/>
              <a:pathLst>
                <a:path w="3072866" h="353712">
                  <a:moveTo>
                    <a:pt x="18819" y="0"/>
                  </a:moveTo>
                  <a:lnTo>
                    <a:pt x="3054047" y="0"/>
                  </a:lnTo>
                  <a:cubicBezTo>
                    <a:pt x="3059038" y="0"/>
                    <a:pt x="3063825" y="1983"/>
                    <a:pt x="3067354" y="5512"/>
                  </a:cubicBezTo>
                  <a:cubicBezTo>
                    <a:pt x="3070883" y="9041"/>
                    <a:pt x="3072866" y="13828"/>
                    <a:pt x="3072866" y="18819"/>
                  </a:cubicBezTo>
                  <a:lnTo>
                    <a:pt x="3072866" y="334893"/>
                  </a:lnTo>
                  <a:cubicBezTo>
                    <a:pt x="3072866" y="339884"/>
                    <a:pt x="3070883" y="344671"/>
                    <a:pt x="3067354" y="348200"/>
                  </a:cubicBezTo>
                  <a:cubicBezTo>
                    <a:pt x="3063825" y="351729"/>
                    <a:pt x="3059038" y="353712"/>
                    <a:pt x="3054047" y="353712"/>
                  </a:cubicBezTo>
                  <a:lnTo>
                    <a:pt x="18819" y="353712"/>
                  </a:lnTo>
                  <a:cubicBezTo>
                    <a:pt x="13828" y="353712"/>
                    <a:pt x="9041" y="351729"/>
                    <a:pt x="5512" y="348200"/>
                  </a:cubicBezTo>
                  <a:cubicBezTo>
                    <a:pt x="1983" y="344671"/>
                    <a:pt x="0" y="339884"/>
                    <a:pt x="0" y="334893"/>
                  </a:cubicBezTo>
                  <a:lnTo>
                    <a:pt x="0" y="18819"/>
                  </a:lnTo>
                  <a:cubicBezTo>
                    <a:pt x="0" y="13828"/>
                    <a:pt x="1983" y="9041"/>
                    <a:pt x="5512" y="5512"/>
                  </a:cubicBezTo>
                  <a:cubicBezTo>
                    <a:pt x="9041" y="1983"/>
                    <a:pt x="13828" y="0"/>
                    <a:pt x="18819" y="0"/>
                  </a:cubicBezTo>
                  <a:close/>
                </a:path>
              </a:pathLst>
            </a:custGeom>
            <a:solidFill>
              <a:srgbClr val="1A3A6E"/>
            </a:solidFill>
            <a:ln cap="rnd">
              <a:noFill/>
              <a:prstDash val="solid"/>
              <a:round/>
            </a:ln>
          </p:spPr>
        </p:sp>
        <p:sp>
          <p:nvSpPr>
            <p:cNvPr id="20" name="TextBox 20"/>
            <p:cNvSpPr txBox="1"/>
            <p:nvPr/>
          </p:nvSpPr>
          <p:spPr>
            <a:xfrm>
              <a:off x="0" y="-38100"/>
              <a:ext cx="3072866" cy="391812"/>
            </a:xfrm>
            <a:prstGeom prst="rect">
              <a:avLst/>
            </a:prstGeom>
          </p:spPr>
          <p:txBody>
            <a:bodyPr lIns="50800" tIns="50800" rIns="50800" bIns="50800" rtlCol="0" anchor="ctr"/>
            <a:lstStyle/>
            <a:p>
              <a:pPr algn="ctr">
                <a:lnSpc>
                  <a:spcPts val="2160"/>
                </a:lnSpc>
              </a:pPr>
              <a:endParaRPr/>
            </a:p>
          </p:txBody>
        </p:sp>
      </p:grpSp>
      <p:grpSp>
        <p:nvGrpSpPr>
          <p:cNvPr id="21" name="Group 21"/>
          <p:cNvGrpSpPr/>
          <p:nvPr/>
        </p:nvGrpSpPr>
        <p:grpSpPr>
          <a:xfrm>
            <a:off x="3112062" y="6560112"/>
            <a:ext cx="10413281" cy="1414495"/>
            <a:chOff x="0" y="0"/>
            <a:chExt cx="12702141" cy="1725404"/>
          </a:xfrm>
        </p:grpSpPr>
        <p:sp>
          <p:nvSpPr>
            <p:cNvPr id="22" name="Freeform 22"/>
            <p:cNvSpPr/>
            <p:nvPr/>
          </p:nvSpPr>
          <p:spPr>
            <a:xfrm>
              <a:off x="0" y="0"/>
              <a:ext cx="12702142" cy="1725404"/>
            </a:xfrm>
            <a:custGeom>
              <a:avLst/>
              <a:gdLst/>
              <a:ahLst/>
              <a:cxnLst/>
              <a:rect l="l" t="t" r="r" b="b"/>
              <a:pathLst>
                <a:path w="12702142" h="1725404">
                  <a:moveTo>
                    <a:pt x="0" y="0"/>
                  </a:moveTo>
                  <a:lnTo>
                    <a:pt x="12702142" y="0"/>
                  </a:lnTo>
                  <a:lnTo>
                    <a:pt x="12702142" y="1725404"/>
                  </a:lnTo>
                  <a:lnTo>
                    <a:pt x="0" y="1725404"/>
                  </a:lnTo>
                  <a:close/>
                </a:path>
              </a:pathLst>
            </a:custGeom>
            <a:solidFill>
              <a:srgbClr val="E8C96B">
                <a:alpha val="0"/>
              </a:srgbClr>
            </a:solidFill>
          </p:spPr>
        </p:sp>
        <p:sp>
          <p:nvSpPr>
            <p:cNvPr id="23" name="TextBox 23"/>
            <p:cNvSpPr txBox="1"/>
            <p:nvPr/>
          </p:nvSpPr>
          <p:spPr>
            <a:xfrm>
              <a:off x="0" y="-76200"/>
              <a:ext cx="12702141" cy="1801604"/>
            </a:xfrm>
            <a:prstGeom prst="rect">
              <a:avLst/>
            </a:prstGeom>
          </p:spPr>
          <p:txBody>
            <a:bodyPr lIns="0" tIns="0" rIns="0" bIns="0" rtlCol="0" anchor="ctr"/>
            <a:lstStyle/>
            <a:p>
              <a:pPr algn="l">
                <a:lnSpc>
                  <a:spcPts val="4559"/>
                </a:lnSpc>
              </a:pPr>
              <a:r>
                <a:rPr lang="en-US" sz="3799" b="1">
                  <a:solidFill>
                    <a:srgbClr val="EEF1F7"/>
                  </a:solidFill>
                  <a:latin typeface="Calibri (MS) Bold"/>
                  <a:ea typeface="Calibri (MS) Bold"/>
                  <a:cs typeface="Calibri (MS) Bold"/>
                  <a:sym typeface="Calibri (MS) Bold"/>
                </a:rPr>
                <a:t>Monitor bullion vans and track cash movement to ensure safety and compliance </a:t>
              </a:r>
            </a:p>
          </p:txBody>
        </p:sp>
      </p:grpSp>
      <p:grpSp>
        <p:nvGrpSpPr>
          <p:cNvPr id="24" name="Group 24"/>
          <p:cNvGrpSpPr/>
          <p:nvPr/>
        </p:nvGrpSpPr>
        <p:grpSpPr>
          <a:xfrm>
            <a:off x="2494781" y="4086350"/>
            <a:ext cx="1881948" cy="1881948"/>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1E3D"/>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27" name="Freeform 27"/>
          <p:cNvSpPr/>
          <p:nvPr/>
        </p:nvSpPr>
        <p:spPr>
          <a:xfrm>
            <a:off x="2915033" y="4508513"/>
            <a:ext cx="1041443" cy="917772"/>
          </a:xfrm>
          <a:custGeom>
            <a:avLst/>
            <a:gdLst/>
            <a:ahLst/>
            <a:cxnLst/>
            <a:rect l="l" t="t" r="r" b="b"/>
            <a:pathLst>
              <a:path w="1041443" h="917772">
                <a:moveTo>
                  <a:pt x="0" y="0"/>
                </a:moveTo>
                <a:lnTo>
                  <a:pt x="1041443" y="0"/>
                </a:lnTo>
                <a:lnTo>
                  <a:pt x="1041443" y="917771"/>
                </a:lnTo>
                <a:lnTo>
                  <a:pt x="0" y="91777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28" name="Group 28"/>
          <p:cNvGrpSpPr/>
          <p:nvPr/>
        </p:nvGrpSpPr>
        <p:grpSpPr>
          <a:xfrm>
            <a:off x="14079328" y="6295151"/>
            <a:ext cx="1881948" cy="188194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E5FAC"/>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31" name="Freeform 31"/>
          <p:cNvSpPr/>
          <p:nvPr/>
        </p:nvSpPr>
        <p:spPr>
          <a:xfrm>
            <a:off x="14446634" y="6914334"/>
            <a:ext cx="1147336" cy="652548"/>
          </a:xfrm>
          <a:custGeom>
            <a:avLst/>
            <a:gdLst/>
            <a:ahLst/>
            <a:cxnLst/>
            <a:rect l="l" t="t" r="r" b="b"/>
            <a:pathLst>
              <a:path w="1147336" h="652548">
                <a:moveTo>
                  <a:pt x="0" y="0"/>
                </a:moveTo>
                <a:lnTo>
                  <a:pt x="1147336" y="0"/>
                </a:lnTo>
                <a:lnTo>
                  <a:pt x="1147336" y="652548"/>
                </a:lnTo>
                <a:lnTo>
                  <a:pt x="0" y="652548"/>
                </a:lnTo>
                <a:lnTo>
                  <a:pt x="0" y="0"/>
                </a:lnTo>
                <a:close/>
              </a:path>
            </a:pathLst>
          </a:custGeom>
          <a:blipFill>
            <a:blip r:embed="rId5"/>
            <a:stretch>
              <a:fillRect/>
            </a:stretch>
          </a:blipFill>
        </p:spPr>
      </p:sp>
      <p:grpSp>
        <p:nvGrpSpPr>
          <p:cNvPr id="32" name="Group 32"/>
          <p:cNvGrpSpPr/>
          <p:nvPr/>
        </p:nvGrpSpPr>
        <p:grpSpPr>
          <a:xfrm>
            <a:off x="14361352" y="1038496"/>
            <a:ext cx="2897948" cy="548640"/>
            <a:chOff x="0" y="0"/>
            <a:chExt cx="3863931" cy="731520"/>
          </a:xfrm>
        </p:grpSpPr>
        <p:sp>
          <p:nvSpPr>
            <p:cNvPr id="33" name="Freeform 33"/>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34" name="TextBox 34"/>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0B1E3D"/>
                  </a:solidFill>
                  <a:latin typeface="Calibri (MS)"/>
                  <a:ea typeface="Calibri (MS)"/>
                  <a:cs typeface="Calibri (MS)"/>
                  <a:sym typeface="Calibri (MS)"/>
                </a:rPr>
                <a:t>GCB Bank PLC</a:t>
              </a:r>
            </a:p>
          </p:txBody>
        </p:sp>
      </p:grpSp>
      <p:sp>
        <p:nvSpPr>
          <p:cNvPr id="35" name="Freeform 35"/>
          <p:cNvSpPr/>
          <p:nvPr/>
        </p:nvSpPr>
        <p:spPr>
          <a:xfrm>
            <a:off x="13646663" y="1028700"/>
            <a:ext cx="651948" cy="541537"/>
          </a:xfrm>
          <a:custGeom>
            <a:avLst/>
            <a:gdLst/>
            <a:ahLst/>
            <a:cxnLst/>
            <a:rect l="l" t="t" r="r" b="b"/>
            <a:pathLst>
              <a:path w="651948" h="541537">
                <a:moveTo>
                  <a:pt x="0" y="0"/>
                </a:moveTo>
                <a:lnTo>
                  <a:pt x="651948" y="0"/>
                </a:lnTo>
                <a:lnTo>
                  <a:pt x="651948" y="541537"/>
                </a:lnTo>
                <a:lnTo>
                  <a:pt x="0" y="541537"/>
                </a:lnTo>
                <a:lnTo>
                  <a:pt x="0" y="0"/>
                </a:lnTo>
                <a:close/>
              </a:path>
            </a:pathLst>
          </a:custGeom>
          <a:blipFill>
            <a:blip r:embed="rId6"/>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C9A84C"/>
            </a:solidFill>
          </p:spPr>
        </p:sp>
      </p:grpSp>
      <p:grpSp>
        <p:nvGrpSpPr>
          <p:cNvPr id="4" name="Group 4"/>
          <p:cNvGrpSpPr/>
          <p:nvPr/>
        </p:nvGrpSpPr>
        <p:grpSpPr>
          <a:xfrm>
            <a:off x="1029719" y="1391554"/>
            <a:ext cx="7145017" cy="1224649"/>
            <a:chOff x="0" y="0"/>
            <a:chExt cx="9526689" cy="1632865"/>
          </a:xfrm>
        </p:grpSpPr>
        <p:sp>
          <p:nvSpPr>
            <p:cNvPr id="5" name="Freeform 5"/>
            <p:cNvSpPr/>
            <p:nvPr/>
          </p:nvSpPr>
          <p:spPr>
            <a:xfrm>
              <a:off x="0" y="0"/>
              <a:ext cx="9526689" cy="1632865"/>
            </a:xfrm>
            <a:custGeom>
              <a:avLst/>
              <a:gdLst/>
              <a:ahLst/>
              <a:cxnLst/>
              <a:rect l="l" t="t" r="r" b="b"/>
              <a:pathLst>
                <a:path w="9526689" h="1632865">
                  <a:moveTo>
                    <a:pt x="0" y="0"/>
                  </a:moveTo>
                  <a:lnTo>
                    <a:pt x="9526689" y="0"/>
                  </a:lnTo>
                  <a:lnTo>
                    <a:pt x="9526689" y="1632865"/>
                  </a:lnTo>
                  <a:lnTo>
                    <a:pt x="0" y="1632865"/>
                  </a:lnTo>
                  <a:close/>
                </a:path>
              </a:pathLst>
            </a:custGeom>
            <a:blipFill>
              <a:blip r:embed="rId3">
                <a:alphaModFix amt="0"/>
              </a:blip>
              <a:stretch>
                <a:fillRect t="-212905" r="-120120" b="-187571"/>
              </a:stretch>
            </a:blipFill>
          </p:spPr>
        </p:sp>
        <p:sp>
          <p:nvSpPr>
            <p:cNvPr id="6" name="TextBox 6"/>
            <p:cNvSpPr txBox="1"/>
            <p:nvPr/>
          </p:nvSpPr>
          <p:spPr>
            <a:xfrm>
              <a:off x="0" y="-133350"/>
              <a:ext cx="9526689" cy="1766215"/>
            </a:xfrm>
            <a:prstGeom prst="rect">
              <a:avLst/>
            </a:prstGeom>
          </p:spPr>
          <p:txBody>
            <a:bodyPr lIns="0" tIns="0" rIns="0" bIns="0" rtlCol="0" anchor="ctr"/>
            <a:lstStyle/>
            <a:p>
              <a:pPr algn="l">
                <a:lnSpc>
                  <a:spcPts val="7319"/>
                </a:lnSpc>
              </a:pPr>
              <a:r>
                <a:rPr lang="en-US" sz="6099" b="1" spc="554" dirty="0">
                  <a:solidFill>
                    <a:srgbClr val="C9A84C"/>
                  </a:solidFill>
                  <a:latin typeface="Calibri (MS) Bold"/>
                  <a:ea typeface="Calibri (MS) Bold"/>
                  <a:cs typeface="Calibri (MS) Bold"/>
                  <a:sym typeface="Calibri (MS) Bold"/>
                </a:rPr>
                <a:t>TEAM </a:t>
              </a:r>
              <a:r>
                <a:rPr lang="en-US" sz="6099" b="1" spc="-150" dirty="0">
                  <a:solidFill>
                    <a:srgbClr val="C9A84C"/>
                  </a:solidFill>
                  <a:latin typeface="Calibri (MS) Bold"/>
                  <a:ea typeface="Calibri (MS) Bold"/>
                  <a:cs typeface="Calibri (MS) Bold"/>
                  <a:sym typeface="Calibri (MS) Bold"/>
                </a:rPr>
                <a:t>LEADERSHIP</a:t>
              </a:r>
              <a:r>
                <a:rPr lang="en-US" sz="6099" b="1" spc="554" dirty="0">
                  <a:solidFill>
                    <a:srgbClr val="C9A84C"/>
                  </a:solidFill>
                  <a:latin typeface="Calibri (MS) Bold"/>
                  <a:ea typeface="Calibri (MS) Bold"/>
                  <a:cs typeface="Calibri (MS) Bold"/>
                  <a:sym typeface="Calibri (MS) Bold"/>
                </a:rPr>
                <a:t> </a:t>
              </a:r>
            </a:p>
          </p:txBody>
        </p:sp>
      </p:grpSp>
      <p:grpSp>
        <p:nvGrpSpPr>
          <p:cNvPr id="7" name="Group 7"/>
          <p:cNvGrpSpPr/>
          <p:nvPr/>
        </p:nvGrpSpPr>
        <p:grpSpPr>
          <a:xfrm>
            <a:off x="1053550" y="1014668"/>
            <a:ext cx="2204040" cy="478489"/>
            <a:chOff x="0" y="0"/>
            <a:chExt cx="2938720" cy="637986"/>
          </a:xfrm>
        </p:grpSpPr>
        <p:sp>
          <p:nvSpPr>
            <p:cNvPr id="8" name="Freeform 8"/>
            <p:cNvSpPr/>
            <p:nvPr/>
          </p:nvSpPr>
          <p:spPr>
            <a:xfrm>
              <a:off x="0" y="0"/>
              <a:ext cx="2938720" cy="637986"/>
            </a:xfrm>
            <a:custGeom>
              <a:avLst/>
              <a:gdLst/>
              <a:ahLst/>
              <a:cxnLst/>
              <a:rect l="l" t="t" r="r" b="b"/>
              <a:pathLst>
                <a:path w="2938720" h="637986">
                  <a:moveTo>
                    <a:pt x="0" y="0"/>
                  </a:moveTo>
                  <a:lnTo>
                    <a:pt x="2938720" y="0"/>
                  </a:lnTo>
                  <a:lnTo>
                    <a:pt x="2938720" y="637986"/>
                  </a:lnTo>
                  <a:lnTo>
                    <a:pt x="0" y="637986"/>
                  </a:lnTo>
                  <a:close/>
                </a:path>
              </a:pathLst>
            </a:custGeom>
            <a:blipFill>
              <a:blip r:embed="rId3">
                <a:alphaModFix amt="0"/>
              </a:blip>
              <a:stretch>
                <a:fillRect t="-151192" r="-132329" b="-165853"/>
              </a:stretch>
            </a:blipFill>
          </p:spPr>
        </p:sp>
        <p:sp>
          <p:nvSpPr>
            <p:cNvPr id="9" name="TextBox 9"/>
            <p:cNvSpPr txBox="1"/>
            <p:nvPr/>
          </p:nvSpPr>
          <p:spPr>
            <a:xfrm>
              <a:off x="0" y="-38100"/>
              <a:ext cx="2938720" cy="676086"/>
            </a:xfrm>
            <a:prstGeom prst="rect">
              <a:avLst/>
            </a:prstGeom>
          </p:spPr>
          <p:txBody>
            <a:bodyPr lIns="0" tIns="0" rIns="0" bIns="0" rtlCol="0" anchor="ctr"/>
            <a:lstStyle/>
            <a:p>
              <a:pPr algn="l">
                <a:lnSpc>
                  <a:spcPts val="2400"/>
                </a:lnSpc>
              </a:pPr>
              <a:r>
                <a:rPr lang="en-US" sz="2000">
                  <a:solidFill>
                    <a:srgbClr val="F4F6F9"/>
                  </a:solidFill>
                  <a:latin typeface="Calibri (MS)"/>
                  <a:ea typeface="Calibri (MS)"/>
                  <a:cs typeface="Calibri (MS)"/>
                  <a:sym typeface="Calibri (MS)"/>
                </a:rPr>
                <a:t>PILLAR FIVE</a:t>
              </a:r>
            </a:p>
          </p:txBody>
        </p:sp>
      </p:grpSp>
      <p:grpSp>
        <p:nvGrpSpPr>
          <p:cNvPr id="10" name="Group 10"/>
          <p:cNvGrpSpPr/>
          <p:nvPr/>
        </p:nvGrpSpPr>
        <p:grpSpPr>
          <a:xfrm>
            <a:off x="1028700" y="2493855"/>
            <a:ext cx="2204040" cy="73152"/>
            <a:chOff x="0" y="0"/>
            <a:chExt cx="2938720" cy="97536"/>
          </a:xfrm>
        </p:grpSpPr>
        <p:sp>
          <p:nvSpPr>
            <p:cNvPr id="11" name="Freeform 11"/>
            <p:cNvSpPr/>
            <p:nvPr/>
          </p:nvSpPr>
          <p:spPr>
            <a:xfrm>
              <a:off x="0" y="0"/>
              <a:ext cx="2938720" cy="97536"/>
            </a:xfrm>
            <a:custGeom>
              <a:avLst/>
              <a:gdLst/>
              <a:ahLst/>
              <a:cxnLst/>
              <a:rect l="l" t="t" r="r" b="b"/>
              <a:pathLst>
                <a:path w="2938720" h="97536">
                  <a:moveTo>
                    <a:pt x="0" y="0"/>
                  </a:moveTo>
                  <a:lnTo>
                    <a:pt x="2938720" y="0"/>
                  </a:lnTo>
                  <a:lnTo>
                    <a:pt x="2938720" y="97536"/>
                  </a:lnTo>
                  <a:lnTo>
                    <a:pt x="0" y="97536"/>
                  </a:lnTo>
                  <a:close/>
                </a:path>
              </a:pathLst>
            </a:custGeom>
            <a:solidFill>
              <a:srgbClr val="EEF1F7"/>
            </a:solidFill>
          </p:spPr>
        </p:sp>
      </p:grpSp>
      <p:grpSp>
        <p:nvGrpSpPr>
          <p:cNvPr id="12" name="Group 12"/>
          <p:cNvGrpSpPr/>
          <p:nvPr/>
        </p:nvGrpSpPr>
        <p:grpSpPr>
          <a:xfrm>
            <a:off x="2130720" y="4706668"/>
            <a:ext cx="6427131" cy="3030134"/>
            <a:chOff x="0" y="0"/>
            <a:chExt cx="1692742" cy="798060"/>
          </a:xfrm>
        </p:grpSpPr>
        <p:sp>
          <p:nvSpPr>
            <p:cNvPr id="13" name="Freeform 13"/>
            <p:cNvSpPr/>
            <p:nvPr/>
          </p:nvSpPr>
          <p:spPr>
            <a:xfrm>
              <a:off x="0" y="0"/>
              <a:ext cx="1692742" cy="798060"/>
            </a:xfrm>
            <a:custGeom>
              <a:avLst/>
              <a:gdLst/>
              <a:ahLst/>
              <a:cxnLst/>
              <a:rect l="l" t="t" r="r" b="b"/>
              <a:pathLst>
                <a:path w="1692742" h="798060">
                  <a:moveTo>
                    <a:pt x="37342" y="0"/>
                  </a:moveTo>
                  <a:lnTo>
                    <a:pt x="1655401" y="0"/>
                  </a:lnTo>
                  <a:cubicBezTo>
                    <a:pt x="1665304" y="0"/>
                    <a:pt x="1674802" y="3934"/>
                    <a:pt x="1681805" y="10937"/>
                  </a:cubicBezTo>
                  <a:cubicBezTo>
                    <a:pt x="1688808" y="17940"/>
                    <a:pt x="1692742" y="27438"/>
                    <a:pt x="1692742" y="37342"/>
                  </a:cubicBezTo>
                  <a:lnTo>
                    <a:pt x="1692742" y="760718"/>
                  </a:lnTo>
                  <a:cubicBezTo>
                    <a:pt x="1692742" y="781342"/>
                    <a:pt x="1676024" y="798060"/>
                    <a:pt x="1655401" y="798060"/>
                  </a:cubicBezTo>
                  <a:lnTo>
                    <a:pt x="37342" y="798060"/>
                  </a:lnTo>
                  <a:cubicBezTo>
                    <a:pt x="27438" y="798060"/>
                    <a:pt x="17940" y="794126"/>
                    <a:pt x="10937" y="787123"/>
                  </a:cubicBezTo>
                  <a:cubicBezTo>
                    <a:pt x="3934" y="780120"/>
                    <a:pt x="0" y="770622"/>
                    <a:pt x="0" y="760718"/>
                  </a:cubicBezTo>
                  <a:lnTo>
                    <a:pt x="0" y="37342"/>
                  </a:lnTo>
                  <a:cubicBezTo>
                    <a:pt x="0" y="16718"/>
                    <a:pt x="16718" y="0"/>
                    <a:pt x="37342" y="0"/>
                  </a:cubicBezTo>
                  <a:close/>
                </a:path>
              </a:pathLst>
            </a:custGeom>
            <a:solidFill>
              <a:srgbClr val="1A3A6E"/>
            </a:solidFill>
            <a:ln cap="rnd">
              <a:noFill/>
              <a:prstDash val="solid"/>
              <a:round/>
            </a:ln>
          </p:spPr>
        </p:sp>
        <p:sp>
          <p:nvSpPr>
            <p:cNvPr id="14" name="TextBox 14"/>
            <p:cNvSpPr txBox="1"/>
            <p:nvPr/>
          </p:nvSpPr>
          <p:spPr>
            <a:xfrm>
              <a:off x="0" y="-38100"/>
              <a:ext cx="1692742" cy="836160"/>
            </a:xfrm>
            <a:prstGeom prst="rect">
              <a:avLst/>
            </a:prstGeom>
          </p:spPr>
          <p:txBody>
            <a:bodyPr lIns="50800" tIns="50800" rIns="50800" bIns="50800" rtlCol="0" anchor="ctr"/>
            <a:lstStyle/>
            <a:p>
              <a:pPr algn="ctr">
                <a:lnSpc>
                  <a:spcPts val="2160"/>
                </a:lnSpc>
              </a:pPr>
              <a:endParaRPr/>
            </a:p>
          </p:txBody>
        </p:sp>
      </p:grpSp>
      <p:grpSp>
        <p:nvGrpSpPr>
          <p:cNvPr id="15" name="Group 15"/>
          <p:cNvGrpSpPr/>
          <p:nvPr/>
        </p:nvGrpSpPr>
        <p:grpSpPr>
          <a:xfrm>
            <a:off x="2518833" y="6327486"/>
            <a:ext cx="5650905" cy="898119"/>
            <a:chOff x="0" y="0"/>
            <a:chExt cx="7534540" cy="1197491"/>
          </a:xfrm>
        </p:grpSpPr>
        <p:sp>
          <p:nvSpPr>
            <p:cNvPr id="16" name="Freeform 16"/>
            <p:cNvSpPr/>
            <p:nvPr/>
          </p:nvSpPr>
          <p:spPr>
            <a:xfrm>
              <a:off x="0" y="0"/>
              <a:ext cx="7534541" cy="1197492"/>
            </a:xfrm>
            <a:custGeom>
              <a:avLst/>
              <a:gdLst/>
              <a:ahLst/>
              <a:cxnLst/>
              <a:rect l="l" t="t" r="r" b="b"/>
              <a:pathLst>
                <a:path w="7534541" h="1197492">
                  <a:moveTo>
                    <a:pt x="0" y="0"/>
                  </a:moveTo>
                  <a:lnTo>
                    <a:pt x="7534541" y="0"/>
                  </a:lnTo>
                  <a:lnTo>
                    <a:pt x="7534541" y="1197492"/>
                  </a:lnTo>
                  <a:lnTo>
                    <a:pt x="0" y="1197492"/>
                  </a:lnTo>
                  <a:close/>
                </a:path>
              </a:pathLst>
            </a:custGeom>
            <a:solidFill>
              <a:srgbClr val="E8C96B">
                <a:alpha val="0"/>
              </a:srgbClr>
            </a:solidFill>
          </p:spPr>
        </p:sp>
        <p:sp>
          <p:nvSpPr>
            <p:cNvPr id="17" name="TextBox 17"/>
            <p:cNvSpPr txBox="1"/>
            <p:nvPr/>
          </p:nvSpPr>
          <p:spPr>
            <a:xfrm>
              <a:off x="0" y="-85725"/>
              <a:ext cx="7534540" cy="1283216"/>
            </a:xfrm>
            <a:prstGeom prst="rect">
              <a:avLst/>
            </a:prstGeom>
          </p:spPr>
          <p:txBody>
            <a:bodyPr lIns="0" tIns="0" rIns="0" bIns="0" rtlCol="0" anchor="ctr"/>
            <a:lstStyle/>
            <a:p>
              <a:pPr algn="l">
                <a:lnSpc>
                  <a:spcPts val="5399"/>
                </a:lnSpc>
              </a:pPr>
              <a:r>
                <a:rPr lang="en-US" sz="4499" b="1">
                  <a:solidFill>
                    <a:srgbClr val="EEF1F7"/>
                  </a:solidFill>
                  <a:latin typeface="Calibri (MS) Bold"/>
                  <a:ea typeface="Calibri (MS) Bold"/>
                  <a:cs typeface="Calibri (MS) Bold"/>
                  <a:sym typeface="Calibri (MS) Bold"/>
                </a:rPr>
                <a:t>Effective Management </a:t>
              </a:r>
            </a:p>
          </p:txBody>
        </p:sp>
      </p:grpSp>
      <p:grpSp>
        <p:nvGrpSpPr>
          <p:cNvPr id="18" name="Group 18"/>
          <p:cNvGrpSpPr/>
          <p:nvPr/>
        </p:nvGrpSpPr>
        <p:grpSpPr>
          <a:xfrm>
            <a:off x="9144000" y="4670966"/>
            <a:ext cx="6427131" cy="3065836"/>
            <a:chOff x="0" y="0"/>
            <a:chExt cx="1692742" cy="807463"/>
          </a:xfrm>
        </p:grpSpPr>
        <p:sp>
          <p:nvSpPr>
            <p:cNvPr id="19" name="Freeform 19"/>
            <p:cNvSpPr/>
            <p:nvPr/>
          </p:nvSpPr>
          <p:spPr>
            <a:xfrm>
              <a:off x="0" y="0"/>
              <a:ext cx="1692742" cy="807463"/>
            </a:xfrm>
            <a:custGeom>
              <a:avLst/>
              <a:gdLst/>
              <a:ahLst/>
              <a:cxnLst/>
              <a:rect l="l" t="t" r="r" b="b"/>
              <a:pathLst>
                <a:path w="1692742" h="807463">
                  <a:moveTo>
                    <a:pt x="37342" y="0"/>
                  </a:moveTo>
                  <a:lnTo>
                    <a:pt x="1655401" y="0"/>
                  </a:lnTo>
                  <a:cubicBezTo>
                    <a:pt x="1665304" y="0"/>
                    <a:pt x="1674802" y="3934"/>
                    <a:pt x="1681805" y="10937"/>
                  </a:cubicBezTo>
                  <a:cubicBezTo>
                    <a:pt x="1688808" y="17940"/>
                    <a:pt x="1692742" y="27438"/>
                    <a:pt x="1692742" y="37342"/>
                  </a:cubicBezTo>
                  <a:lnTo>
                    <a:pt x="1692742" y="770122"/>
                  </a:lnTo>
                  <a:cubicBezTo>
                    <a:pt x="1692742" y="790745"/>
                    <a:pt x="1676024" y="807463"/>
                    <a:pt x="1655401" y="807463"/>
                  </a:cubicBezTo>
                  <a:lnTo>
                    <a:pt x="37342" y="807463"/>
                  </a:lnTo>
                  <a:cubicBezTo>
                    <a:pt x="16718" y="807463"/>
                    <a:pt x="0" y="790745"/>
                    <a:pt x="0" y="770122"/>
                  </a:cubicBezTo>
                  <a:lnTo>
                    <a:pt x="0" y="37342"/>
                  </a:lnTo>
                  <a:cubicBezTo>
                    <a:pt x="0" y="16718"/>
                    <a:pt x="16718" y="0"/>
                    <a:pt x="37342" y="0"/>
                  </a:cubicBezTo>
                  <a:close/>
                </a:path>
              </a:pathLst>
            </a:custGeom>
            <a:solidFill>
              <a:srgbClr val="1A3A6E"/>
            </a:solidFill>
            <a:ln cap="rnd">
              <a:noFill/>
              <a:prstDash val="solid"/>
              <a:round/>
            </a:ln>
          </p:spPr>
        </p:sp>
        <p:sp>
          <p:nvSpPr>
            <p:cNvPr id="20" name="TextBox 20"/>
            <p:cNvSpPr txBox="1"/>
            <p:nvPr/>
          </p:nvSpPr>
          <p:spPr>
            <a:xfrm>
              <a:off x="0" y="-38100"/>
              <a:ext cx="1692742" cy="845563"/>
            </a:xfrm>
            <a:prstGeom prst="rect">
              <a:avLst/>
            </a:prstGeom>
          </p:spPr>
          <p:txBody>
            <a:bodyPr lIns="50800" tIns="50800" rIns="50800" bIns="50800" rtlCol="0" anchor="ctr"/>
            <a:lstStyle/>
            <a:p>
              <a:pPr algn="ctr">
                <a:lnSpc>
                  <a:spcPts val="2160"/>
                </a:lnSpc>
              </a:pPr>
              <a:endParaRPr/>
            </a:p>
          </p:txBody>
        </p:sp>
      </p:grpSp>
      <p:grpSp>
        <p:nvGrpSpPr>
          <p:cNvPr id="21" name="Group 21"/>
          <p:cNvGrpSpPr/>
          <p:nvPr/>
        </p:nvGrpSpPr>
        <p:grpSpPr>
          <a:xfrm>
            <a:off x="9392827" y="6327486"/>
            <a:ext cx="6178304" cy="898119"/>
            <a:chOff x="0" y="0"/>
            <a:chExt cx="8237739" cy="1197491"/>
          </a:xfrm>
        </p:grpSpPr>
        <p:sp>
          <p:nvSpPr>
            <p:cNvPr id="22" name="Freeform 22"/>
            <p:cNvSpPr/>
            <p:nvPr/>
          </p:nvSpPr>
          <p:spPr>
            <a:xfrm>
              <a:off x="0" y="0"/>
              <a:ext cx="8237739" cy="1197492"/>
            </a:xfrm>
            <a:custGeom>
              <a:avLst/>
              <a:gdLst/>
              <a:ahLst/>
              <a:cxnLst/>
              <a:rect l="l" t="t" r="r" b="b"/>
              <a:pathLst>
                <a:path w="8237739" h="1197492">
                  <a:moveTo>
                    <a:pt x="0" y="0"/>
                  </a:moveTo>
                  <a:lnTo>
                    <a:pt x="8237739" y="0"/>
                  </a:lnTo>
                  <a:lnTo>
                    <a:pt x="8237739" y="1197492"/>
                  </a:lnTo>
                  <a:lnTo>
                    <a:pt x="0" y="1197492"/>
                  </a:lnTo>
                  <a:close/>
                </a:path>
              </a:pathLst>
            </a:custGeom>
            <a:solidFill>
              <a:srgbClr val="E8C96B">
                <a:alpha val="0"/>
              </a:srgbClr>
            </a:solidFill>
          </p:spPr>
        </p:sp>
        <p:sp>
          <p:nvSpPr>
            <p:cNvPr id="23" name="TextBox 23"/>
            <p:cNvSpPr txBox="1"/>
            <p:nvPr/>
          </p:nvSpPr>
          <p:spPr>
            <a:xfrm>
              <a:off x="0" y="-85725"/>
              <a:ext cx="8237739" cy="1283216"/>
            </a:xfrm>
            <a:prstGeom prst="rect">
              <a:avLst/>
            </a:prstGeom>
          </p:spPr>
          <p:txBody>
            <a:bodyPr lIns="0" tIns="0" rIns="0" bIns="0" rtlCol="0" anchor="ctr"/>
            <a:lstStyle/>
            <a:p>
              <a:pPr algn="l">
                <a:lnSpc>
                  <a:spcPts val="5399"/>
                </a:lnSpc>
              </a:pPr>
              <a:r>
                <a:rPr lang="en-US" sz="4499" b="1">
                  <a:solidFill>
                    <a:srgbClr val="EEF1F7"/>
                  </a:solidFill>
                  <a:latin typeface="Calibri (MS) Bold"/>
                  <a:ea typeface="Calibri (MS) Bold"/>
                  <a:cs typeface="Calibri (MS) Bold"/>
                  <a:sym typeface="Calibri (MS) Bold"/>
                </a:rPr>
                <a:t>Coaching Team Members </a:t>
              </a:r>
            </a:p>
          </p:txBody>
        </p:sp>
      </p:grpSp>
      <p:grpSp>
        <p:nvGrpSpPr>
          <p:cNvPr id="24" name="Group 24"/>
          <p:cNvGrpSpPr/>
          <p:nvPr/>
        </p:nvGrpSpPr>
        <p:grpSpPr>
          <a:xfrm>
            <a:off x="4156061" y="3689662"/>
            <a:ext cx="2296035" cy="2296035"/>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D5B"/>
            </a:solidFill>
            <a:ln w="38100" cap="sq">
              <a:solidFill>
                <a:srgbClr val="C9A84C"/>
              </a:solidFill>
              <a:prstDash val="solid"/>
              <a:miter/>
            </a:ln>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27" name="Freeform 27"/>
          <p:cNvSpPr/>
          <p:nvPr/>
        </p:nvSpPr>
        <p:spPr>
          <a:xfrm>
            <a:off x="4465016" y="3888928"/>
            <a:ext cx="1635481" cy="1635481"/>
          </a:xfrm>
          <a:custGeom>
            <a:avLst/>
            <a:gdLst/>
            <a:ahLst/>
            <a:cxnLst/>
            <a:rect l="l" t="t" r="r" b="b"/>
            <a:pathLst>
              <a:path w="1635481" h="1635481">
                <a:moveTo>
                  <a:pt x="0" y="0"/>
                </a:moveTo>
                <a:lnTo>
                  <a:pt x="1635480" y="0"/>
                </a:lnTo>
                <a:lnTo>
                  <a:pt x="1635480" y="1635481"/>
                </a:lnTo>
                <a:lnTo>
                  <a:pt x="0" y="163548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28" name="Group 28"/>
          <p:cNvGrpSpPr/>
          <p:nvPr/>
        </p:nvGrpSpPr>
        <p:grpSpPr>
          <a:xfrm>
            <a:off x="11209548" y="3522948"/>
            <a:ext cx="2296035" cy="2296035"/>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D5B"/>
            </a:solidFill>
            <a:ln w="38100" cap="sq">
              <a:solidFill>
                <a:srgbClr val="C9A84C"/>
              </a:solidFill>
              <a:prstDash val="solid"/>
              <a:miter/>
            </a:ln>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31" name="Freeform 31"/>
          <p:cNvSpPr/>
          <p:nvPr/>
        </p:nvSpPr>
        <p:spPr>
          <a:xfrm>
            <a:off x="11658562" y="3840952"/>
            <a:ext cx="1398006" cy="1398006"/>
          </a:xfrm>
          <a:custGeom>
            <a:avLst/>
            <a:gdLst/>
            <a:ahLst/>
            <a:cxnLst/>
            <a:rect l="l" t="t" r="r" b="b"/>
            <a:pathLst>
              <a:path w="1398006" h="1398006">
                <a:moveTo>
                  <a:pt x="0" y="0"/>
                </a:moveTo>
                <a:lnTo>
                  <a:pt x="1398007" y="0"/>
                </a:lnTo>
                <a:lnTo>
                  <a:pt x="1398007" y="1398006"/>
                </a:lnTo>
                <a:lnTo>
                  <a:pt x="0" y="139800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2" name="Freeform 32"/>
          <p:cNvSpPr/>
          <p:nvPr/>
        </p:nvSpPr>
        <p:spPr>
          <a:xfrm>
            <a:off x="13505583" y="1028700"/>
            <a:ext cx="688193" cy="561759"/>
          </a:xfrm>
          <a:custGeom>
            <a:avLst/>
            <a:gdLst/>
            <a:ahLst/>
            <a:cxnLst/>
            <a:rect l="l" t="t" r="r" b="b"/>
            <a:pathLst>
              <a:path w="688193" h="561759">
                <a:moveTo>
                  <a:pt x="0" y="0"/>
                </a:moveTo>
                <a:lnTo>
                  <a:pt x="688193" y="0"/>
                </a:lnTo>
                <a:lnTo>
                  <a:pt x="688193" y="561759"/>
                </a:lnTo>
                <a:lnTo>
                  <a:pt x="0" y="561759"/>
                </a:lnTo>
                <a:lnTo>
                  <a:pt x="0" y="0"/>
                </a:lnTo>
                <a:close/>
              </a:path>
            </a:pathLst>
          </a:custGeom>
          <a:blipFill>
            <a:blip r:embed="rId6"/>
            <a:stretch>
              <a:fillRect l="-2654" t="-7161" r="-2654"/>
            </a:stretch>
          </a:blipFill>
        </p:spPr>
      </p:sp>
      <p:grpSp>
        <p:nvGrpSpPr>
          <p:cNvPr id="33" name="Group 33"/>
          <p:cNvGrpSpPr/>
          <p:nvPr/>
        </p:nvGrpSpPr>
        <p:grpSpPr>
          <a:xfrm>
            <a:off x="14290488" y="1060869"/>
            <a:ext cx="2897948" cy="548640"/>
            <a:chOff x="0" y="0"/>
            <a:chExt cx="3863931" cy="731520"/>
          </a:xfrm>
        </p:grpSpPr>
        <p:sp>
          <p:nvSpPr>
            <p:cNvPr id="34" name="Freeform 34"/>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35" name="TextBox 35"/>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F4F6F9"/>
                  </a:solidFill>
                  <a:latin typeface="Calibri (MS)"/>
                  <a:ea typeface="Calibri (MS)"/>
                  <a:cs typeface="Calibri (MS)"/>
                  <a:sym typeface="Calibri (MS)"/>
                </a:rPr>
                <a:t>GCB Bank PLC</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grpSp>
        <p:nvGrpSpPr>
          <p:cNvPr id="2" name="Group 2"/>
          <p:cNvGrpSpPr/>
          <p:nvPr/>
        </p:nvGrpSpPr>
        <p:grpSpPr>
          <a:xfrm>
            <a:off x="-395859" y="0"/>
            <a:ext cx="533400" cy="10287000"/>
            <a:chOff x="0" y="0"/>
            <a:chExt cx="170688" cy="3291840"/>
          </a:xfrm>
        </p:grpSpPr>
        <p:sp>
          <p:nvSpPr>
            <p:cNvPr id="3" name="Freeform 3"/>
            <p:cNvSpPr/>
            <p:nvPr/>
          </p:nvSpPr>
          <p:spPr>
            <a:xfrm>
              <a:off x="0" y="0"/>
              <a:ext cx="170688" cy="3291840"/>
            </a:xfrm>
            <a:custGeom>
              <a:avLst/>
              <a:gdLst/>
              <a:ahLst/>
              <a:cxnLst/>
              <a:rect l="l" t="t" r="r" b="b"/>
              <a:pathLst>
                <a:path w="170688" h="3291840">
                  <a:moveTo>
                    <a:pt x="0" y="0"/>
                  </a:moveTo>
                  <a:lnTo>
                    <a:pt x="170688" y="0"/>
                  </a:lnTo>
                  <a:lnTo>
                    <a:pt x="170688" y="3291840"/>
                  </a:lnTo>
                  <a:lnTo>
                    <a:pt x="0" y="3291840"/>
                  </a:lnTo>
                  <a:close/>
                </a:path>
              </a:pathLst>
            </a:custGeom>
            <a:solidFill>
              <a:srgbClr val="C9A84C"/>
            </a:solidFill>
          </p:spPr>
        </p:sp>
      </p:grpSp>
      <p:grpSp>
        <p:nvGrpSpPr>
          <p:cNvPr id="4" name="Group 4"/>
          <p:cNvGrpSpPr/>
          <p:nvPr/>
        </p:nvGrpSpPr>
        <p:grpSpPr>
          <a:xfrm>
            <a:off x="1028700" y="1336433"/>
            <a:ext cx="10913278" cy="1224649"/>
            <a:chOff x="0" y="0"/>
            <a:chExt cx="14551037" cy="1632865"/>
          </a:xfrm>
        </p:grpSpPr>
        <p:sp>
          <p:nvSpPr>
            <p:cNvPr id="5" name="Freeform 5"/>
            <p:cNvSpPr/>
            <p:nvPr/>
          </p:nvSpPr>
          <p:spPr>
            <a:xfrm>
              <a:off x="0" y="0"/>
              <a:ext cx="14551037" cy="1632865"/>
            </a:xfrm>
            <a:custGeom>
              <a:avLst/>
              <a:gdLst/>
              <a:ahLst/>
              <a:cxnLst/>
              <a:rect l="l" t="t" r="r" b="b"/>
              <a:pathLst>
                <a:path w="14551037" h="1632865">
                  <a:moveTo>
                    <a:pt x="0" y="0"/>
                  </a:moveTo>
                  <a:lnTo>
                    <a:pt x="14551037" y="0"/>
                  </a:lnTo>
                  <a:lnTo>
                    <a:pt x="14551037" y="1632865"/>
                  </a:lnTo>
                  <a:lnTo>
                    <a:pt x="0" y="1632865"/>
                  </a:lnTo>
                  <a:close/>
                </a:path>
              </a:pathLst>
            </a:custGeom>
            <a:blipFill>
              <a:blip r:embed="rId3">
                <a:alphaModFix amt="0"/>
              </a:blip>
              <a:stretch>
                <a:fillRect t="-208502" r="-42439" b="-186155"/>
              </a:stretch>
            </a:blipFill>
          </p:spPr>
        </p:sp>
        <p:sp>
          <p:nvSpPr>
            <p:cNvPr id="6" name="TextBox 6"/>
            <p:cNvSpPr txBox="1"/>
            <p:nvPr/>
          </p:nvSpPr>
          <p:spPr>
            <a:xfrm>
              <a:off x="0" y="-133350"/>
              <a:ext cx="14551037" cy="1766215"/>
            </a:xfrm>
            <a:prstGeom prst="rect">
              <a:avLst/>
            </a:prstGeom>
          </p:spPr>
          <p:txBody>
            <a:bodyPr lIns="0" tIns="0" rIns="0" bIns="0" rtlCol="0" anchor="ctr"/>
            <a:lstStyle/>
            <a:p>
              <a:pPr algn="l">
                <a:lnSpc>
                  <a:spcPts val="7319"/>
                </a:lnSpc>
              </a:pPr>
              <a:r>
                <a:rPr lang="en-US" sz="6099" b="1" spc="-150" dirty="0">
                  <a:solidFill>
                    <a:srgbClr val="0B1E3D"/>
                  </a:solidFill>
                  <a:latin typeface="Calibri (MS) Bold"/>
                  <a:ea typeface="Calibri (MS) Bold"/>
                  <a:cs typeface="Calibri (MS) Bold"/>
                  <a:sym typeface="Calibri (MS) Bold"/>
                </a:rPr>
                <a:t>OPERATIONAL</a:t>
              </a:r>
              <a:r>
                <a:rPr lang="en-US" sz="6099" b="1" spc="554" dirty="0">
                  <a:solidFill>
                    <a:srgbClr val="0B1E3D"/>
                  </a:solidFill>
                  <a:latin typeface="Calibri (MS) Bold"/>
                  <a:ea typeface="Calibri (MS) Bold"/>
                  <a:cs typeface="Calibri (MS) Bold"/>
                  <a:sym typeface="Calibri (MS) Bold"/>
                </a:rPr>
                <a:t> CHALLENGES</a:t>
              </a:r>
            </a:p>
          </p:txBody>
        </p:sp>
      </p:grpSp>
      <p:grpSp>
        <p:nvGrpSpPr>
          <p:cNvPr id="7" name="Group 7"/>
          <p:cNvGrpSpPr/>
          <p:nvPr/>
        </p:nvGrpSpPr>
        <p:grpSpPr>
          <a:xfrm>
            <a:off x="1028700" y="3570732"/>
            <a:ext cx="16230600" cy="1737360"/>
            <a:chOff x="0" y="0"/>
            <a:chExt cx="21640800" cy="2316480"/>
          </a:xfrm>
        </p:grpSpPr>
        <p:sp>
          <p:nvSpPr>
            <p:cNvPr id="8" name="Freeform 8"/>
            <p:cNvSpPr/>
            <p:nvPr/>
          </p:nvSpPr>
          <p:spPr>
            <a:xfrm>
              <a:off x="0" y="0"/>
              <a:ext cx="21640800" cy="2316480"/>
            </a:xfrm>
            <a:custGeom>
              <a:avLst/>
              <a:gdLst/>
              <a:ahLst/>
              <a:cxnLst/>
              <a:rect l="l" t="t" r="r" b="b"/>
              <a:pathLst>
                <a:path w="21640800" h="2316480">
                  <a:moveTo>
                    <a:pt x="0" y="0"/>
                  </a:moveTo>
                  <a:lnTo>
                    <a:pt x="21640800" y="0"/>
                  </a:lnTo>
                  <a:lnTo>
                    <a:pt x="21640800" y="2316480"/>
                  </a:lnTo>
                  <a:lnTo>
                    <a:pt x="0" y="2316480"/>
                  </a:lnTo>
                  <a:close/>
                </a:path>
              </a:pathLst>
            </a:custGeom>
            <a:solidFill>
              <a:srgbClr val="E0E9FA"/>
            </a:solidFill>
          </p:spPr>
        </p:sp>
      </p:grpSp>
      <p:grpSp>
        <p:nvGrpSpPr>
          <p:cNvPr id="9" name="Group 9"/>
          <p:cNvGrpSpPr/>
          <p:nvPr/>
        </p:nvGrpSpPr>
        <p:grpSpPr>
          <a:xfrm>
            <a:off x="1028700" y="3570732"/>
            <a:ext cx="109728" cy="1737360"/>
            <a:chOff x="0" y="0"/>
            <a:chExt cx="146304" cy="2316480"/>
          </a:xfrm>
        </p:grpSpPr>
        <p:sp>
          <p:nvSpPr>
            <p:cNvPr id="10" name="Freeform 10"/>
            <p:cNvSpPr/>
            <p:nvPr/>
          </p:nvSpPr>
          <p:spPr>
            <a:xfrm>
              <a:off x="0" y="0"/>
              <a:ext cx="146304" cy="2316480"/>
            </a:xfrm>
            <a:custGeom>
              <a:avLst/>
              <a:gdLst/>
              <a:ahLst/>
              <a:cxnLst/>
              <a:rect l="l" t="t" r="r" b="b"/>
              <a:pathLst>
                <a:path w="146304" h="2316480">
                  <a:moveTo>
                    <a:pt x="0" y="0"/>
                  </a:moveTo>
                  <a:lnTo>
                    <a:pt x="146304" y="0"/>
                  </a:lnTo>
                  <a:lnTo>
                    <a:pt x="146304" y="2316480"/>
                  </a:lnTo>
                  <a:lnTo>
                    <a:pt x="0" y="2316480"/>
                  </a:lnTo>
                  <a:close/>
                </a:path>
              </a:pathLst>
            </a:custGeom>
            <a:solidFill>
              <a:srgbClr val="C0392B"/>
            </a:solidFill>
          </p:spPr>
        </p:sp>
      </p:grpSp>
      <p:grpSp>
        <p:nvGrpSpPr>
          <p:cNvPr id="11" name="Group 11"/>
          <p:cNvGrpSpPr/>
          <p:nvPr/>
        </p:nvGrpSpPr>
        <p:grpSpPr>
          <a:xfrm>
            <a:off x="1303020" y="3973068"/>
            <a:ext cx="822960" cy="822960"/>
            <a:chOff x="0" y="0"/>
            <a:chExt cx="1097280" cy="1097280"/>
          </a:xfrm>
        </p:grpSpPr>
        <p:sp>
          <p:nvSpPr>
            <p:cNvPr id="12" name="Freeform 12" descr="preencoded.png"/>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lnTo>
                    <a:pt x="0" y="0"/>
                  </a:lnTo>
                  <a:close/>
                </a:path>
              </a:pathLst>
            </a:custGeom>
            <a:blipFill>
              <a:blip r:embed="rId4"/>
              <a:stretch>
                <a:fillRect/>
              </a:stretch>
            </a:blipFill>
          </p:spPr>
        </p:sp>
      </p:grpSp>
      <p:grpSp>
        <p:nvGrpSpPr>
          <p:cNvPr id="13" name="Group 13"/>
          <p:cNvGrpSpPr/>
          <p:nvPr/>
        </p:nvGrpSpPr>
        <p:grpSpPr>
          <a:xfrm>
            <a:off x="2810836" y="3712845"/>
            <a:ext cx="9131141" cy="1499616"/>
            <a:chOff x="0" y="0"/>
            <a:chExt cx="12174855" cy="1999488"/>
          </a:xfrm>
        </p:grpSpPr>
        <p:sp>
          <p:nvSpPr>
            <p:cNvPr id="14" name="Freeform 14"/>
            <p:cNvSpPr/>
            <p:nvPr/>
          </p:nvSpPr>
          <p:spPr>
            <a:xfrm>
              <a:off x="0" y="0"/>
              <a:ext cx="12174855" cy="1999488"/>
            </a:xfrm>
            <a:custGeom>
              <a:avLst/>
              <a:gdLst/>
              <a:ahLst/>
              <a:cxnLst/>
              <a:rect l="l" t="t" r="r" b="b"/>
              <a:pathLst>
                <a:path w="12174855" h="1999488">
                  <a:moveTo>
                    <a:pt x="0" y="0"/>
                  </a:moveTo>
                  <a:lnTo>
                    <a:pt x="12174855" y="0"/>
                  </a:lnTo>
                  <a:lnTo>
                    <a:pt x="12174855" y="1999488"/>
                  </a:lnTo>
                  <a:lnTo>
                    <a:pt x="0" y="1999488"/>
                  </a:lnTo>
                  <a:close/>
                </a:path>
              </a:pathLst>
            </a:custGeom>
            <a:blipFill>
              <a:blip r:embed="rId3">
                <a:alphaModFix amt="0"/>
              </a:blip>
              <a:stretch>
                <a:fillRect t="-15346" r="44922" b="-15346"/>
              </a:stretch>
            </a:blipFill>
          </p:spPr>
        </p:sp>
        <p:sp>
          <p:nvSpPr>
            <p:cNvPr id="15" name="TextBox 15"/>
            <p:cNvSpPr txBox="1"/>
            <p:nvPr/>
          </p:nvSpPr>
          <p:spPr>
            <a:xfrm>
              <a:off x="0" y="-95250"/>
              <a:ext cx="12174855" cy="2094738"/>
            </a:xfrm>
            <a:prstGeom prst="rect">
              <a:avLst/>
            </a:prstGeom>
          </p:spPr>
          <p:txBody>
            <a:bodyPr lIns="0" tIns="0" rIns="0" bIns="0" rtlCol="0" anchor="ctr"/>
            <a:lstStyle/>
            <a:p>
              <a:pPr algn="l">
                <a:lnSpc>
                  <a:spcPts val="5519"/>
                </a:lnSpc>
              </a:pPr>
              <a:r>
                <a:rPr lang="en-US" sz="4599" b="1">
                  <a:solidFill>
                    <a:srgbClr val="0B1E3D"/>
                  </a:solidFill>
                  <a:latin typeface="Calibri (MS) Bold"/>
                  <a:ea typeface="Calibri (MS) Bold"/>
                  <a:cs typeface="Calibri (MS) Bold"/>
                  <a:sym typeface="Calibri (MS) Bold"/>
                </a:rPr>
                <a:t>Unpredictable Branch Cash Demands</a:t>
              </a:r>
            </a:p>
          </p:txBody>
        </p:sp>
      </p:grpSp>
      <p:grpSp>
        <p:nvGrpSpPr>
          <p:cNvPr id="16" name="Group 16"/>
          <p:cNvGrpSpPr/>
          <p:nvPr/>
        </p:nvGrpSpPr>
        <p:grpSpPr>
          <a:xfrm>
            <a:off x="1028700" y="5545836"/>
            <a:ext cx="16230600" cy="1737360"/>
            <a:chOff x="0" y="0"/>
            <a:chExt cx="21640800" cy="2316480"/>
          </a:xfrm>
        </p:grpSpPr>
        <p:sp>
          <p:nvSpPr>
            <p:cNvPr id="17" name="Freeform 17"/>
            <p:cNvSpPr/>
            <p:nvPr/>
          </p:nvSpPr>
          <p:spPr>
            <a:xfrm>
              <a:off x="0" y="0"/>
              <a:ext cx="21640800" cy="2316480"/>
            </a:xfrm>
            <a:custGeom>
              <a:avLst/>
              <a:gdLst/>
              <a:ahLst/>
              <a:cxnLst/>
              <a:rect l="l" t="t" r="r" b="b"/>
              <a:pathLst>
                <a:path w="21640800" h="2316480">
                  <a:moveTo>
                    <a:pt x="0" y="0"/>
                  </a:moveTo>
                  <a:lnTo>
                    <a:pt x="21640800" y="0"/>
                  </a:lnTo>
                  <a:lnTo>
                    <a:pt x="21640800" y="2316480"/>
                  </a:lnTo>
                  <a:lnTo>
                    <a:pt x="0" y="2316480"/>
                  </a:lnTo>
                  <a:close/>
                </a:path>
              </a:pathLst>
            </a:custGeom>
            <a:solidFill>
              <a:srgbClr val="BBCDE9"/>
            </a:solidFill>
          </p:spPr>
        </p:sp>
      </p:grpSp>
      <p:grpSp>
        <p:nvGrpSpPr>
          <p:cNvPr id="18" name="Group 18"/>
          <p:cNvGrpSpPr/>
          <p:nvPr/>
        </p:nvGrpSpPr>
        <p:grpSpPr>
          <a:xfrm>
            <a:off x="1028700" y="5545836"/>
            <a:ext cx="109728" cy="1737360"/>
            <a:chOff x="0" y="0"/>
            <a:chExt cx="146304" cy="2316480"/>
          </a:xfrm>
        </p:grpSpPr>
        <p:sp>
          <p:nvSpPr>
            <p:cNvPr id="19" name="Freeform 19"/>
            <p:cNvSpPr/>
            <p:nvPr/>
          </p:nvSpPr>
          <p:spPr>
            <a:xfrm>
              <a:off x="0" y="0"/>
              <a:ext cx="146304" cy="2316480"/>
            </a:xfrm>
            <a:custGeom>
              <a:avLst/>
              <a:gdLst/>
              <a:ahLst/>
              <a:cxnLst/>
              <a:rect l="l" t="t" r="r" b="b"/>
              <a:pathLst>
                <a:path w="146304" h="2316480">
                  <a:moveTo>
                    <a:pt x="0" y="0"/>
                  </a:moveTo>
                  <a:lnTo>
                    <a:pt x="146304" y="0"/>
                  </a:lnTo>
                  <a:lnTo>
                    <a:pt x="146304" y="2316480"/>
                  </a:lnTo>
                  <a:lnTo>
                    <a:pt x="0" y="2316480"/>
                  </a:lnTo>
                  <a:close/>
                </a:path>
              </a:pathLst>
            </a:custGeom>
            <a:solidFill>
              <a:srgbClr val="E67E22"/>
            </a:solidFill>
          </p:spPr>
        </p:sp>
      </p:grpSp>
      <p:grpSp>
        <p:nvGrpSpPr>
          <p:cNvPr id="20" name="Group 20"/>
          <p:cNvGrpSpPr/>
          <p:nvPr/>
        </p:nvGrpSpPr>
        <p:grpSpPr>
          <a:xfrm>
            <a:off x="1303020" y="5948172"/>
            <a:ext cx="822960" cy="822960"/>
            <a:chOff x="0" y="0"/>
            <a:chExt cx="1097280" cy="1097280"/>
          </a:xfrm>
        </p:grpSpPr>
        <p:sp>
          <p:nvSpPr>
            <p:cNvPr id="21" name="Freeform 21" descr="preencoded.png"/>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lnTo>
                    <a:pt x="0" y="0"/>
                  </a:lnTo>
                  <a:close/>
                </a:path>
              </a:pathLst>
            </a:custGeom>
            <a:blipFill>
              <a:blip r:embed="rId5"/>
              <a:stretch>
                <a:fillRect/>
              </a:stretch>
            </a:blipFill>
          </p:spPr>
        </p:sp>
      </p:grpSp>
      <p:grpSp>
        <p:nvGrpSpPr>
          <p:cNvPr id="22" name="Group 22"/>
          <p:cNvGrpSpPr/>
          <p:nvPr/>
        </p:nvGrpSpPr>
        <p:grpSpPr>
          <a:xfrm>
            <a:off x="2810836" y="5664708"/>
            <a:ext cx="12752614" cy="1499616"/>
            <a:chOff x="0" y="0"/>
            <a:chExt cx="17003486" cy="1999488"/>
          </a:xfrm>
        </p:grpSpPr>
        <p:sp>
          <p:nvSpPr>
            <p:cNvPr id="23" name="Freeform 23"/>
            <p:cNvSpPr/>
            <p:nvPr/>
          </p:nvSpPr>
          <p:spPr>
            <a:xfrm>
              <a:off x="0" y="0"/>
              <a:ext cx="17003486" cy="1999488"/>
            </a:xfrm>
            <a:custGeom>
              <a:avLst/>
              <a:gdLst/>
              <a:ahLst/>
              <a:cxnLst/>
              <a:rect l="l" t="t" r="r" b="b"/>
              <a:pathLst>
                <a:path w="17003486" h="1999488">
                  <a:moveTo>
                    <a:pt x="0" y="0"/>
                  </a:moveTo>
                  <a:lnTo>
                    <a:pt x="17003486" y="0"/>
                  </a:lnTo>
                  <a:lnTo>
                    <a:pt x="17003486" y="1999488"/>
                  </a:lnTo>
                  <a:lnTo>
                    <a:pt x="0" y="1999488"/>
                  </a:lnTo>
                  <a:close/>
                </a:path>
              </a:pathLst>
            </a:custGeom>
            <a:blipFill>
              <a:blip r:embed="rId3">
                <a:alphaModFix amt="0"/>
              </a:blip>
              <a:stretch>
                <a:fillRect t="-15346" r="60563" b="-15346"/>
              </a:stretch>
            </a:blipFill>
          </p:spPr>
        </p:sp>
        <p:sp>
          <p:nvSpPr>
            <p:cNvPr id="24" name="TextBox 24"/>
            <p:cNvSpPr txBox="1"/>
            <p:nvPr/>
          </p:nvSpPr>
          <p:spPr>
            <a:xfrm>
              <a:off x="0" y="-95250"/>
              <a:ext cx="17003486" cy="2094738"/>
            </a:xfrm>
            <a:prstGeom prst="rect">
              <a:avLst/>
            </a:prstGeom>
          </p:spPr>
          <p:txBody>
            <a:bodyPr lIns="0" tIns="0" rIns="0" bIns="0" rtlCol="0" anchor="ctr"/>
            <a:lstStyle/>
            <a:p>
              <a:pPr algn="l">
                <a:lnSpc>
                  <a:spcPts val="5519"/>
                </a:lnSpc>
              </a:pPr>
              <a:r>
                <a:rPr lang="en-US" sz="4599" b="1">
                  <a:solidFill>
                    <a:srgbClr val="0B1E3D"/>
                  </a:solidFill>
                  <a:latin typeface="Calibri (MS) Bold"/>
                  <a:ea typeface="Calibri (MS) Bold"/>
                  <a:cs typeface="Calibri (MS) Bold"/>
                  <a:sym typeface="Calibri (MS) Bold"/>
                </a:rPr>
                <a:t>CIT Scheduling Complexities</a:t>
              </a:r>
            </a:p>
          </p:txBody>
        </p:sp>
      </p:grpSp>
      <p:grpSp>
        <p:nvGrpSpPr>
          <p:cNvPr id="25" name="Group 25"/>
          <p:cNvGrpSpPr/>
          <p:nvPr/>
        </p:nvGrpSpPr>
        <p:grpSpPr>
          <a:xfrm>
            <a:off x="1028700" y="7520940"/>
            <a:ext cx="16230600" cy="1737360"/>
            <a:chOff x="0" y="0"/>
            <a:chExt cx="21640800" cy="2316480"/>
          </a:xfrm>
        </p:grpSpPr>
        <p:sp>
          <p:nvSpPr>
            <p:cNvPr id="26" name="Freeform 26"/>
            <p:cNvSpPr/>
            <p:nvPr/>
          </p:nvSpPr>
          <p:spPr>
            <a:xfrm>
              <a:off x="0" y="0"/>
              <a:ext cx="21640800" cy="2316480"/>
            </a:xfrm>
            <a:custGeom>
              <a:avLst/>
              <a:gdLst/>
              <a:ahLst/>
              <a:cxnLst/>
              <a:rect l="l" t="t" r="r" b="b"/>
              <a:pathLst>
                <a:path w="21640800" h="2316480">
                  <a:moveTo>
                    <a:pt x="0" y="0"/>
                  </a:moveTo>
                  <a:lnTo>
                    <a:pt x="21640800" y="0"/>
                  </a:lnTo>
                  <a:lnTo>
                    <a:pt x="21640800" y="2316480"/>
                  </a:lnTo>
                  <a:lnTo>
                    <a:pt x="0" y="2316480"/>
                  </a:lnTo>
                  <a:close/>
                </a:path>
              </a:pathLst>
            </a:custGeom>
            <a:solidFill>
              <a:srgbClr val="E0E9FA"/>
            </a:solidFill>
          </p:spPr>
        </p:sp>
      </p:grpSp>
      <p:grpSp>
        <p:nvGrpSpPr>
          <p:cNvPr id="27" name="Group 27"/>
          <p:cNvGrpSpPr/>
          <p:nvPr/>
        </p:nvGrpSpPr>
        <p:grpSpPr>
          <a:xfrm>
            <a:off x="1028700" y="7520940"/>
            <a:ext cx="109728" cy="1737360"/>
            <a:chOff x="0" y="0"/>
            <a:chExt cx="146304" cy="2316480"/>
          </a:xfrm>
        </p:grpSpPr>
        <p:sp>
          <p:nvSpPr>
            <p:cNvPr id="28" name="Freeform 28"/>
            <p:cNvSpPr/>
            <p:nvPr/>
          </p:nvSpPr>
          <p:spPr>
            <a:xfrm>
              <a:off x="0" y="0"/>
              <a:ext cx="146304" cy="2316480"/>
            </a:xfrm>
            <a:custGeom>
              <a:avLst/>
              <a:gdLst/>
              <a:ahLst/>
              <a:cxnLst/>
              <a:rect l="l" t="t" r="r" b="b"/>
              <a:pathLst>
                <a:path w="146304" h="2316480">
                  <a:moveTo>
                    <a:pt x="0" y="0"/>
                  </a:moveTo>
                  <a:lnTo>
                    <a:pt x="146304" y="0"/>
                  </a:lnTo>
                  <a:lnTo>
                    <a:pt x="146304" y="2316480"/>
                  </a:lnTo>
                  <a:lnTo>
                    <a:pt x="0" y="2316480"/>
                  </a:lnTo>
                  <a:close/>
                </a:path>
              </a:pathLst>
            </a:custGeom>
            <a:solidFill>
              <a:srgbClr val="C0392B"/>
            </a:solidFill>
          </p:spPr>
        </p:sp>
      </p:grpSp>
      <p:grpSp>
        <p:nvGrpSpPr>
          <p:cNvPr id="29" name="Group 29"/>
          <p:cNvGrpSpPr/>
          <p:nvPr/>
        </p:nvGrpSpPr>
        <p:grpSpPr>
          <a:xfrm>
            <a:off x="1303020" y="7923276"/>
            <a:ext cx="822960" cy="822960"/>
            <a:chOff x="0" y="0"/>
            <a:chExt cx="1097280" cy="1097280"/>
          </a:xfrm>
        </p:grpSpPr>
        <p:sp>
          <p:nvSpPr>
            <p:cNvPr id="30" name="Freeform 30" descr="preencoded.png"/>
            <p:cNvSpPr/>
            <p:nvPr/>
          </p:nvSpPr>
          <p:spPr>
            <a:xfrm>
              <a:off x="0" y="0"/>
              <a:ext cx="1097280" cy="1097280"/>
            </a:xfrm>
            <a:custGeom>
              <a:avLst/>
              <a:gdLst/>
              <a:ahLst/>
              <a:cxnLst/>
              <a:rect l="l" t="t" r="r" b="b"/>
              <a:pathLst>
                <a:path w="1097280" h="1097280">
                  <a:moveTo>
                    <a:pt x="0" y="0"/>
                  </a:moveTo>
                  <a:lnTo>
                    <a:pt x="1097280" y="0"/>
                  </a:lnTo>
                  <a:lnTo>
                    <a:pt x="1097280" y="1097280"/>
                  </a:lnTo>
                  <a:lnTo>
                    <a:pt x="0" y="1097280"/>
                  </a:lnTo>
                  <a:lnTo>
                    <a:pt x="0" y="0"/>
                  </a:lnTo>
                  <a:close/>
                </a:path>
              </a:pathLst>
            </a:custGeom>
            <a:blipFill>
              <a:blip r:embed="rId6"/>
              <a:stretch>
                <a:fillRect/>
              </a:stretch>
            </a:blipFill>
          </p:spPr>
        </p:sp>
      </p:grpSp>
      <p:grpSp>
        <p:nvGrpSpPr>
          <p:cNvPr id="31" name="Group 31"/>
          <p:cNvGrpSpPr/>
          <p:nvPr/>
        </p:nvGrpSpPr>
        <p:grpSpPr>
          <a:xfrm>
            <a:off x="2810836" y="7584948"/>
            <a:ext cx="12752614" cy="1499616"/>
            <a:chOff x="0" y="0"/>
            <a:chExt cx="17003486" cy="1999488"/>
          </a:xfrm>
        </p:grpSpPr>
        <p:sp>
          <p:nvSpPr>
            <p:cNvPr id="32" name="Freeform 32"/>
            <p:cNvSpPr/>
            <p:nvPr/>
          </p:nvSpPr>
          <p:spPr>
            <a:xfrm>
              <a:off x="0" y="0"/>
              <a:ext cx="17003486" cy="1999488"/>
            </a:xfrm>
            <a:custGeom>
              <a:avLst/>
              <a:gdLst/>
              <a:ahLst/>
              <a:cxnLst/>
              <a:rect l="l" t="t" r="r" b="b"/>
              <a:pathLst>
                <a:path w="17003486" h="1999488">
                  <a:moveTo>
                    <a:pt x="0" y="0"/>
                  </a:moveTo>
                  <a:lnTo>
                    <a:pt x="17003486" y="0"/>
                  </a:lnTo>
                  <a:lnTo>
                    <a:pt x="17003486" y="1999488"/>
                  </a:lnTo>
                  <a:lnTo>
                    <a:pt x="0" y="1999488"/>
                  </a:lnTo>
                  <a:close/>
                </a:path>
              </a:pathLst>
            </a:custGeom>
            <a:solidFill>
              <a:srgbClr val="BBCDE9">
                <a:alpha val="0"/>
              </a:srgbClr>
            </a:solidFill>
          </p:spPr>
        </p:sp>
        <p:sp>
          <p:nvSpPr>
            <p:cNvPr id="33" name="TextBox 33"/>
            <p:cNvSpPr txBox="1"/>
            <p:nvPr/>
          </p:nvSpPr>
          <p:spPr>
            <a:xfrm>
              <a:off x="0" y="-95250"/>
              <a:ext cx="17003486" cy="2094738"/>
            </a:xfrm>
            <a:prstGeom prst="rect">
              <a:avLst/>
            </a:prstGeom>
          </p:spPr>
          <p:txBody>
            <a:bodyPr lIns="0" tIns="0" rIns="0" bIns="0" rtlCol="0" anchor="ctr"/>
            <a:lstStyle/>
            <a:p>
              <a:pPr algn="l">
                <a:lnSpc>
                  <a:spcPts val="5519"/>
                </a:lnSpc>
              </a:pPr>
              <a:r>
                <a:rPr lang="en-US" sz="4599" b="1">
                  <a:solidFill>
                    <a:srgbClr val="0B1E3D"/>
                  </a:solidFill>
                  <a:latin typeface="Calibri (MS) Bold"/>
                  <a:ea typeface="Calibri (MS) Bold"/>
                  <a:cs typeface="Calibri (MS) Bold"/>
                  <a:sym typeface="Calibri (MS) Bold"/>
                </a:rPr>
                <a:t>Machine and Human Errors</a:t>
              </a:r>
            </a:p>
          </p:txBody>
        </p:sp>
      </p:grpSp>
      <p:grpSp>
        <p:nvGrpSpPr>
          <p:cNvPr id="34" name="Group 34"/>
          <p:cNvGrpSpPr/>
          <p:nvPr/>
        </p:nvGrpSpPr>
        <p:grpSpPr>
          <a:xfrm>
            <a:off x="1028700" y="2383155"/>
            <a:ext cx="2204040" cy="73152"/>
            <a:chOff x="0" y="0"/>
            <a:chExt cx="2938720" cy="97536"/>
          </a:xfrm>
        </p:grpSpPr>
        <p:sp>
          <p:nvSpPr>
            <p:cNvPr id="35" name="Freeform 35"/>
            <p:cNvSpPr/>
            <p:nvPr/>
          </p:nvSpPr>
          <p:spPr>
            <a:xfrm>
              <a:off x="0" y="0"/>
              <a:ext cx="2938720" cy="97536"/>
            </a:xfrm>
            <a:custGeom>
              <a:avLst/>
              <a:gdLst/>
              <a:ahLst/>
              <a:cxnLst/>
              <a:rect l="l" t="t" r="r" b="b"/>
              <a:pathLst>
                <a:path w="2938720" h="97536">
                  <a:moveTo>
                    <a:pt x="0" y="0"/>
                  </a:moveTo>
                  <a:lnTo>
                    <a:pt x="2938720" y="0"/>
                  </a:lnTo>
                  <a:lnTo>
                    <a:pt x="2938720" y="97536"/>
                  </a:lnTo>
                  <a:lnTo>
                    <a:pt x="0" y="97536"/>
                  </a:lnTo>
                  <a:close/>
                </a:path>
              </a:pathLst>
            </a:custGeom>
            <a:solidFill>
              <a:srgbClr val="C9A84C"/>
            </a:solidFill>
          </p:spPr>
        </p:sp>
      </p:grpSp>
      <p:grpSp>
        <p:nvGrpSpPr>
          <p:cNvPr id="36" name="Group 36"/>
          <p:cNvGrpSpPr/>
          <p:nvPr/>
        </p:nvGrpSpPr>
        <p:grpSpPr>
          <a:xfrm>
            <a:off x="1175700" y="835027"/>
            <a:ext cx="2204040" cy="757513"/>
            <a:chOff x="0" y="0"/>
            <a:chExt cx="2938720" cy="1010018"/>
          </a:xfrm>
        </p:grpSpPr>
        <p:sp>
          <p:nvSpPr>
            <p:cNvPr id="37" name="Freeform 37"/>
            <p:cNvSpPr/>
            <p:nvPr/>
          </p:nvSpPr>
          <p:spPr>
            <a:xfrm>
              <a:off x="0" y="0"/>
              <a:ext cx="2938720" cy="1010018"/>
            </a:xfrm>
            <a:custGeom>
              <a:avLst/>
              <a:gdLst/>
              <a:ahLst/>
              <a:cxnLst/>
              <a:rect l="l" t="t" r="r" b="b"/>
              <a:pathLst>
                <a:path w="2938720" h="1010018">
                  <a:moveTo>
                    <a:pt x="0" y="0"/>
                  </a:moveTo>
                  <a:lnTo>
                    <a:pt x="2938720" y="0"/>
                  </a:lnTo>
                  <a:lnTo>
                    <a:pt x="2938720" y="1010018"/>
                  </a:lnTo>
                  <a:lnTo>
                    <a:pt x="0" y="1010018"/>
                  </a:lnTo>
                  <a:close/>
                </a:path>
              </a:pathLst>
            </a:custGeom>
            <a:blipFill>
              <a:blip r:embed="rId3">
                <a:alphaModFix amt="0"/>
              </a:blip>
              <a:stretch>
                <a:fillRect t="-95501" r="-132329" b="-67928"/>
              </a:stretch>
            </a:blipFill>
          </p:spPr>
        </p:sp>
        <p:sp>
          <p:nvSpPr>
            <p:cNvPr id="38" name="TextBox 38"/>
            <p:cNvSpPr txBox="1"/>
            <p:nvPr/>
          </p:nvSpPr>
          <p:spPr>
            <a:xfrm>
              <a:off x="0" y="-38100"/>
              <a:ext cx="2938720" cy="1048118"/>
            </a:xfrm>
            <a:prstGeom prst="rect">
              <a:avLst/>
            </a:prstGeom>
          </p:spPr>
          <p:txBody>
            <a:bodyPr lIns="0" tIns="0" rIns="0" bIns="0" rtlCol="0" anchor="ctr"/>
            <a:lstStyle/>
            <a:p>
              <a:pPr algn="l">
                <a:lnSpc>
                  <a:spcPts val="2400"/>
                </a:lnSpc>
              </a:pPr>
              <a:r>
                <a:rPr lang="en-US" sz="2000">
                  <a:solidFill>
                    <a:srgbClr val="1A3A6E"/>
                  </a:solidFill>
                  <a:latin typeface="Calibri (MS)"/>
                  <a:ea typeface="Calibri (MS)"/>
                  <a:cs typeface="Calibri (MS)"/>
                  <a:sym typeface="Calibri (MS)"/>
                </a:rPr>
                <a:t>PILLAR SIX</a:t>
              </a:r>
            </a:p>
          </p:txBody>
        </p:sp>
      </p:grpSp>
      <p:grpSp>
        <p:nvGrpSpPr>
          <p:cNvPr id="39" name="Group 39"/>
          <p:cNvGrpSpPr/>
          <p:nvPr/>
        </p:nvGrpSpPr>
        <p:grpSpPr>
          <a:xfrm>
            <a:off x="14471821" y="1038496"/>
            <a:ext cx="2897948" cy="548640"/>
            <a:chOff x="0" y="0"/>
            <a:chExt cx="3863931" cy="731520"/>
          </a:xfrm>
        </p:grpSpPr>
        <p:sp>
          <p:nvSpPr>
            <p:cNvPr id="40" name="Freeform 40"/>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41" name="TextBox 41"/>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0B1E3D"/>
                  </a:solidFill>
                  <a:latin typeface="Calibri (MS)"/>
                  <a:ea typeface="Calibri (MS)"/>
                  <a:cs typeface="Calibri (MS)"/>
                  <a:sym typeface="Calibri (MS)"/>
                </a:rPr>
                <a:t>GCB Bank PLC</a:t>
              </a:r>
            </a:p>
          </p:txBody>
        </p:sp>
      </p:grpSp>
      <p:sp>
        <p:nvSpPr>
          <p:cNvPr id="42" name="Freeform 42"/>
          <p:cNvSpPr/>
          <p:nvPr/>
        </p:nvSpPr>
        <p:spPr>
          <a:xfrm>
            <a:off x="13757132" y="1028700"/>
            <a:ext cx="651948" cy="541537"/>
          </a:xfrm>
          <a:custGeom>
            <a:avLst/>
            <a:gdLst/>
            <a:ahLst/>
            <a:cxnLst/>
            <a:rect l="l" t="t" r="r" b="b"/>
            <a:pathLst>
              <a:path w="651948" h="541537">
                <a:moveTo>
                  <a:pt x="0" y="0"/>
                </a:moveTo>
                <a:lnTo>
                  <a:pt x="651948" y="0"/>
                </a:lnTo>
                <a:lnTo>
                  <a:pt x="651948" y="541537"/>
                </a:lnTo>
                <a:lnTo>
                  <a:pt x="0" y="541537"/>
                </a:lnTo>
                <a:lnTo>
                  <a:pt x="0" y="0"/>
                </a:lnTo>
                <a:close/>
              </a:path>
            </a:pathLst>
          </a:custGeom>
          <a:blipFill>
            <a:blip r:embed="rId7"/>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28016"/>
            <a:chOff x="0" y="0"/>
            <a:chExt cx="24384000" cy="170688"/>
          </a:xfrm>
        </p:grpSpPr>
        <p:sp>
          <p:nvSpPr>
            <p:cNvPr id="3" name="Freeform 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C9A84C"/>
            </a:solidFill>
          </p:spPr>
        </p:sp>
      </p:grpSp>
      <p:grpSp>
        <p:nvGrpSpPr>
          <p:cNvPr id="4" name="Group 4"/>
          <p:cNvGrpSpPr/>
          <p:nvPr/>
        </p:nvGrpSpPr>
        <p:grpSpPr>
          <a:xfrm>
            <a:off x="1028700" y="1363771"/>
            <a:ext cx="11374043" cy="1162235"/>
            <a:chOff x="0" y="0"/>
            <a:chExt cx="15165391" cy="1549646"/>
          </a:xfrm>
        </p:grpSpPr>
        <p:sp>
          <p:nvSpPr>
            <p:cNvPr id="5" name="Freeform 5"/>
            <p:cNvSpPr/>
            <p:nvPr/>
          </p:nvSpPr>
          <p:spPr>
            <a:xfrm>
              <a:off x="0" y="0"/>
              <a:ext cx="15165391" cy="1549646"/>
            </a:xfrm>
            <a:custGeom>
              <a:avLst/>
              <a:gdLst/>
              <a:ahLst/>
              <a:cxnLst/>
              <a:rect l="l" t="t" r="r" b="b"/>
              <a:pathLst>
                <a:path w="15165391" h="1549646">
                  <a:moveTo>
                    <a:pt x="0" y="0"/>
                  </a:moveTo>
                  <a:lnTo>
                    <a:pt x="15165391" y="0"/>
                  </a:lnTo>
                  <a:lnTo>
                    <a:pt x="15165391" y="1549646"/>
                  </a:lnTo>
                  <a:lnTo>
                    <a:pt x="0" y="1549646"/>
                  </a:lnTo>
                  <a:close/>
                </a:path>
              </a:pathLst>
            </a:custGeom>
            <a:blipFill>
              <a:blip r:embed="rId3">
                <a:alphaModFix amt="0"/>
              </a:blip>
              <a:stretch>
                <a:fillRect t="-224338" r="-38276" b="-203014"/>
              </a:stretch>
            </a:blipFill>
          </p:spPr>
        </p:sp>
        <p:sp>
          <p:nvSpPr>
            <p:cNvPr id="6" name="TextBox 6"/>
            <p:cNvSpPr txBox="1"/>
            <p:nvPr/>
          </p:nvSpPr>
          <p:spPr>
            <a:xfrm>
              <a:off x="0" y="-123825"/>
              <a:ext cx="15165391" cy="1673471"/>
            </a:xfrm>
            <a:prstGeom prst="rect">
              <a:avLst/>
            </a:prstGeom>
          </p:spPr>
          <p:txBody>
            <a:bodyPr lIns="0" tIns="0" rIns="0" bIns="0" rtlCol="0" anchor="ctr"/>
            <a:lstStyle/>
            <a:p>
              <a:pPr algn="l">
                <a:lnSpc>
                  <a:spcPts val="6959"/>
                </a:lnSpc>
              </a:pPr>
              <a:r>
                <a:rPr lang="en-US" sz="5799" b="1" spc="-150" dirty="0">
                  <a:solidFill>
                    <a:srgbClr val="FFCE25"/>
                  </a:solidFill>
                  <a:latin typeface="Calibri (MS) Bold"/>
                  <a:ea typeface="Calibri (MS) Bold"/>
                  <a:cs typeface="Calibri (MS) Bold"/>
                  <a:sym typeface="Calibri (MS) Bold"/>
                </a:rPr>
                <a:t>GCB BANK STRATEGIC ALIGNMENT</a:t>
              </a:r>
            </a:p>
          </p:txBody>
        </p:sp>
      </p:grpSp>
      <p:grpSp>
        <p:nvGrpSpPr>
          <p:cNvPr id="7" name="Group 7"/>
          <p:cNvGrpSpPr/>
          <p:nvPr/>
        </p:nvGrpSpPr>
        <p:grpSpPr>
          <a:xfrm>
            <a:off x="979098" y="8802924"/>
            <a:ext cx="997950" cy="99795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D5B"/>
            </a:solidFill>
            <a:ln w="38100" cap="sq">
              <a:solidFill>
                <a:srgbClr val="C9A84C"/>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10" name="Freeform 10" descr="preencoded.png"/>
          <p:cNvSpPr/>
          <p:nvPr/>
        </p:nvSpPr>
        <p:spPr>
          <a:xfrm>
            <a:off x="1167062" y="8943383"/>
            <a:ext cx="629834" cy="629834"/>
          </a:xfrm>
          <a:custGeom>
            <a:avLst/>
            <a:gdLst/>
            <a:ahLst/>
            <a:cxnLst/>
            <a:rect l="l" t="t" r="r" b="b"/>
            <a:pathLst>
              <a:path w="629834" h="629834">
                <a:moveTo>
                  <a:pt x="0" y="0"/>
                </a:moveTo>
                <a:lnTo>
                  <a:pt x="629833" y="0"/>
                </a:lnTo>
                <a:lnTo>
                  <a:pt x="629833" y="629834"/>
                </a:lnTo>
                <a:lnTo>
                  <a:pt x="0" y="629834"/>
                </a:lnTo>
                <a:lnTo>
                  <a:pt x="0" y="0"/>
                </a:lnTo>
                <a:close/>
              </a:path>
            </a:pathLst>
          </a:custGeom>
          <a:blipFill>
            <a:blip r:embed="rId4"/>
            <a:stretch>
              <a:fillRect/>
            </a:stretch>
          </a:blipFill>
        </p:spPr>
      </p:sp>
      <p:grpSp>
        <p:nvGrpSpPr>
          <p:cNvPr id="11" name="Group 11"/>
          <p:cNvGrpSpPr/>
          <p:nvPr/>
        </p:nvGrpSpPr>
        <p:grpSpPr>
          <a:xfrm>
            <a:off x="989204" y="7455650"/>
            <a:ext cx="997950" cy="99795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D5B"/>
            </a:solidFill>
            <a:ln w="38100" cap="sq">
              <a:solidFill>
                <a:srgbClr val="C9A84C"/>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14" name="Freeform 14" descr="preencoded.png"/>
          <p:cNvSpPr/>
          <p:nvPr/>
        </p:nvSpPr>
        <p:spPr>
          <a:xfrm>
            <a:off x="1179463" y="7582576"/>
            <a:ext cx="617432" cy="617432"/>
          </a:xfrm>
          <a:custGeom>
            <a:avLst/>
            <a:gdLst/>
            <a:ahLst/>
            <a:cxnLst/>
            <a:rect l="l" t="t" r="r" b="b"/>
            <a:pathLst>
              <a:path w="617432" h="617432">
                <a:moveTo>
                  <a:pt x="0" y="0"/>
                </a:moveTo>
                <a:lnTo>
                  <a:pt x="617432" y="0"/>
                </a:lnTo>
                <a:lnTo>
                  <a:pt x="617432" y="617432"/>
                </a:lnTo>
                <a:lnTo>
                  <a:pt x="0" y="617432"/>
                </a:lnTo>
                <a:lnTo>
                  <a:pt x="0" y="0"/>
                </a:lnTo>
                <a:close/>
              </a:path>
            </a:pathLst>
          </a:custGeom>
          <a:blipFill>
            <a:blip r:embed="rId5"/>
            <a:stretch>
              <a:fillRect/>
            </a:stretch>
          </a:blipFill>
        </p:spPr>
      </p:sp>
      <p:grpSp>
        <p:nvGrpSpPr>
          <p:cNvPr id="15" name="Group 15"/>
          <p:cNvGrpSpPr/>
          <p:nvPr/>
        </p:nvGrpSpPr>
        <p:grpSpPr>
          <a:xfrm>
            <a:off x="979098" y="3157133"/>
            <a:ext cx="997950" cy="99795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D5B"/>
            </a:solidFill>
            <a:ln w="38100" cap="sq">
              <a:solidFill>
                <a:srgbClr val="C9A84C"/>
              </a:solidFill>
              <a:prstDash val="solid"/>
              <a:miter/>
            </a:ln>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18" name="Freeform 18" descr="preencoded.png"/>
          <p:cNvSpPr/>
          <p:nvPr/>
        </p:nvSpPr>
        <p:spPr>
          <a:xfrm>
            <a:off x="1091102" y="3207049"/>
            <a:ext cx="792751" cy="792751"/>
          </a:xfrm>
          <a:custGeom>
            <a:avLst/>
            <a:gdLst/>
            <a:ahLst/>
            <a:cxnLst/>
            <a:rect l="l" t="t" r="r" b="b"/>
            <a:pathLst>
              <a:path w="792751" h="792751">
                <a:moveTo>
                  <a:pt x="0" y="0"/>
                </a:moveTo>
                <a:lnTo>
                  <a:pt x="792751" y="0"/>
                </a:lnTo>
                <a:lnTo>
                  <a:pt x="792751" y="792751"/>
                </a:lnTo>
                <a:lnTo>
                  <a:pt x="0" y="792751"/>
                </a:lnTo>
                <a:lnTo>
                  <a:pt x="0" y="0"/>
                </a:lnTo>
                <a:close/>
              </a:path>
            </a:pathLst>
          </a:custGeom>
          <a:blipFill>
            <a:blip r:embed="rId6"/>
            <a:stretch>
              <a:fillRect/>
            </a:stretch>
          </a:blipFill>
        </p:spPr>
      </p:sp>
      <p:grpSp>
        <p:nvGrpSpPr>
          <p:cNvPr id="19" name="Group 19"/>
          <p:cNvGrpSpPr/>
          <p:nvPr/>
        </p:nvGrpSpPr>
        <p:grpSpPr>
          <a:xfrm>
            <a:off x="1028700" y="789455"/>
            <a:ext cx="2204040" cy="478489"/>
            <a:chOff x="0" y="0"/>
            <a:chExt cx="2938720" cy="637986"/>
          </a:xfrm>
        </p:grpSpPr>
        <p:sp>
          <p:nvSpPr>
            <p:cNvPr id="20" name="Freeform 20"/>
            <p:cNvSpPr/>
            <p:nvPr/>
          </p:nvSpPr>
          <p:spPr>
            <a:xfrm>
              <a:off x="0" y="0"/>
              <a:ext cx="2938720" cy="637986"/>
            </a:xfrm>
            <a:custGeom>
              <a:avLst/>
              <a:gdLst/>
              <a:ahLst/>
              <a:cxnLst/>
              <a:rect l="l" t="t" r="r" b="b"/>
              <a:pathLst>
                <a:path w="2938720" h="637986">
                  <a:moveTo>
                    <a:pt x="0" y="0"/>
                  </a:moveTo>
                  <a:lnTo>
                    <a:pt x="2938720" y="0"/>
                  </a:lnTo>
                  <a:lnTo>
                    <a:pt x="2938720" y="637986"/>
                  </a:lnTo>
                  <a:lnTo>
                    <a:pt x="0" y="637986"/>
                  </a:lnTo>
                  <a:close/>
                </a:path>
              </a:pathLst>
            </a:custGeom>
            <a:blipFill>
              <a:blip r:embed="rId3">
                <a:alphaModFix amt="0"/>
              </a:blip>
              <a:stretch>
                <a:fillRect t="-151192" r="-132329" b="-165853"/>
              </a:stretch>
            </a:blipFill>
          </p:spPr>
        </p:sp>
        <p:sp>
          <p:nvSpPr>
            <p:cNvPr id="21" name="TextBox 21"/>
            <p:cNvSpPr txBox="1"/>
            <p:nvPr/>
          </p:nvSpPr>
          <p:spPr>
            <a:xfrm>
              <a:off x="0" y="-38100"/>
              <a:ext cx="2938720" cy="676086"/>
            </a:xfrm>
            <a:prstGeom prst="rect">
              <a:avLst/>
            </a:prstGeom>
          </p:spPr>
          <p:txBody>
            <a:bodyPr lIns="0" tIns="0" rIns="0" bIns="0" rtlCol="0" anchor="ctr"/>
            <a:lstStyle/>
            <a:p>
              <a:pPr algn="l">
                <a:lnSpc>
                  <a:spcPts val="2400"/>
                </a:lnSpc>
              </a:pPr>
              <a:r>
                <a:rPr lang="en-US" sz="2000">
                  <a:solidFill>
                    <a:srgbClr val="F4F6F9"/>
                  </a:solidFill>
                  <a:latin typeface="Calibri (MS)"/>
                  <a:ea typeface="Calibri (MS)"/>
                  <a:cs typeface="Calibri (MS)"/>
                  <a:sym typeface="Calibri (MS)"/>
                </a:rPr>
                <a:t>PILLAR SEVEN</a:t>
              </a:r>
            </a:p>
          </p:txBody>
        </p:sp>
      </p:grpSp>
      <p:grpSp>
        <p:nvGrpSpPr>
          <p:cNvPr id="22" name="Group 22"/>
          <p:cNvGrpSpPr/>
          <p:nvPr/>
        </p:nvGrpSpPr>
        <p:grpSpPr>
          <a:xfrm>
            <a:off x="1028700" y="2515268"/>
            <a:ext cx="2204040" cy="73152"/>
            <a:chOff x="0" y="0"/>
            <a:chExt cx="2938720" cy="97536"/>
          </a:xfrm>
        </p:grpSpPr>
        <p:sp>
          <p:nvSpPr>
            <p:cNvPr id="23" name="Freeform 23"/>
            <p:cNvSpPr/>
            <p:nvPr/>
          </p:nvSpPr>
          <p:spPr>
            <a:xfrm>
              <a:off x="0" y="0"/>
              <a:ext cx="2938720" cy="97536"/>
            </a:xfrm>
            <a:custGeom>
              <a:avLst/>
              <a:gdLst/>
              <a:ahLst/>
              <a:cxnLst/>
              <a:rect l="l" t="t" r="r" b="b"/>
              <a:pathLst>
                <a:path w="2938720" h="97536">
                  <a:moveTo>
                    <a:pt x="0" y="0"/>
                  </a:moveTo>
                  <a:lnTo>
                    <a:pt x="2938720" y="0"/>
                  </a:lnTo>
                  <a:lnTo>
                    <a:pt x="2938720" y="97536"/>
                  </a:lnTo>
                  <a:lnTo>
                    <a:pt x="0" y="97536"/>
                  </a:lnTo>
                  <a:close/>
                </a:path>
              </a:pathLst>
            </a:custGeom>
            <a:solidFill>
              <a:srgbClr val="EEF1F7"/>
            </a:solidFill>
          </p:spPr>
        </p:sp>
      </p:grpSp>
      <p:grpSp>
        <p:nvGrpSpPr>
          <p:cNvPr id="24" name="Group 24"/>
          <p:cNvGrpSpPr/>
          <p:nvPr/>
        </p:nvGrpSpPr>
        <p:grpSpPr>
          <a:xfrm>
            <a:off x="2130720" y="3036095"/>
            <a:ext cx="5920021" cy="948035"/>
            <a:chOff x="0" y="0"/>
            <a:chExt cx="7893361" cy="1264046"/>
          </a:xfrm>
        </p:grpSpPr>
        <p:sp>
          <p:nvSpPr>
            <p:cNvPr id="25" name="Freeform 25"/>
            <p:cNvSpPr/>
            <p:nvPr/>
          </p:nvSpPr>
          <p:spPr>
            <a:xfrm>
              <a:off x="0" y="0"/>
              <a:ext cx="7893362" cy="1264046"/>
            </a:xfrm>
            <a:custGeom>
              <a:avLst/>
              <a:gdLst/>
              <a:ahLst/>
              <a:cxnLst/>
              <a:rect l="l" t="t" r="r" b="b"/>
              <a:pathLst>
                <a:path w="7893362" h="1264046">
                  <a:moveTo>
                    <a:pt x="0" y="0"/>
                  </a:moveTo>
                  <a:lnTo>
                    <a:pt x="7893362" y="0"/>
                  </a:lnTo>
                  <a:lnTo>
                    <a:pt x="7893362" y="1264046"/>
                  </a:lnTo>
                  <a:lnTo>
                    <a:pt x="0" y="1264046"/>
                  </a:lnTo>
                  <a:close/>
                </a:path>
              </a:pathLst>
            </a:custGeom>
            <a:solidFill>
              <a:srgbClr val="E8C96B">
                <a:alpha val="0"/>
              </a:srgbClr>
            </a:solidFill>
          </p:spPr>
        </p:sp>
        <p:sp>
          <p:nvSpPr>
            <p:cNvPr id="26" name="TextBox 26"/>
            <p:cNvSpPr txBox="1"/>
            <p:nvPr/>
          </p:nvSpPr>
          <p:spPr>
            <a:xfrm>
              <a:off x="0" y="-114300"/>
              <a:ext cx="7893361" cy="1378346"/>
            </a:xfrm>
            <a:prstGeom prst="rect">
              <a:avLst/>
            </a:prstGeom>
          </p:spPr>
          <p:txBody>
            <a:bodyPr lIns="0" tIns="0" rIns="0" bIns="0" rtlCol="0" anchor="ctr"/>
            <a:lstStyle/>
            <a:p>
              <a:pPr algn="l">
                <a:lnSpc>
                  <a:spcPts val="5669"/>
                </a:lnSpc>
              </a:pPr>
              <a:r>
                <a:rPr lang="en-US" sz="4499" b="1">
                  <a:solidFill>
                    <a:srgbClr val="C9A84C"/>
                  </a:solidFill>
                  <a:latin typeface="Calibri (MS) Bold"/>
                  <a:ea typeface="Calibri (MS) Bold"/>
                  <a:cs typeface="Calibri (MS) Bold"/>
                  <a:sym typeface="Calibri (MS) Bold"/>
                </a:rPr>
                <a:t>CUSTOMER EXPERIENCE </a:t>
              </a:r>
            </a:p>
          </p:txBody>
        </p:sp>
      </p:grpSp>
      <p:grpSp>
        <p:nvGrpSpPr>
          <p:cNvPr id="27" name="Group 27"/>
          <p:cNvGrpSpPr/>
          <p:nvPr/>
        </p:nvGrpSpPr>
        <p:grpSpPr>
          <a:xfrm>
            <a:off x="2130720" y="3699157"/>
            <a:ext cx="7194202" cy="601287"/>
            <a:chOff x="0" y="0"/>
            <a:chExt cx="9592270" cy="801716"/>
          </a:xfrm>
        </p:grpSpPr>
        <p:sp>
          <p:nvSpPr>
            <p:cNvPr id="28" name="Freeform 28"/>
            <p:cNvSpPr/>
            <p:nvPr/>
          </p:nvSpPr>
          <p:spPr>
            <a:xfrm>
              <a:off x="0" y="0"/>
              <a:ext cx="9592270" cy="801716"/>
            </a:xfrm>
            <a:custGeom>
              <a:avLst/>
              <a:gdLst/>
              <a:ahLst/>
              <a:cxnLst/>
              <a:rect l="l" t="t" r="r" b="b"/>
              <a:pathLst>
                <a:path w="9592270" h="801716">
                  <a:moveTo>
                    <a:pt x="0" y="0"/>
                  </a:moveTo>
                  <a:lnTo>
                    <a:pt x="9592270" y="0"/>
                  </a:lnTo>
                  <a:lnTo>
                    <a:pt x="9592270" y="801716"/>
                  </a:lnTo>
                  <a:lnTo>
                    <a:pt x="0" y="801716"/>
                  </a:lnTo>
                  <a:close/>
                </a:path>
              </a:pathLst>
            </a:custGeom>
            <a:solidFill>
              <a:srgbClr val="E8C96B">
                <a:alpha val="0"/>
              </a:srgbClr>
            </a:solidFill>
          </p:spPr>
        </p:sp>
        <p:sp>
          <p:nvSpPr>
            <p:cNvPr id="29" name="TextBox 29"/>
            <p:cNvSpPr txBox="1"/>
            <p:nvPr/>
          </p:nvSpPr>
          <p:spPr>
            <a:xfrm>
              <a:off x="0" y="-76200"/>
              <a:ext cx="9592270" cy="877916"/>
            </a:xfrm>
            <a:prstGeom prst="rect">
              <a:avLst/>
            </a:prstGeom>
          </p:spPr>
          <p:txBody>
            <a:bodyPr lIns="0" tIns="0" rIns="0" bIns="0" rtlCol="0" anchor="ctr"/>
            <a:lstStyle/>
            <a:p>
              <a:pPr algn="l">
                <a:lnSpc>
                  <a:spcPts val="3779"/>
                </a:lnSpc>
              </a:pPr>
              <a:r>
                <a:rPr lang="en-US" sz="2999" b="1">
                  <a:solidFill>
                    <a:srgbClr val="EEF1F7"/>
                  </a:solidFill>
                  <a:latin typeface="Calibri (MS) Bold"/>
                  <a:ea typeface="Calibri (MS) Bold"/>
                  <a:cs typeface="Calibri (MS) Bold"/>
                  <a:sym typeface="Calibri (MS) Bold"/>
                </a:rPr>
                <a:t>Customer satisfaction (the wow experience)</a:t>
              </a:r>
            </a:p>
          </p:txBody>
        </p:sp>
      </p:grpSp>
      <p:grpSp>
        <p:nvGrpSpPr>
          <p:cNvPr id="30" name="Group 30"/>
          <p:cNvGrpSpPr/>
          <p:nvPr/>
        </p:nvGrpSpPr>
        <p:grpSpPr>
          <a:xfrm>
            <a:off x="988503" y="4634175"/>
            <a:ext cx="997950" cy="997950"/>
            <a:chOff x="0" y="0"/>
            <a:chExt cx="1330601" cy="1330601"/>
          </a:xfrm>
        </p:grpSpPr>
        <p:grpSp>
          <p:nvGrpSpPr>
            <p:cNvPr id="31" name="Group 31"/>
            <p:cNvGrpSpPr/>
            <p:nvPr/>
          </p:nvGrpSpPr>
          <p:grpSpPr>
            <a:xfrm>
              <a:off x="0" y="0"/>
              <a:ext cx="1330601" cy="133060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D5B"/>
              </a:solidFill>
              <a:ln w="38100" cap="sq">
                <a:solidFill>
                  <a:srgbClr val="C9A84C"/>
                </a:solidFill>
                <a:prstDash val="solid"/>
                <a:miter/>
              </a:ln>
            </p:spPr>
          </p:sp>
          <p:sp>
            <p:nvSpPr>
              <p:cNvPr id="33" name="TextBox 33"/>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34" name="Freeform 34" descr="preencoded.png"/>
            <p:cNvSpPr/>
            <p:nvPr/>
          </p:nvSpPr>
          <p:spPr>
            <a:xfrm>
              <a:off x="162191" y="227493"/>
              <a:ext cx="928365" cy="928365"/>
            </a:xfrm>
            <a:custGeom>
              <a:avLst/>
              <a:gdLst/>
              <a:ahLst/>
              <a:cxnLst/>
              <a:rect l="l" t="t" r="r" b="b"/>
              <a:pathLst>
                <a:path w="928365" h="928365">
                  <a:moveTo>
                    <a:pt x="0" y="0"/>
                  </a:moveTo>
                  <a:lnTo>
                    <a:pt x="928366" y="0"/>
                  </a:lnTo>
                  <a:lnTo>
                    <a:pt x="928366" y="928365"/>
                  </a:lnTo>
                  <a:lnTo>
                    <a:pt x="0" y="928365"/>
                  </a:lnTo>
                  <a:lnTo>
                    <a:pt x="0" y="0"/>
                  </a:lnTo>
                  <a:close/>
                </a:path>
              </a:pathLst>
            </a:custGeom>
            <a:blipFill>
              <a:blip r:embed="rId7"/>
              <a:stretch>
                <a:fillRect/>
              </a:stretch>
            </a:blipFill>
          </p:spPr>
        </p:sp>
      </p:grpSp>
      <p:grpSp>
        <p:nvGrpSpPr>
          <p:cNvPr id="35" name="Group 35"/>
          <p:cNvGrpSpPr/>
          <p:nvPr/>
        </p:nvGrpSpPr>
        <p:grpSpPr>
          <a:xfrm>
            <a:off x="2130720" y="4625046"/>
            <a:ext cx="8670388" cy="901929"/>
            <a:chOff x="0" y="0"/>
            <a:chExt cx="11560517" cy="1202572"/>
          </a:xfrm>
        </p:grpSpPr>
        <p:sp>
          <p:nvSpPr>
            <p:cNvPr id="36" name="Freeform 36"/>
            <p:cNvSpPr/>
            <p:nvPr/>
          </p:nvSpPr>
          <p:spPr>
            <a:xfrm>
              <a:off x="0" y="0"/>
              <a:ext cx="11560518" cy="1202572"/>
            </a:xfrm>
            <a:custGeom>
              <a:avLst/>
              <a:gdLst/>
              <a:ahLst/>
              <a:cxnLst/>
              <a:rect l="l" t="t" r="r" b="b"/>
              <a:pathLst>
                <a:path w="11560518" h="1202572">
                  <a:moveTo>
                    <a:pt x="0" y="0"/>
                  </a:moveTo>
                  <a:lnTo>
                    <a:pt x="11560518" y="0"/>
                  </a:lnTo>
                  <a:lnTo>
                    <a:pt x="11560518" y="1202572"/>
                  </a:lnTo>
                  <a:lnTo>
                    <a:pt x="0" y="1202572"/>
                  </a:lnTo>
                  <a:close/>
                </a:path>
              </a:pathLst>
            </a:custGeom>
            <a:solidFill>
              <a:srgbClr val="E8C96B">
                <a:alpha val="0"/>
              </a:srgbClr>
            </a:solidFill>
          </p:spPr>
        </p:sp>
        <p:sp>
          <p:nvSpPr>
            <p:cNvPr id="37" name="TextBox 37"/>
            <p:cNvSpPr txBox="1"/>
            <p:nvPr/>
          </p:nvSpPr>
          <p:spPr>
            <a:xfrm>
              <a:off x="0" y="-114300"/>
              <a:ext cx="11560517" cy="1316872"/>
            </a:xfrm>
            <a:prstGeom prst="rect">
              <a:avLst/>
            </a:prstGeom>
          </p:spPr>
          <p:txBody>
            <a:bodyPr lIns="0" tIns="0" rIns="0" bIns="0" rtlCol="0" anchor="ctr"/>
            <a:lstStyle/>
            <a:p>
              <a:pPr algn="l">
                <a:lnSpc>
                  <a:spcPts val="5669"/>
                </a:lnSpc>
              </a:pPr>
              <a:r>
                <a:rPr lang="en-US" sz="4499" b="1">
                  <a:solidFill>
                    <a:srgbClr val="C9A84C"/>
                  </a:solidFill>
                  <a:latin typeface="Calibri (MS) Bold"/>
                  <a:ea typeface="Calibri (MS) Bold"/>
                  <a:cs typeface="Calibri (MS) Bold"/>
                  <a:sym typeface="Calibri (MS) Bold"/>
                </a:rPr>
                <a:t>FINANCIAL (REVENUE GENERATION)</a:t>
              </a:r>
            </a:p>
          </p:txBody>
        </p:sp>
      </p:grpSp>
      <p:grpSp>
        <p:nvGrpSpPr>
          <p:cNvPr id="38" name="Group 38"/>
          <p:cNvGrpSpPr/>
          <p:nvPr/>
        </p:nvGrpSpPr>
        <p:grpSpPr>
          <a:xfrm>
            <a:off x="2130720" y="5143500"/>
            <a:ext cx="13518493" cy="653444"/>
            <a:chOff x="0" y="0"/>
            <a:chExt cx="18024657" cy="871258"/>
          </a:xfrm>
        </p:grpSpPr>
        <p:sp>
          <p:nvSpPr>
            <p:cNvPr id="39" name="Freeform 39"/>
            <p:cNvSpPr/>
            <p:nvPr/>
          </p:nvSpPr>
          <p:spPr>
            <a:xfrm>
              <a:off x="0" y="0"/>
              <a:ext cx="18024658" cy="871258"/>
            </a:xfrm>
            <a:custGeom>
              <a:avLst/>
              <a:gdLst/>
              <a:ahLst/>
              <a:cxnLst/>
              <a:rect l="l" t="t" r="r" b="b"/>
              <a:pathLst>
                <a:path w="18024658" h="871258">
                  <a:moveTo>
                    <a:pt x="0" y="0"/>
                  </a:moveTo>
                  <a:lnTo>
                    <a:pt x="18024658" y="0"/>
                  </a:lnTo>
                  <a:lnTo>
                    <a:pt x="18024658" y="871258"/>
                  </a:lnTo>
                  <a:lnTo>
                    <a:pt x="0" y="871258"/>
                  </a:lnTo>
                  <a:close/>
                </a:path>
              </a:pathLst>
            </a:custGeom>
            <a:solidFill>
              <a:srgbClr val="E8C96B">
                <a:alpha val="0"/>
              </a:srgbClr>
            </a:solidFill>
          </p:spPr>
        </p:sp>
        <p:sp>
          <p:nvSpPr>
            <p:cNvPr id="40" name="TextBox 40"/>
            <p:cNvSpPr txBox="1"/>
            <p:nvPr/>
          </p:nvSpPr>
          <p:spPr>
            <a:xfrm>
              <a:off x="0" y="-76200"/>
              <a:ext cx="18024657" cy="947458"/>
            </a:xfrm>
            <a:prstGeom prst="rect">
              <a:avLst/>
            </a:prstGeom>
          </p:spPr>
          <p:txBody>
            <a:bodyPr lIns="0" tIns="0" rIns="0" bIns="0" rtlCol="0" anchor="ctr"/>
            <a:lstStyle/>
            <a:p>
              <a:pPr algn="l">
                <a:lnSpc>
                  <a:spcPts val="3779"/>
                </a:lnSpc>
              </a:pPr>
              <a:r>
                <a:rPr lang="en-US" sz="2999" b="1">
                  <a:solidFill>
                    <a:srgbClr val="EEF1F7"/>
                  </a:solidFill>
                  <a:latin typeface="Calibri (MS) Bold"/>
                  <a:ea typeface="Calibri (MS) Bold"/>
                  <a:cs typeface="Calibri (MS) Bold"/>
                  <a:sym typeface="Calibri (MS) Bold"/>
                </a:rPr>
                <a:t>Avoiding unnecessary insurance cost and penalty payments by the regulator BOG</a:t>
              </a:r>
            </a:p>
          </p:txBody>
        </p:sp>
      </p:grpSp>
      <p:grpSp>
        <p:nvGrpSpPr>
          <p:cNvPr id="41" name="Group 41"/>
          <p:cNvGrpSpPr/>
          <p:nvPr/>
        </p:nvGrpSpPr>
        <p:grpSpPr>
          <a:xfrm>
            <a:off x="983003" y="6108375"/>
            <a:ext cx="997950" cy="997950"/>
            <a:chOff x="0" y="0"/>
            <a:chExt cx="1330601" cy="1330601"/>
          </a:xfrm>
        </p:grpSpPr>
        <p:grpSp>
          <p:nvGrpSpPr>
            <p:cNvPr id="42" name="Group 42"/>
            <p:cNvGrpSpPr/>
            <p:nvPr/>
          </p:nvGrpSpPr>
          <p:grpSpPr>
            <a:xfrm>
              <a:off x="0" y="0"/>
              <a:ext cx="1330601" cy="1330601"/>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D5B"/>
              </a:solidFill>
              <a:ln w="38100" cap="sq">
                <a:solidFill>
                  <a:srgbClr val="C9A84C"/>
                </a:solidFill>
                <a:prstDash val="solid"/>
                <a:miter/>
              </a:ln>
            </p:spPr>
          </p:sp>
          <p:sp>
            <p:nvSpPr>
              <p:cNvPr id="44" name="TextBox 44"/>
              <p:cNvSpPr txBox="1"/>
              <p:nvPr/>
            </p:nvSpPr>
            <p:spPr>
              <a:xfrm>
                <a:off x="76200" y="38100"/>
                <a:ext cx="660400" cy="698500"/>
              </a:xfrm>
              <a:prstGeom prst="rect">
                <a:avLst/>
              </a:prstGeom>
            </p:spPr>
            <p:txBody>
              <a:bodyPr lIns="50800" tIns="50800" rIns="50800" bIns="50800" rtlCol="0" anchor="ctr"/>
              <a:lstStyle/>
              <a:p>
                <a:pPr algn="ctr">
                  <a:lnSpc>
                    <a:spcPts val="2160"/>
                  </a:lnSpc>
                </a:pPr>
                <a:endParaRPr/>
              </a:p>
            </p:txBody>
          </p:sp>
        </p:grpSp>
        <p:sp>
          <p:nvSpPr>
            <p:cNvPr id="45" name="Freeform 45" descr="preencoded.png"/>
            <p:cNvSpPr/>
            <p:nvPr/>
          </p:nvSpPr>
          <p:spPr>
            <a:xfrm>
              <a:off x="199147" y="194772"/>
              <a:ext cx="941057" cy="941057"/>
            </a:xfrm>
            <a:custGeom>
              <a:avLst/>
              <a:gdLst/>
              <a:ahLst/>
              <a:cxnLst/>
              <a:rect l="l" t="t" r="r" b="b"/>
              <a:pathLst>
                <a:path w="941057" h="941057">
                  <a:moveTo>
                    <a:pt x="0" y="0"/>
                  </a:moveTo>
                  <a:lnTo>
                    <a:pt x="941057" y="0"/>
                  </a:lnTo>
                  <a:lnTo>
                    <a:pt x="941057" y="941057"/>
                  </a:lnTo>
                  <a:lnTo>
                    <a:pt x="0" y="941057"/>
                  </a:lnTo>
                  <a:lnTo>
                    <a:pt x="0" y="0"/>
                  </a:lnTo>
                  <a:close/>
                </a:path>
              </a:pathLst>
            </a:custGeom>
            <a:blipFill>
              <a:blip r:embed="rId8"/>
              <a:stretch>
                <a:fillRect/>
              </a:stretch>
            </a:blipFill>
          </p:spPr>
        </p:sp>
      </p:grpSp>
      <p:grpSp>
        <p:nvGrpSpPr>
          <p:cNvPr id="46" name="Group 46"/>
          <p:cNvGrpSpPr/>
          <p:nvPr/>
        </p:nvGrpSpPr>
        <p:grpSpPr>
          <a:xfrm>
            <a:off x="2130720" y="6056218"/>
            <a:ext cx="4909999" cy="901929"/>
            <a:chOff x="0" y="0"/>
            <a:chExt cx="6546665" cy="1202572"/>
          </a:xfrm>
        </p:grpSpPr>
        <p:sp>
          <p:nvSpPr>
            <p:cNvPr id="47" name="Freeform 47"/>
            <p:cNvSpPr/>
            <p:nvPr/>
          </p:nvSpPr>
          <p:spPr>
            <a:xfrm>
              <a:off x="0" y="0"/>
              <a:ext cx="6546666" cy="1202572"/>
            </a:xfrm>
            <a:custGeom>
              <a:avLst/>
              <a:gdLst/>
              <a:ahLst/>
              <a:cxnLst/>
              <a:rect l="l" t="t" r="r" b="b"/>
              <a:pathLst>
                <a:path w="6546666" h="1202572">
                  <a:moveTo>
                    <a:pt x="0" y="0"/>
                  </a:moveTo>
                  <a:lnTo>
                    <a:pt x="6546666" y="0"/>
                  </a:lnTo>
                  <a:lnTo>
                    <a:pt x="6546666" y="1202572"/>
                  </a:lnTo>
                  <a:lnTo>
                    <a:pt x="0" y="1202572"/>
                  </a:lnTo>
                  <a:close/>
                </a:path>
              </a:pathLst>
            </a:custGeom>
            <a:solidFill>
              <a:srgbClr val="E8C96B">
                <a:alpha val="0"/>
              </a:srgbClr>
            </a:solidFill>
          </p:spPr>
        </p:sp>
        <p:sp>
          <p:nvSpPr>
            <p:cNvPr id="48" name="TextBox 48"/>
            <p:cNvSpPr txBox="1"/>
            <p:nvPr/>
          </p:nvSpPr>
          <p:spPr>
            <a:xfrm>
              <a:off x="0" y="-114300"/>
              <a:ext cx="6546665" cy="1316872"/>
            </a:xfrm>
            <a:prstGeom prst="rect">
              <a:avLst/>
            </a:prstGeom>
          </p:spPr>
          <p:txBody>
            <a:bodyPr lIns="0" tIns="0" rIns="0" bIns="0" rtlCol="0" anchor="ctr"/>
            <a:lstStyle/>
            <a:p>
              <a:pPr algn="l">
                <a:lnSpc>
                  <a:spcPts val="5669"/>
                </a:lnSpc>
              </a:pPr>
              <a:r>
                <a:rPr lang="en-US" sz="4499" b="1">
                  <a:solidFill>
                    <a:srgbClr val="C9A84C"/>
                  </a:solidFill>
                  <a:latin typeface="Calibri (MS) Bold"/>
                  <a:ea typeface="Calibri (MS) Bold"/>
                  <a:cs typeface="Calibri (MS) Bold"/>
                  <a:sym typeface="Calibri (MS) Bold"/>
                </a:rPr>
                <a:t>RISK AND CONDUCT</a:t>
              </a:r>
            </a:p>
          </p:txBody>
        </p:sp>
      </p:grpSp>
      <p:grpSp>
        <p:nvGrpSpPr>
          <p:cNvPr id="49" name="Group 49"/>
          <p:cNvGrpSpPr/>
          <p:nvPr/>
        </p:nvGrpSpPr>
        <p:grpSpPr>
          <a:xfrm>
            <a:off x="2130720" y="6589618"/>
            <a:ext cx="9229785" cy="695197"/>
            <a:chOff x="0" y="0"/>
            <a:chExt cx="12306380" cy="926930"/>
          </a:xfrm>
        </p:grpSpPr>
        <p:sp>
          <p:nvSpPr>
            <p:cNvPr id="50" name="Freeform 50"/>
            <p:cNvSpPr/>
            <p:nvPr/>
          </p:nvSpPr>
          <p:spPr>
            <a:xfrm>
              <a:off x="0" y="0"/>
              <a:ext cx="12306380" cy="926930"/>
            </a:xfrm>
            <a:custGeom>
              <a:avLst/>
              <a:gdLst/>
              <a:ahLst/>
              <a:cxnLst/>
              <a:rect l="l" t="t" r="r" b="b"/>
              <a:pathLst>
                <a:path w="12306380" h="926930">
                  <a:moveTo>
                    <a:pt x="0" y="0"/>
                  </a:moveTo>
                  <a:lnTo>
                    <a:pt x="12306380" y="0"/>
                  </a:lnTo>
                  <a:lnTo>
                    <a:pt x="12306380" y="926930"/>
                  </a:lnTo>
                  <a:lnTo>
                    <a:pt x="0" y="926930"/>
                  </a:lnTo>
                  <a:close/>
                </a:path>
              </a:pathLst>
            </a:custGeom>
            <a:solidFill>
              <a:srgbClr val="E8C96B">
                <a:alpha val="0"/>
              </a:srgbClr>
            </a:solidFill>
          </p:spPr>
        </p:sp>
        <p:sp>
          <p:nvSpPr>
            <p:cNvPr id="51" name="TextBox 51"/>
            <p:cNvSpPr txBox="1"/>
            <p:nvPr/>
          </p:nvSpPr>
          <p:spPr>
            <a:xfrm>
              <a:off x="0" y="-76200"/>
              <a:ext cx="12306380" cy="1003130"/>
            </a:xfrm>
            <a:prstGeom prst="rect">
              <a:avLst/>
            </a:prstGeom>
          </p:spPr>
          <p:txBody>
            <a:bodyPr lIns="0" tIns="0" rIns="0" bIns="0" rtlCol="0" anchor="ctr"/>
            <a:lstStyle/>
            <a:p>
              <a:pPr algn="l">
                <a:lnSpc>
                  <a:spcPts val="3779"/>
                </a:lnSpc>
              </a:pPr>
              <a:r>
                <a:rPr lang="en-US" sz="2999" b="1">
                  <a:solidFill>
                    <a:srgbClr val="EEF1F7"/>
                  </a:solidFill>
                  <a:latin typeface="Calibri (MS) Bold"/>
                  <a:ea typeface="Calibri (MS) Bold"/>
                  <a:cs typeface="Calibri (MS) Bold"/>
                  <a:sym typeface="Calibri (MS) Bold"/>
                </a:rPr>
                <a:t>Proactive approach to enterprise risk- Prudent Risk taking</a:t>
              </a:r>
            </a:p>
          </p:txBody>
        </p:sp>
      </p:grpSp>
      <p:grpSp>
        <p:nvGrpSpPr>
          <p:cNvPr id="52" name="Group 52"/>
          <p:cNvGrpSpPr/>
          <p:nvPr/>
        </p:nvGrpSpPr>
        <p:grpSpPr>
          <a:xfrm>
            <a:off x="2130720" y="7371751"/>
            <a:ext cx="1973166" cy="901929"/>
            <a:chOff x="0" y="0"/>
            <a:chExt cx="2630889" cy="1202572"/>
          </a:xfrm>
        </p:grpSpPr>
        <p:sp>
          <p:nvSpPr>
            <p:cNvPr id="53" name="Freeform 53"/>
            <p:cNvSpPr/>
            <p:nvPr/>
          </p:nvSpPr>
          <p:spPr>
            <a:xfrm>
              <a:off x="0" y="0"/>
              <a:ext cx="2630889" cy="1202572"/>
            </a:xfrm>
            <a:custGeom>
              <a:avLst/>
              <a:gdLst/>
              <a:ahLst/>
              <a:cxnLst/>
              <a:rect l="l" t="t" r="r" b="b"/>
              <a:pathLst>
                <a:path w="2630889" h="1202572">
                  <a:moveTo>
                    <a:pt x="0" y="0"/>
                  </a:moveTo>
                  <a:lnTo>
                    <a:pt x="2630889" y="0"/>
                  </a:lnTo>
                  <a:lnTo>
                    <a:pt x="2630889" y="1202572"/>
                  </a:lnTo>
                  <a:lnTo>
                    <a:pt x="0" y="1202572"/>
                  </a:lnTo>
                  <a:close/>
                </a:path>
              </a:pathLst>
            </a:custGeom>
            <a:solidFill>
              <a:srgbClr val="E8C96B">
                <a:alpha val="0"/>
              </a:srgbClr>
            </a:solidFill>
          </p:spPr>
        </p:sp>
        <p:sp>
          <p:nvSpPr>
            <p:cNvPr id="54" name="TextBox 54"/>
            <p:cNvSpPr txBox="1"/>
            <p:nvPr/>
          </p:nvSpPr>
          <p:spPr>
            <a:xfrm>
              <a:off x="0" y="-114300"/>
              <a:ext cx="2630889" cy="1316872"/>
            </a:xfrm>
            <a:prstGeom prst="rect">
              <a:avLst/>
            </a:prstGeom>
          </p:spPr>
          <p:txBody>
            <a:bodyPr lIns="0" tIns="0" rIns="0" bIns="0" rtlCol="0" anchor="ctr"/>
            <a:lstStyle/>
            <a:p>
              <a:pPr algn="l">
                <a:lnSpc>
                  <a:spcPts val="5669"/>
                </a:lnSpc>
              </a:pPr>
              <a:r>
                <a:rPr lang="en-US" sz="4499" b="1">
                  <a:solidFill>
                    <a:srgbClr val="C9A84C"/>
                  </a:solidFill>
                  <a:latin typeface="Calibri (MS) Bold"/>
                  <a:ea typeface="Calibri (MS) Bold"/>
                  <a:cs typeface="Calibri (MS) Bold"/>
                  <a:sym typeface="Calibri (MS) Bold"/>
                </a:rPr>
                <a:t>PEOPLE</a:t>
              </a:r>
            </a:p>
          </p:txBody>
        </p:sp>
      </p:grpSp>
      <p:grpSp>
        <p:nvGrpSpPr>
          <p:cNvPr id="55" name="Group 55"/>
          <p:cNvGrpSpPr/>
          <p:nvPr/>
        </p:nvGrpSpPr>
        <p:grpSpPr>
          <a:xfrm>
            <a:off x="2130720" y="7954625"/>
            <a:ext cx="12290928" cy="728213"/>
            <a:chOff x="0" y="0"/>
            <a:chExt cx="16387904" cy="970950"/>
          </a:xfrm>
        </p:grpSpPr>
        <p:sp>
          <p:nvSpPr>
            <p:cNvPr id="56" name="Freeform 56"/>
            <p:cNvSpPr/>
            <p:nvPr/>
          </p:nvSpPr>
          <p:spPr>
            <a:xfrm>
              <a:off x="0" y="0"/>
              <a:ext cx="16387904" cy="970951"/>
            </a:xfrm>
            <a:custGeom>
              <a:avLst/>
              <a:gdLst/>
              <a:ahLst/>
              <a:cxnLst/>
              <a:rect l="l" t="t" r="r" b="b"/>
              <a:pathLst>
                <a:path w="16387904" h="970951">
                  <a:moveTo>
                    <a:pt x="0" y="0"/>
                  </a:moveTo>
                  <a:lnTo>
                    <a:pt x="16387904" y="0"/>
                  </a:lnTo>
                  <a:lnTo>
                    <a:pt x="16387904" y="970951"/>
                  </a:lnTo>
                  <a:lnTo>
                    <a:pt x="0" y="970951"/>
                  </a:lnTo>
                  <a:close/>
                </a:path>
              </a:pathLst>
            </a:custGeom>
            <a:solidFill>
              <a:srgbClr val="E8C96B">
                <a:alpha val="0"/>
              </a:srgbClr>
            </a:solidFill>
          </p:spPr>
        </p:sp>
        <p:sp>
          <p:nvSpPr>
            <p:cNvPr id="57" name="TextBox 57"/>
            <p:cNvSpPr txBox="1"/>
            <p:nvPr/>
          </p:nvSpPr>
          <p:spPr>
            <a:xfrm>
              <a:off x="0" y="-76200"/>
              <a:ext cx="16387904" cy="1047150"/>
            </a:xfrm>
            <a:prstGeom prst="rect">
              <a:avLst/>
            </a:prstGeom>
          </p:spPr>
          <p:txBody>
            <a:bodyPr lIns="0" tIns="0" rIns="0" bIns="0" rtlCol="0" anchor="ctr"/>
            <a:lstStyle/>
            <a:p>
              <a:pPr algn="l">
                <a:lnSpc>
                  <a:spcPts val="3779"/>
                </a:lnSpc>
              </a:pPr>
              <a:r>
                <a:rPr lang="en-US" sz="2999" b="1">
                  <a:solidFill>
                    <a:srgbClr val="EEF1F7"/>
                  </a:solidFill>
                  <a:latin typeface="Calibri (MS) Bold"/>
                  <a:ea typeface="Calibri (MS) Bold"/>
                  <a:cs typeface="Calibri (MS) Bold"/>
                  <a:sym typeface="Calibri (MS) Bold"/>
                </a:rPr>
                <a:t>Coaching and mentoring other team members for improved productivity </a:t>
              </a:r>
            </a:p>
          </p:txBody>
        </p:sp>
      </p:grpSp>
      <p:grpSp>
        <p:nvGrpSpPr>
          <p:cNvPr id="58" name="Group 58"/>
          <p:cNvGrpSpPr/>
          <p:nvPr/>
        </p:nvGrpSpPr>
        <p:grpSpPr>
          <a:xfrm>
            <a:off x="2130720" y="8968646"/>
            <a:ext cx="15662847" cy="704606"/>
            <a:chOff x="0" y="0"/>
            <a:chExt cx="20883796" cy="939474"/>
          </a:xfrm>
        </p:grpSpPr>
        <p:sp>
          <p:nvSpPr>
            <p:cNvPr id="59" name="Freeform 59"/>
            <p:cNvSpPr/>
            <p:nvPr/>
          </p:nvSpPr>
          <p:spPr>
            <a:xfrm>
              <a:off x="0" y="0"/>
              <a:ext cx="20883797" cy="939474"/>
            </a:xfrm>
            <a:custGeom>
              <a:avLst/>
              <a:gdLst/>
              <a:ahLst/>
              <a:cxnLst/>
              <a:rect l="l" t="t" r="r" b="b"/>
              <a:pathLst>
                <a:path w="20883797" h="939474">
                  <a:moveTo>
                    <a:pt x="0" y="0"/>
                  </a:moveTo>
                  <a:lnTo>
                    <a:pt x="20883797" y="0"/>
                  </a:lnTo>
                  <a:lnTo>
                    <a:pt x="20883797" y="939474"/>
                  </a:lnTo>
                  <a:lnTo>
                    <a:pt x="0" y="939474"/>
                  </a:lnTo>
                  <a:close/>
                </a:path>
              </a:pathLst>
            </a:custGeom>
            <a:solidFill>
              <a:srgbClr val="E8C96B">
                <a:alpha val="0"/>
              </a:srgbClr>
            </a:solidFill>
          </p:spPr>
        </p:sp>
        <p:sp>
          <p:nvSpPr>
            <p:cNvPr id="60" name="TextBox 60"/>
            <p:cNvSpPr txBox="1"/>
            <p:nvPr/>
          </p:nvSpPr>
          <p:spPr>
            <a:xfrm>
              <a:off x="0" y="-76200"/>
              <a:ext cx="20883796" cy="1015674"/>
            </a:xfrm>
            <a:prstGeom prst="rect">
              <a:avLst/>
            </a:prstGeom>
          </p:spPr>
          <p:txBody>
            <a:bodyPr lIns="0" tIns="0" rIns="0" bIns="0" rtlCol="0" anchor="ctr"/>
            <a:lstStyle/>
            <a:p>
              <a:pPr algn="l">
                <a:lnSpc>
                  <a:spcPts val="3779"/>
                </a:lnSpc>
              </a:pPr>
              <a:r>
                <a:rPr lang="en-US" sz="2999" b="1">
                  <a:solidFill>
                    <a:srgbClr val="EEF1F7"/>
                  </a:solidFill>
                  <a:latin typeface="Calibri (MS) Bold"/>
                  <a:ea typeface="Calibri (MS) Bold"/>
                  <a:cs typeface="Calibri (MS) Bold"/>
                  <a:sym typeface="Calibri (MS) Bold"/>
                </a:rPr>
                <a:t>Creating an enabling organisational culture that supports the Banks vision and strategic objectives</a:t>
              </a:r>
            </a:p>
          </p:txBody>
        </p:sp>
      </p:grpSp>
      <p:sp>
        <p:nvSpPr>
          <p:cNvPr id="61" name="Freeform 61"/>
          <p:cNvSpPr/>
          <p:nvPr/>
        </p:nvSpPr>
        <p:spPr>
          <a:xfrm>
            <a:off x="13576447" y="1073366"/>
            <a:ext cx="688193" cy="561759"/>
          </a:xfrm>
          <a:custGeom>
            <a:avLst/>
            <a:gdLst/>
            <a:ahLst/>
            <a:cxnLst/>
            <a:rect l="l" t="t" r="r" b="b"/>
            <a:pathLst>
              <a:path w="688193" h="561759">
                <a:moveTo>
                  <a:pt x="0" y="0"/>
                </a:moveTo>
                <a:lnTo>
                  <a:pt x="688193" y="0"/>
                </a:lnTo>
                <a:lnTo>
                  <a:pt x="688193" y="561759"/>
                </a:lnTo>
                <a:lnTo>
                  <a:pt x="0" y="561759"/>
                </a:lnTo>
                <a:lnTo>
                  <a:pt x="0" y="0"/>
                </a:lnTo>
                <a:close/>
              </a:path>
            </a:pathLst>
          </a:custGeom>
          <a:blipFill>
            <a:blip r:embed="rId9"/>
            <a:stretch>
              <a:fillRect l="-2654" t="-7161" r="-2654"/>
            </a:stretch>
          </a:blipFill>
        </p:spPr>
      </p:sp>
      <p:grpSp>
        <p:nvGrpSpPr>
          <p:cNvPr id="62" name="Group 62"/>
          <p:cNvGrpSpPr/>
          <p:nvPr/>
        </p:nvGrpSpPr>
        <p:grpSpPr>
          <a:xfrm>
            <a:off x="14361352" y="1105535"/>
            <a:ext cx="2897948" cy="548640"/>
            <a:chOff x="0" y="0"/>
            <a:chExt cx="3863931" cy="731520"/>
          </a:xfrm>
        </p:grpSpPr>
        <p:sp>
          <p:nvSpPr>
            <p:cNvPr id="63" name="Freeform 63"/>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64" name="TextBox 64"/>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F4F6F9"/>
                  </a:solidFill>
                  <a:latin typeface="Calibri (MS)"/>
                  <a:ea typeface="Calibri (MS)"/>
                  <a:cs typeface="Calibri (MS)"/>
                  <a:sym typeface="Calibri (MS)"/>
                </a:rPr>
                <a:t>GCB Bank PLC</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4583238" cy="1248627"/>
            <a:chOff x="0" y="0"/>
            <a:chExt cx="6110984" cy="1664836"/>
          </a:xfrm>
        </p:grpSpPr>
        <p:sp>
          <p:nvSpPr>
            <p:cNvPr id="3" name="Freeform 3"/>
            <p:cNvSpPr/>
            <p:nvPr/>
          </p:nvSpPr>
          <p:spPr>
            <a:xfrm>
              <a:off x="0" y="0"/>
              <a:ext cx="6110984" cy="1664836"/>
            </a:xfrm>
            <a:custGeom>
              <a:avLst/>
              <a:gdLst/>
              <a:ahLst/>
              <a:cxnLst/>
              <a:rect l="l" t="t" r="r" b="b"/>
              <a:pathLst>
                <a:path w="6110984" h="1664836">
                  <a:moveTo>
                    <a:pt x="0" y="0"/>
                  </a:moveTo>
                  <a:lnTo>
                    <a:pt x="6110984" y="0"/>
                  </a:lnTo>
                  <a:lnTo>
                    <a:pt x="6110984" y="1664836"/>
                  </a:lnTo>
                  <a:lnTo>
                    <a:pt x="0" y="1664836"/>
                  </a:lnTo>
                  <a:close/>
                </a:path>
              </a:pathLst>
            </a:custGeom>
            <a:blipFill>
              <a:blip r:embed="rId3">
                <a:alphaModFix amt="0"/>
              </a:blip>
              <a:stretch>
                <a:fillRect t="-122392" r="-127440" b="-102948"/>
              </a:stretch>
            </a:blipFill>
          </p:spPr>
        </p:sp>
        <p:sp>
          <p:nvSpPr>
            <p:cNvPr id="4" name="TextBox 4"/>
            <p:cNvSpPr txBox="1"/>
            <p:nvPr/>
          </p:nvSpPr>
          <p:spPr>
            <a:xfrm>
              <a:off x="0" y="-133350"/>
              <a:ext cx="6110984" cy="1798186"/>
            </a:xfrm>
            <a:prstGeom prst="rect">
              <a:avLst/>
            </a:prstGeom>
          </p:spPr>
          <p:txBody>
            <a:bodyPr lIns="0" tIns="0" rIns="0" bIns="0" rtlCol="0" anchor="ctr"/>
            <a:lstStyle/>
            <a:p>
              <a:pPr algn="l">
                <a:lnSpc>
                  <a:spcPts val="7439"/>
                </a:lnSpc>
              </a:pPr>
              <a:r>
                <a:rPr lang="en-US" sz="6199" b="1" dirty="0">
                  <a:solidFill>
                    <a:srgbClr val="C9A84C"/>
                  </a:solidFill>
                  <a:latin typeface="Calibri (MS) Bold"/>
                  <a:ea typeface="Calibri (MS) Bold"/>
                  <a:cs typeface="Calibri (MS) Bold"/>
                  <a:sym typeface="Calibri (MS) Bold"/>
                </a:rPr>
                <a:t>CONCLUSION</a:t>
              </a:r>
            </a:p>
          </p:txBody>
        </p:sp>
      </p:grpSp>
      <p:grpSp>
        <p:nvGrpSpPr>
          <p:cNvPr id="5" name="Group 5"/>
          <p:cNvGrpSpPr/>
          <p:nvPr/>
        </p:nvGrpSpPr>
        <p:grpSpPr>
          <a:xfrm>
            <a:off x="1028700" y="3204918"/>
            <a:ext cx="16008224" cy="3603219"/>
            <a:chOff x="0" y="0"/>
            <a:chExt cx="21344299" cy="4804292"/>
          </a:xfrm>
        </p:grpSpPr>
        <p:sp>
          <p:nvSpPr>
            <p:cNvPr id="6" name="Freeform 6"/>
            <p:cNvSpPr/>
            <p:nvPr/>
          </p:nvSpPr>
          <p:spPr>
            <a:xfrm>
              <a:off x="0" y="0"/>
              <a:ext cx="21344299" cy="4804292"/>
            </a:xfrm>
            <a:custGeom>
              <a:avLst/>
              <a:gdLst/>
              <a:ahLst/>
              <a:cxnLst/>
              <a:rect l="l" t="t" r="r" b="b"/>
              <a:pathLst>
                <a:path w="21344299" h="4804292">
                  <a:moveTo>
                    <a:pt x="0" y="0"/>
                  </a:moveTo>
                  <a:lnTo>
                    <a:pt x="21344299" y="0"/>
                  </a:lnTo>
                  <a:lnTo>
                    <a:pt x="21344299" y="4804292"/>
                  </a:lnTo>
                  <a:lnTo>
                    <a:pt x="0" y="4804292"/>
                  </a:lnTo>
                  <a:close/>
                </a:path>
              </a:pathLst>
            </a:custGeom>
            <a:blipFill>
              <a:blip r:embed="rId3">
                <a:alphaModFix amt="0"/>
              </a:blip>
              <a:stretch>
                <a:fillRect t="-20842" r="34882" b="8101"/>
              </a:stretch>
            </a:blipFill>
          </p:spPr>
        </p:sp>
        <p:sp>
          <p:nvSpPr>
            <p:cNvPr id="7" name="TextBox 7"/>
            <p:cNvSpPr txBox="1"/>
            <p:nvPr/>
          </p:nvSpPr>
          <p:spPr>
            <a:xfrm>
              <a:off x="0" y="-85725"/>
              <a:ext cx="21344299" cy="4890017"/>
            </a:xfrm>
            <a:prstGeom prst="rect">
              <a:avLst/>
            </a:prstGeom>
          </p:spPr>
          <p:txBody>
            <a:bodyPr lIns="0" tIns="0" rIns="0" bIns="0" rtlCol="0" anchor="ctr"/>
            <a:lstStyle/>
            <a:p>
              <a:pPr algn="l">
                <a:lnSpc>
                  <a:spcPts val="5399"/>
                </a:lnSpc>
              </a:pPr>
              <a:r>
                <a:rPr lang="en-US" sz="4499">
                  <a:solidFill>
                    <a:srgbClr val="D1D9E6"/>
                  </a:solidFill>
                  <a:latin typeface="Calibri (MS)"/>
                  <a:ea typeface="Calibri (MS)"/>
                  <a:cs typeface="Calibri (MS)"/>
                  <a:sym typeface="Calibri (MS)"/>
                </a:rPr>
                <a:t>The Currency Chief Cashier role is mission-critical to GCB Bank's operational integrity, regulatory compliance and strategic growth, ensuring that every transaction, every note, and every movement of cash meets the highest standards of accuracy, security and professionalism.</a:t>
              </a:r>
            </a:p>
          </p:txBody>
        </p:sp>
      </p:grpSp>
      <p:grpSp>
        <p:nvGrpSpPr>
          <p:cNvPr id="8" name="Group 8"/>
          <p:cNvGrpSpPr/>
          <p:nvPr/>
        </p:nvGrpSpPr>
        <p:grpSpPr>
          <a:xfrm>
            <a:off x="1028700" y="7572191"/>
            <a:ext cx="2468880" cy="91440"/>
            <a:chOff x="0" y="0"/>
            <a:chExt cx="3291840" cy="121920"/>
          </a:xfrm>
        </p:grpSpPr>
        <p:sp>
          <p:nvSpPr>
            <p:cNvPr id="9" name="Freeform 9"/>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grpSp>
        <p:nvGrpSpPr>
          <p:cNvPr id="10" name="Group 10"/>
          <p:cNvGrpSpPr/>
          <p:nvPr/>
        </p:nvGrpSpPr>
        <p:grpSpPr>
          <a:xfrm>
            <a:off x="3735324" y="7572191"/>
            <a:ext cx="2468880" cy="91440"/>
            <a:chOff x="0" y="0"/>
            <a:chExt cx="3291840" cy="121920"/>
          </a:xfrm>
        </p:grpSpPr>
        <p:sp>
          <p:nvSpPr>
            <p:cNvPr id="11" name="Freeform 11"/>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grpSp>
        <p:nvGrpSpPr>
          <p:cNvPr id="12" name="Group 12"/>
          <p:cNvGrpSpPr/>
          <p:nvPr/>
        </p:nvGrpSpPr>
        <p:grpSpPr>
          <a:xfrm>
            <a:off x="6441948" y="7572191"/>
            <a:ext cx="2468880" cy="91440"/>
            <a:chOff x="0" y="0"/>
            <a:chExt cx="3291840" cy="121920"/>
          </a:xfrm>
        </p:grpSpPr>
        <p:sp>
          <p:nvSpPr>
            <p:cNvPr id="13" name="Freeform 13"/>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grpSp>
        <p:nvGrpSpPr>
          <p:cNvPr id="14" name="Group 14"/>
          <p:cNvGrpSpPr/>
          <p:nvPr/>
        </p:nvGrpSpPr>
        <p:grpSpPr>
          <a:xfrm>
            <a:off x="9148572" y="7572191"/>
            <a:ext cx="2468880" cy="91440"/>
            <a:chOff x="0" y="0"/>
            <a:chExt cx="3291840" cy="121920"/>
          </a:xfrm>
        </p:grpSpPr>
        <p:sp>
          <p:nvSpPr>
            <p:cNvPr id="15" name="Freeform 15"/>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sp>
        <p:nvSpPr>
          <p:cNvPr id="16" name="Freeform 16"/>
          <p:cNvSpPr/>
          <p:nvPr/>
        </p:nvSpPr>
        <p:spPr>
          <a:xfrm>
            <a:off x="13807787" y="800311"/>
            <a:ext cx="688193" cy="561759"/>
          </a:xfrm>
          <a:custGeom>
            <a:avLst/>
            <a:gdLst/>
            <a:ahLst/>
            <a:cxnLst/>
            <a:rect l="l" t="t" r="r" b="b"/>
            <a:pathLst>
              <a:path w="688193" h="561759">
                <a:moveTo>
                  <a:pt x="0" y="0"/>
                </a:moveTo>
                <a:lnTo>
                  <a:pt x="688192" y="0"/>
                </a:lnTo>
                <a:lnTo>
                  <a:pt x="688192" y="561759"/>
                </a:lnTo>
                <a:lnTo>
                  <a:pt x="0" y="561759"/>
                </a:lnTo>
                <a:lnTo>
                  <a:pt x="0" y="0"/>
                </a:lnTo>
                <a:close/>
              </a:path>
            </a:pathLst>
          </a:custGeom>
          <a:blipFill>
            <a:blip r:embed="rId4"/>
            <a:stretch>
              <a:fillRect l="-2654" t="-7161" r="-2654"/>
            </a:stretch>
          </a:blipFill>
        </p:spPr>
      </p:sp>
      <p:grpSp>
        <p:nvGrpSpPr>
          <p:cNvPr id="17" name="Group 17"/>
          <p:cNvGrpSpPr/>
          <p:nvPr/>
        </p:nvGrpSpPr>
        <p:grpSpPr>
          <a:xfrm>
            <a:off x="14592691" y="832480"/>
            <a:ext cx="2897948" cy="548640"/>
            <a:chOff x="0" y="0"/>
            <a:chExt cx="3863931" cy="731520"/>
          </a:xfrm>
        </p:grpSpPr>
        <p:sp>
          <p:nvSpPr>
            <p:cNvPr id="18" name="Freeform 18"/>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19" name="TextBox 19"/>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F4F6F9"/>
                  </a:solidFill>
                  <a:latin typeface="Calibri (MS)"/>
                  <a:ea typeface="Calibri (MS)"/>
                  <a:cs typeface="Calibri (MS)"/>
                  <a:sym typeface="Calibri (MS)"/>
                </a:rPr>
                <a:t>GCB Bank PLC</a:t>
              </a:r>
            </a:p>
          </p:txBody>
        </p:sp>
      </p:grpSp>
      <p:grpSp>
        <p:nvGrpSpPr>
          <p:cNvPr id="20" name="Group 20"/>
          <p:cNvGrpSpPr/>
          <p:nvPr/>
        </p:nvGrpSpPr>
        <p:grpSpPr>
          <a:xfrm>
            <a:off x="1167062" y="2086692"/>
            <a:ext cx="2204040" cy="73152"/>
            <a:chOff x="0" y="0"/>
            <a:chExt cx="2938720" cy="97536"/>
          </a:xfrm>
        </p:grpSpPr>
        <p:sp>
          <p:nvSpPr>
            <p:cNvPr id="21" name="Freeform 21"/>
            <p:cNvSpPr/>
            <p:nvPr/>
          </p:nvSpPr>
          <p:spPr>
            <a:xfrm>
              <a:off x="0" y="0"/>
              <a:ext cx="2938720" cy="97536"/>
            </a:xfrm>
            <a:custGeom>
              <a:avLst/>
              <a:gdLst/>
              <a:ahLst/>
              <a:cxnLst/>
              <a:rect l="l" t="t" r="r" b="b"/>
              <a:pathLst>
                <a:path w="2938720" h="97536">
                  <a:moveTo>
                    <a:pt x="0" y="0"/>
                  </a:moveTo>
                  <a:lnTo>
                    <a:pt x="2938720" y="0"/>
                  </a:lnTo>
                  <a:lnTo>
                    <a:pt x="2938720" y="97536"/>
                  </a:lnTo>
                  <a:lnTo>
                    <a:pt x="0" y="97536"/>
                  </a:lnTo>
                  <a:close/>
                </a:path>
              </a:pathLst>
            </a:custGeom>
            <a:solidFill>
              <a:srgbClr val="EEF1F7"/>
            </a:solidFill>
          </p:spPr>
        </p:sp>
      </p:grpSp>
      <p:grpSp>
        <p:nvGrpSpPr>
          <p:cNvPr id="22" name="Group 22"/>
          <p:cNvGrpSpPr/>
          <p:nvPr/>
        </p:nvGrpSpPr>
        <p:grpSpPr>
          <a:xfrm>
            <a:off x="0" y="-13716"/>
            <a:ext cx="18288000" cy="128016"/>
            <a:chOff x="0" y="0"/>
            <a:chExt cx="24384000" cy="170688"/>
          </a:xfrm>
        </p:grpSpPr>
        <p:sp>
          <p:nvSpPr>
            <p:cNvPr id="23" name="Freeform 23"/>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C9A84C"/>
            </a:solid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E3D"/>
        </a:solidFill>
        <a:effectLst/>
      </p:bgPr>
    </p:bg>
    <p:spTree>
      <p:nvGrpSpPr>
        <p:cNvPr id="1" name=""/>
        <p:cNvGrpSpPr/>
        <p:nvPr/>
      </p:nvGrpSpPr>
      <p:grpSpPr>
        <a:xfrm>
          <a:off x="0" y="0"/>
          <a:ext cx="0" cy="0"/>
          <a:chOff x="0" y="0"/>
          <a:chExt cx="0" cy="0"/>
        </a:xfrm>
      </p:grpSpPr>
      <p:grpSp>
        <p:nvGrpSpPr>
          <p:cNvPr id="2" name="Group 2"/>
          <p:cNvGrpSpPr/>
          <p:nvPr/>
        </p:nvGrpSpPr>
        <p:grpSpPr>
          <a:xfrm>
            <a:off x="5994769" y="5323428"/>
            <a:ext cx="6298462" cy="1248627"/>
            <a:chOff x="0" y="0"/>
            <a:chExt cx="8397950" cy="1664836"/>
          </a:xfrm>
        </p:grpSpPr>
        <p:sp>
          <p:nvSpPr>
            <p:cNvPr id="3" name="Freeform 3"/>
            <p:cNvSpPr/>
            <p:nvPr/>
          </p:nvSpPr>
          <p:spPr>
            <a:xfrm>
              <a:off x="0" y="0"/>
              <a:ext cx="8397950" cy="1664836"/>
            </a:xfrm>
            <a:custGeom>
              <a:avLst/>
              <a:gdLst/>
              <a:ahLst/>
              <a:cxnLst/>
              <a:rect l="l" t="t" r="r" b="b"/>
              <a:pathLst>
                <a:path w="8397950" h="1664836">
                  <a:moveTo>
                    <a:pt x="0" y="0"/>
                  </a:moveTo>
                  <a:lnTo>
                    <a:pt x="8397950" y="0"/>
                  </a:lnTo>
                  <a:lnTo>
                    <a:pt x="8397950" y="1664836"/>
                  </a:lnTo>
                  <a:lnTo>
                    <a:pt x="0" y="1664836"/>
                  </a:lnTo>
                  <a:close/>
                </a:path>
              </a:pathLst>
            </a:custGeom>
            <a:blipFill>
              <a:blip r:embed="rId3">
                <a:alphaModFix amt="0"/>
              </a:blip>
              <a:stretch>
                <a:fillRect t="-122392" r="-65503" b="-102948"/>
              </a:stretch>
            </a:blipFill>
          </p:spPr>
        </p:sp>
        <p:sp>
          <p:nvSpPr>
            <p:cNvPr id="4" name="TextBox 4"/>
            <p:cNvSpPr txBox="1"/>
            <p:nvPr/>
          </p:nvSpPr>
          <p:spPr>
            <a:xfrm>
              <a:off x="0" y="-104775"/>
              <a:ext cx="8397950" cy="1769611"/>
            </a:xfrm>
            <a:prstGeom prst="rect">
              <a:avLst/>
            </a:prstGeom>
          </p:spPr>
          <p:txBody>
            <a:bodyPr lIns="0" tIns="0" rIns="0" bIns="0" rtlCol="0" anchor="ctr"/>
            <a:lstStyle/>
            <a:p>
              <a:pPr algn="l">
                <a:lnSpc>
                  <a:spcPts val="5999"/>
                </a:lnSpc>
              </a:pPr>
              <a:r>
                <a:rPr lang="en-US" sz="4999" b="1">
                  <a:solidFill>
                    <a:srgbClr val="EEF1F7"/>
                  </a:solidFill>
                  <a:latin typeface="Calibri (MS) Bold"/>
                  <a:ea typeface="Calibri (MS) Bold"/>
                  <a:cs typeface="Calibri (MS) Bold"/>
                  <a:sym typeface="Calibri (MS) Bold"/>
                </a:rPr>
                <a:t>Questions &amp; Discussion</a:t>
              </a:r>
            </a:p>
          </p:txBody>
        </p:sp>
      </p:grpSp>
      <p:grpSp>
        <p:nvGrpSpPr>
          <p:cNvPr id="5" name="Group 5"/>
          <p:cNvGrpSpPr/>
          <p:nvPr/>
        </p:nvGrpSpPr>
        <p:grpSpPr>
          <a:xfrm>
            <a:off x="4003939" y="7399674"/>
            <a:ext cx="2468880" cy="91440"/>
            <a:chOff x="0" y="0"/>
            <a:chExt cx="3291840" cy="121920"/>
          </a:xfrm>
        </p:grpSpPr>
        <p:sp>
          <p:nvSpPr>
            <p:cNvPr id="6" name="Freeform 6"/>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grpSp>
        <p:nvGrpSpPr>
          <p:cNvPr id="7" name="Group 7"/>
          <p:cNvGrpSpPr/>
          <p:nvPr/>
        </p:nvGrpSpPr>
        <p:grpSpPr>
          <a:xfrm>
            <a:off x="6710563" y="7399674"/>
            <a:ext cx="2468880" cy="91440"/>
            <a:chOff x="0" y="0"/>
            <a:chExt cx="3291840" cy="121920"/>
          </a:xfrm>
        </p:grpSpPr>
        <p:sp>
          <p:nvSpPr>
            <p:cNvPr id="8" name="Freeform 8"/>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grpSp>
        <p:nvGrpSpPr>
          <p:cNvPr id="9" name="Group 9"/>
          <p:cNvGrpSpPr/>
          <p:nvPr/>
        </p:nvGrpSpPr>
        <p:grpSpPr>
          <a:xfrm>
            <a:off x="9417187" y="7399674"/>
            <a:ext cx="2468880" cy="91440"/>
            <a:chOff x="0" y="0"/>
            <a:chExt cx="3291840" cy="121920"/>
          </a:xfrm>
        </p:grpSpPr>
        <p:sp>
          <p:nvSpPr>
            <p:cNvPr id="10" name="Freeform 10"/>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grpSp>
        <p:nvGrpSpPr>
          <p:cNvPr id="11" name="Group 11"/>
          <p:cNvGrpSpPr/>
          <p:nvPr/>
        </p:nvGrpSpPr>
        <p:grpSpPr>
          <a:xfrm>
            <a:off x="12123811" y="7399674"/>
            <a:ext cx="2468880" cy="91440"/>
            <a:chOff x="0" y="0"/>
            <a:chExt cx="3291840" cy="121920"/>
          </a:xfrm>
        </p:grpSpPr>
        <p:sp>
          <p:nvSpPr>
            <p:cNvPr id="12" name="Freeform 12"/>
            <p:cNvSpPr/>
            <p:nvPr/>
          </p:nvSpPr>
          <p:spPr>
            <a:xfrm>
              <a:off x="0" y="0"/>
              <a:ext cx="3291840" cy="121920"/>
            </a:xfrm>
            <a:custGeom>
              <a:avLst/>
              <a:gdLst/>
              <a:ahLst/>
              <a:cxnLst/>
              <a:rect l="l" t="t" r="r" b="b"/>
              <a:pathLst>
                <a:path w="3291840" h="121920">
                  <a:moveTo>
                    <a:pt x="0" y="0"/>
                  </a:moveTo>
                  <a:lnTo>
                    <a:pt x="3291840" y="0"/>
                  </a:lnTo>
                  <a:lnTo>
                    <a:pt x="3291840" y="121920"/>
                  </a:lnTo>
                  <a:lnTo>
                    <a:pt x="0" y="121920"/>
                  </a:lnTo>
                  <a:close/>
                </a:path>
              </a:pathLst>
            </a:custGeom>
            <a:solidFill>
              <a:srgbClr val="C9A84C"/>
            </a:solidFill>
          </p:spPr>
        </p:sp>
      </p:grpSp>
      <p:sp>
        <p:nvSpPr>
          <p:cNvPr id="13" name="Freeform 13"/>
          <p:cNvSpPr/>
          <p:nvPr/>
        </p:nvSpPr>
        <p:spPr>
          <a:xfrm>
            <a:off x="13576447" y="1028700"/>
            <a:ext cx="688193" cy="561759"/>
          </a:xfrm>
          <a:custGeom>
            <a:avLst/>
            <a:gdLst/>
            <a:ahLst/>
            <a:cxnLst/>
            <a:rect l="l" t="t" r="r" b="b"/>
            <a:pathLst>
              <a:path w="688193" h="561759">
                <a:moveTo>
                  <a:pt x="0" y="0"/>
                </a:moveTo>
                <a:lnTo>
                  <a:pt x="688193" y="0"/>
                </a:lnTo>
                <a:lnTo>
                  <a:pt x="688193" y="561759"/>
                </a:lnTo>
                <a:lnTo>
                  <a:pt x="0" y="561759"/>
                </a:lnTo>
                <a:lnTo>
                  <a:pt x="0" y="0"/>
                </a:lnTo>
                <a:close/>
              </a:path>
            </a:pathLst>
          </a:custGeom>
          <a:blipFill>
            <a:blip r:embed="rId4"/>
            <a:stretch>
              <a:fillRect l="-2654" t="-7161" r="-2654"/>
            </a:stretch>
          </a:blipFill>
        </p:spPr>
      </p:sp>
      <p:grpSp>
        <p:nvGrpSpPr>
          <p:cNvPr id="14" name="Group 14"/>
          <p:cNvGrpSpPr/>
          <p:nvPr/>
        </p:nvGrpSpPr>
        <p:grpSpPr>
          <a:xfrm>
            <a:off x="14361352" y="1060869"/>
            <a:ext cx="2897948" cy="548640"/>
            <a:chOff x="0" y="0"/>
            <a:chExt cx="3863931" cy="731520"/>
          </a:xfrm>
        </p:grpSpPr>
        <p:sp>
          <p:nvSpPr>
            <p:cNvPr id="15" name="Freeform 15"/>
            <p:cNvSpPr/>
            <p:nvPr/>
          </p:nvSpPr>
          <p:spPr>
            <a:xfrm>
              <a:off x="0" y="0"/>
              <a:ext cx="3863931" cy="731520"/>
            </a:xfrm>
            <a:custGeom>
              <a:avLst/>
              <a:gdLst/>
              <a:ahLst/>
              <a:cxnLst/>
              <a:rect l="l" t="t" r="r" b="b"/>
              <a:pathLst>
                <a:path w="3863931" h="731520">
                  <a:moveTo>
                    <a:pt x="0" y="0"/>
                  </a:moveTo>
                  <a:lnTo>
                    <a:pt x="3863931" y="0"/>
                  </a:lnTo>
                  <a:lnTo>
                    <a:pt x="3863931" y="731520"/>
                  </a:lnTo>
                  <a:lnTo>
                    <a:pt x="0" y="731520"/>
                  </a:lnTo>
                  <a:close/>
                </a:path>
              </a:pathLst>
            </a:custGeom>
            <a:blipFill>
              <a:blip r:embed="rId3">
                <a:alphaModFix amt="0"/>
              </a:blip>
              <a:stretch>
                <a:fillRect t="-131860" r="-76698" b="-131860"/>
              </a:stretch>
            </a:blipFill>
          </p:spPr>
        </p:sp>
        <p:sp>
          <p:nvSpPr>
            <p:cNvPr id="16" name="TextBox 16"/>
            <p:cNvSpPr txBox="1"/>
            <p:nvPr/>
          </p:nvSpPr>
          <p:spPr>
            <a:xfrm>
              <a:off x="0" y="-38100"/>
              <a:ext cx="3863931" cy="769620"/>
            </a:xfrm>
            <a:prstGeom prst="rect">
              <a:avLst/>
            </a:prstGeom>
          </p:spPr>
          <p:txBody>
            <a:bodyPr lIns="0" tIns="0" rIns="0" bIns="0" rtlCol="0" anchor="ctr"/>
            <a:lstStyle/>
            <a:p>
              <a:pPr algn="l">
                <a:lnSpc>
                  <a:spcPts val="2400"/>
                </a:lnSpc>
              </a:pPr>
              <a:r>
                <a:rPr lang="en-US" sz="2000" spc="408">
                  <a:solidFill>
                    <a:srgbClr val="F4F6F9"/>
                  </a:solidFill>
                  <a:latin typeface="Calibri (MS)"/>
                  <a:ea typeface="Calibri (MS)"/>
                  <a:cs typeface="Calibri (MS)"/>
                  <a:sym typeface="Calibri (MS)"/>
                </a:rPr>
                <a:t>GCB Bank PLC</a:t>
              </a:r>
            </a:p>
          </p:txBody>
        </p:sp>
      </p:grpSp>
      <p:sp>
        <p:nvSpPr>
          <p:cNvPr id="17" name="TextBox 17"/>
          <p:cNvSpPr txBox="1"/>
          <p:nvPr/>
        </p:nvSpPr>
        <p:spPr>
          <a:xfrm>
            <a:off x="5165501" y="2804225"/>
            <a:ext cx="7956998" cy="2814945"/>
          </a:xfrm>
          <a:prstGeom prst="rect">
            <a:avLst/>
          </a:prstGeom>
        </p:spPr>
        <p:txBody>
          <a:bodyPr lIns="0" tIns="0" rIns="0" bIns="0" rtlCol="0" anchor="t">
            <a:spAutoFit/>
          </a:bodyPr>
          <a:lstStyle/>
          <a:p>
            <a:pPr algn="ctr">
              <a:lnSpc>
                <a:spcPts val="20488"/>
              </a:lnSpc>
            </a:pPr>
            <a:r>
              <a:rPr lang="en-US" sz="14634" b="1">
                <a:solidFill>
                  <a:srgbClr val="F2CA4B"/>
                </a:solidFill>
                <a:latin typeface="Calibri (MS) Bold"/>
                <a:ea typeface="Calibri (MS) Bold"/>
                <a:cs typeface="Calibri (MS) Bold"/>
                <a:sym typeface="Calibri (MS) Bold"/>
              </a:rPr>
              <a:t>Thank You</a:t>
            </a:r>
          </a:p>
        </p:txBody>
      </p:sp>
      <p:grpSp>
        <p:nvGrpSpPr>
          <p:cNvPr id="18" name="Group 18"/>
          <p:cNvGrpSpPr/>
          <p:nvPr/>
        </p:nvGrpSpPr>
        <p:grpSpPr>
          <a:xfrm>
            <a:off x="-6413" y="14859"/>
            <a:ext cx="18288000" cy="128016"/>
            <a:chOff x="0" y="0"/>
            <a:chExt cx="24384000" cy="170688"/>
          </a:xfrm>
        </p:grpSpPr>
        <p:sp>
          <p:nvSpPr>
            <p:cNvPr id="19" name="Freeform 19"/>
            <p:cNvSpPr/>
            <p:nvPr/>
          </p:nvSpPr>
          <p:spPr>
            <a:xfrm>
              <a:off x="0" y="0"/>
              <a:ext cx="24384000" cy="170688"/>
            </a:xfrm>
            <a:custGeom>
              <a:avLst/>
              <a:gdLst/>
              <a:ahLst/>
              <a:cxnLst/>
              <a:rect l="l" t="t" r="r" b="b"/>
              <a:pathLst>
                <a:path w="24384000" h="170688">
                  <a:moveTo>
                    <a:pt x="0" y="0"/>
                  </a:moveTo>
                  <a:lnTo>
                    <a:pt x="24384000" y="0"/>
                  </a:lnTo>
                  <a:lnTo>
                    <a:pt x="24384000" y="170688"/>
                  </a:lnTo>
                  <a:lnTo>
                    <a:pt x="0" y="170688"/>
                  </a:lnTo>
                  <a:close/>
                </a:path>
              </a:pathLst>
            </a:custGeom>
            <a:solidFill>
              <a:srgbClr val="C9A84C"/>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400</Words>
  <Application>Microsoft Office PowerPoint</Application>
  <PresentationFormat>Custom</PresentationFormat>
  <Paragraphs>107</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Cambria Bold</vt:lpstr>
      <vt:lpstr>Canva Sans</vt:lpstr>
      <vt:lpstr>Calibri</vt:lpstr>
      <vt:lpstr>Calibri (MS)</vt:lpstr>
      <vt:lpstr>Calibri (MS)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Currency_Chief_Cashier_Role.pptx</dc:title>
  <cp:lastModifiedBy>Koku Dey</cp:lastModifiedBy>
  <cp:revision>2</cp:revision>
  <dcterms:created xsi:type="dcterms:W3CDTF">2006-08-16T00:00:00Z</dcterms:created>
  <dcterms:modified xsi:type="dcterms:W3CDTF">2026-05-19T17:49:25Z</dcterms:modified>
  <dc:identifier>DAHKHbJQNa8</dc:identifier>
</cp:coreProperties>
</file>